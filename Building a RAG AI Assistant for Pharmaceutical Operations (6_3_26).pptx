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y="5143500" cx="9144000"/>
  <p:notesSz cx="6858000" cy="9144000"/>
  <p:embeddedFontLst>
    <p:embeddedFont>
      <p:font typeface="Proxima Nova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ProximaNova-bold.fntdata"/><Relationship Id="rId30" Type="http://schemas.openxmlformats.org/officeDocument/2006/relationships/font" Target="fonts/ProximaNova-regular.fntdata"/><Relationship Id="rId11" Type="http://schemas.openxmlformats.org/officeDocument/2006/relationships/slide" Target="slides/slide6.xml"/><Relationship Id="rId33" Type="http://schemas.openxmlformats.org/officeDocument/2006/relationships/font" Target="fonts/ProximaNova-boldItalic.fntdata"/><Relationship Id="rId10" Type="http://schemas.openxmlformats.org/officeDocument/2006/relationships/slide" Target="slides/slide5.xml"/><Relationship Id="rId32" Type="http://schemas.openxmlformats.org/officeDocument/2006/relationships/font" Target="fonts/ProximaNova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ed22513917_3_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g3ed22513917_3_0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Ernest</a:t>
            </a:r>
            <a:endParaRPr/>
          </a:p>
        </p:txBody>
      </p:sp>
      <p:sp>
        <p:nvSpPr>
          <p:cNvPr id="54" name="Google Shape;54;g3ed22513917_3_0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ed22513917_3_5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g3ed22513917_3_55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g3ed22513917_3_55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ed22513917_3_8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g3ed22513917_3_80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g3ed22513917_3_80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ed22513917_3_11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g3ed22513917_3_11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g3ed22513917_3_11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ed22513917_3_14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g3ed22513917_3_144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g3ed22513917_3_144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ed22513917_3_18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0" name="Google Shape;240;g3ed22513917_3_184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g3ed22513917_3_184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ed22513917_3_21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5" name="Google Shape;275;g3ed22513917_3_218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g3ed22513917_3_218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ed22513917_3_26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9" name="Google Shape;319;g3ed22513917_3_261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g3ed22513917_3_261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ed22513917_3_28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4" name="Google Shape;344;g3ed22513917_3_285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g3ed22513917_3_285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3ed22513917_1_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6" name="Google Shape;396;g3ed22513917_1_0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Paul</a:t>
            </a:r>
            <a:endParaRPr/>
          </a:p>
        </p:txBody>
      </p:sp>
      <p:sp>
        <p:nvSpPr>
          <p:cNvPr id="397" name="Google Shape;397;g3ed22513917_1_0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3ed22513917_1_5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8" name="Google Shape;448;g3ed22513917_1_55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g3ed22513917_1_55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3ed22513917_1_8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7" name="Google Shape;477;g3ed22513917_1_83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g3ed22513917_1_83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3ed22513917_1_10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1" name="Google Shape;501;g3ed22513917_1_106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g3ed22513917_1_106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g3ed22513917_1_19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5" name="Google Shape;595;g3ed22513917_1_199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g3ed22513917_1_199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g3ed22513917_1_23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7" name="Google Shape;627;g3ed22513917_1_230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g3ed22513917_1_230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3ed22513917_1_26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0" name="Google Shape;660;g3ed22513917_1_26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1" name="Google Shape;661;g3ed22513917_1_26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g3ed22513917_1_29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8" name="Google Shape;698;g3ed22513917_1_299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g3ed22513917_1_299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g3ed22513917_1_33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4" name="Google Shape;734;g3ed22513917_1_334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5" name="Google Shape;735;g3ed22513917_1_334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g3ed22513917_1_41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8" name="Google Shape;818;g3ed22513917_1_417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9" name="Google Shape;819;g3ed22513917_1_417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g3ed22513917_0_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9" name="Google Shape;859;g3ed22513917_0_4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0" name="Google Shape;860;g3ed22513917_0_4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7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g3ed22513917_1_45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9" name="Google Shape;869;g3ed22513917_1_457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0" name="Google Shape;870;g3ed22513917_1_457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9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Google Shape;900;g3ed22513917_1_48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1" name="Google Shape;901;g3ed22513917_1_488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2" name="Google Shape;902;g3ed22513917_1_488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Google Shape;932;g3ed22513917_1_51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3" name="Google Shape;933;g3ed22513917_1_519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4" name="Google Shape;934;g3ed22513917_1_519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7" name="Shape 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Google Shape;988;g3ed22513917_1_57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9" name="Google Shape;989;g3ed22513917_1_574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0" name="Google Shape;990;g3ed22513917_1_574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F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Google Shape;56;p14"/>
          <p:cNvCxnSpPr/>
          <p:nvPr/>
        </p:nvCxnSpPr>
        <p:spPr>
          <a:xfrm>
            <a:off x="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5882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" name="Google Shape;57;p14"/>
          <p:cNvCxnSpPr/>
          <p:nvPr/>
        </p:nvCxnSpPr>
        <p:spPr>
          <a:xfrm>
            <a:off x="50292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5882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8" name="Google Shape;58;p14"/>
          <p:cNvCxnSpPr/>
          <p:nvPr/>
        </p:nvCxnSpPr>
        <p:spPr>
          <a:xfrm>
            <a:off x="100584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5882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4"/>
          <p:cNvCxnSpPr/>
          <p:nvPr/>
        </p:nvCxnSpPr>
        <p:spPr>
          <a:xfrm>
            <a:off x="150876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5882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4"/>
          <p:cNvCxnSpPr/>
          <p:nvPr/>
        </p:nvCxnSpPr>
        <p:spPr>
          <a:xfrm>
            <a:off x="201168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5882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4"/>
          <p:cNvCxnSpPr/>
          <p:nvPr/>
        </p:nvCxnSpPr>
        <p:spPr>
          <a:xfrm>
            <a:off x="25146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5882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" name="Google Shape;62;p14"/>
          <p:cNvCxnSpPr/>
          <p:nvPr/>
        </p:nvCxnSpPr>
        <p:spPr>
          <a:xfrm>
            <a:off x="301752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5882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3" name="Google Shape;63;p14"/>
          <p:cNvCxnSpPr/>
          <p:nvPr/>
        </p:nvCxnSpPr>
        <p:spPr>
          <a:xfrm>
            <a:off x="352044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5882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" name="Google Shape;64;p14"/>
          <p:cNvCxnSpPr/>
          <p:nvPr/>
        </p:nvCxnSpPr>
        <p:spPr>
          <a:xfrm>
            <a:off x="402336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5882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" name="Google Shape;65;p14"/>
          <p:cNvCxnSpPr/>
          <p:nvPr/>
        </p:nvCxnSpPr>
        <p:spPr>
          <a:xfrm>
            <a:off x="452628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5882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6" name="Google Shape;66;p14"/>
          <p:cNvCxnSpPr/>
          <p:nvPr/>
        </p:nvCxnSpPr>
        <p:spPr>
          <a:xfrm>
            <a:off x="50292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5882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7" name="Google Shape;67;p14"/>
          <p:cNvCxnSpPr/>
          <p:nvPr/>
        </p:nvCxnSpPr>
        <p:spPr>
          <a:xfrm>
            <a:off x="553212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5882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8" name="Google Shape;68;p14"/>
          <p:cNvCxnSpPr/>
          <p:nvPr/>
        </p:nvCxnSpPr>
        <p:spPr>
          <a:xfrm>
            <a:off x="603504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5882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9" name="Google Shape;69;p14"/>
          <p:cNvCxnSpPr/>
          <p:nvPr/>
        </p:nvCxnSpPr>
        <p:spPr>
          <a:xfrm>
            <a:off x="653796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5882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0" name="Google Shape;70;p14"/>
          <p:cNvCxnSpPr/>
          <p:nvPr/>
        </p:nvCxnSpPr>
        <p:spPr>
          <a:xfrm>
            <a:off x="704088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5882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1" name="Google Shape;71;p14"/>
          <p:cNvCxnSpPr/>
          <p:nvPr/>
        </p:nvCxnSpPr>
        <p:spPr>
          <a:xfrm>
            <a:off x="75438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5882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2" name="Google Shape;72;p14"/>
          <p:cNvCxnSpPr/>
          <p:nvPr/>
        </p:nvCxnSpPr>
        <p:spPr>
          <a:xfrm>
            <a:off x="804672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5882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3" name="Google Shape;73;p14"/>
          <p:cNvCxnSpPr/>
          <p:nvPr/>
        </p:nvCxnSpPr>
        <p:spPr>
          <a:xfrm>
            <a:off x="854964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5882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4" name="Google Shape;74;p14"/>
          <p:cNvCxnSpPr/>
          <p:nvPr/>
        </p:nvCxnSpPr>
        <p:spPr>
          <a:xfrm>
            <a:off x="905256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5882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5" name="Google Shape;75;p14"/>
          <p:cNvCxnSpPr/>
          <p:nvPr/>
        </p:nvCxnSpPr>
        <p:spPr>
          <a:xfrm>
            <a:off x="955548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5882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6" name="Google Shape;76;p14"/>
          <p:cNvCxnSpPr/>
          <p:nvPr/>
        </p:nvCxnSpPr>
        <p:spPr>
          <a:xfrm>
            <a:off x="0" y="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5882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7" name="Google Shape;77;p14"/>
          <p:cNvCxnSpPr/>
          <p:nvPr/>
        </p:nvCxnSpPr>
        <p:spPr>
          <a:xfrm>
            <a:off x="0" y="4572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5882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8" name="Google Shape;78;p14"/>
          <p:cNvCxnSpPr/>
          <p:nvPr/>
        </p:nvCxnSpPr>
        <p:spPr>
          <a:xfrm>
            <a:off x="0" y="9144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5882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9" name="Google Shape;79;p14"/>
          <p:cNvCxnSpPr/>
          <p:nvPr/>
        </p:nvCxnSpPr>
        <p:spPr>
          <a:xfrm>
            <a:off x="0" y="13716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5882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0" name="Google Shape;80;p14"/>
          <p:cNvCxnSpPr/>
          <p:nvPr/>
        </p:nvCxnSpPr>
        <p:spPr>
          <a:xfrm>
            <a:off x="0" y="18288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5882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1" name="Google Shape;81;p14"/>
          <p:cNvCxnSpPr/>
          <p:nvPr/>
        </p:nvCxnSpPr>
        <p:spPr>
          <a:xfrm>
            <a:off x="0" y="22860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5882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2" name="Google Shape;82;p14"/>
          <p:cNvCxnSpPr/>
          <p:nvPr/>
        </p:nvCxnSpPr>
        <p:spPr>
          <a:xfrm>
            <a:off x="0" y="27432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5882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3" name="Google Shape;83;p14"/>
          <p:cNvCxnSpPr/>
          <p:nvPr/>
        </p:nvCxnSpPr>
        <p:spPr>
          <a:xfrm>
            <a:off x="0" y="32004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5882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14"/>
          <p:cNvCxnSpPr/>
          <p:nvPr/>
        </p:nvCxnSpPr>
        <p:spPr>
          <a:xfrm>
            <a:off x="0" y="36576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5882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5" name="Google Shape;85;p14"/>
          <p:cNvCxnSpPr/>
          <p:nvPr/>
        </p:nvCxnSpPr>
        <p:spPr>
          <a:xfrm>
            <a:off x="0" y="41148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5882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6" name="Google Shape;86;p14"/>
          <p:cNvCxnSpPr/>
          <p:nvPr/>
        </p:nvCxnSpPr>
        <p:spPr>
          <a:xfrm>
            <a:off x="0" y="45720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5882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7" name="Google Shape;87;p14"/>
          <p:cNvCxnSpPr/>
          <p:nvPr/>
        </p:nvCxnSpPr>
        <p:spPr>
          <a:xfrm>
            <a:off x="0" y="50292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5882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8" name="Google Shape;88;p14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4"/>
          <p:cNvSpPr/>
          <p:nvPr/>
        </p:nvSpPr>
        <p:spPr>
          <a:xfrm>
            <a:off x="457200" y="502920"/>
            <a:ext cx="2286000" cy="301752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4"/>
          <p:cNvSpPr/>
          <p:nvPr/>
        </p:nvSpPr>
        <p:spPr>
          <a:xfrm>
            <a:off x="457200" y="502920"/>
            <a:ext cx="228600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0A0F"/>
              </a:buClr>
              <a:buSzPts val="950"/>
              <a:buFont typeface="Calibri"/>
              <a:buNone/>
            </a:pPr>
            <a:r>
              <a:rPr b="1" i="0" lang="en" sz="950" u="none" cap="none" strike="noStrike">
                <a:solidFill>
                  <a:srgbClr val="0A0A0F"/>
                </a:solidFill>
                <a:latin typeface="Calibri"/>
                <a:ea typeface="Calibri"/>
                <a:cs typeface="Calibri"/>
                <a:sym typeface="Calibri"/>
              </a:rPr>
              <a:t>FOUNDATIONS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4"/>
          <p:cNvSpPr/>
          <p:nvPr/>
        </p:nvSpPr>
        <p:spPr>
          <a:xfrm>
            <a:off x="457200" y="1097280"/>
            <a:ext cx="822960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Georgia"/>
              <a:buNone/>
            </a:pPr>
            <a:r>
              <a:rPr b="1" lang="en" sz="45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Building a RAG AI Assistant for Pharmaceutical Operations</a:t>
            </a:r>
            <a:endParaRPr b="1" i="0" sz="45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92" name="Google Shape;92;p14"/>
          <p:cNvSpPr/>
          <p:nvPr/>
        </p:nvSpPr>
        <p:spPr>
          <a:xfrm>
            <a:off x="457200" y="2880360"/>
            <a:ext cx="7772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1500"/>
              <a:buFont typeface="Calibri"/>
              <a:buNone/>
            </a:pPr>
            <a:r>
              <a:rPr b="0" i="1" lang="en" sz="150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Retrieval, embeddings, agents, and orchestration — the building blocks behind today's AI applications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3" name="Google Shape;93;p14"/>
          <p:cNvCxnSpPr/>
          <p:nvPr/>
        </p:nvCxnSpPr>
        <p:spPr>
          <a:xfrm>
            <a:off x="457200" y="3749040"/>
            <a:ext cx="8229600" cy="0"/>
          </a:xfrm>
          <a:prstGeom prst="straightConnector1">
            <a:avLst/>
          </a:prstGeom>
          <a:noFill/>
          <a:ln cap="flat" cmpd="sng" w="9525">
            <a:solidFill>
              <a:srgbClr val="4A5A8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4" name="Google Shape;94;p14"/>
          <p:cNvSpPr/>
          <p:nvPr/>
        </p:nvSpPr>
        <p:spPr>
          <a:xfrm>
            <a:off x="457200" y="3931920"/>
            <a:ext cx="1572768" cy="292608"/>
          </a:xfrm>
          <a:prstGeom prst="rect">
            <a:avLst/>
          </a:prstGeom>
          <a:solidFill>
            <a:srgbClr val="141420"/>
          </a:solidFill>
          <a:ln cap="flat" cmpd="sng" w="12700">
            <a:solidFill>
              <a:srgbClr val="2E2E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4"/>
          <p:cNvSpPr/>
          <p:nvPr/>
        </p:nvSpPr>
        <p:spPr>
          <a:xfrm>
            <a:off x="457200" y="3931920"/>
            <a:ext cx="157276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BFFF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7BBFFF"/>
                </a:solidFill>
                <a:latin typeface="Calibri"/>
                <a:ea typeface="Calibri"/>
                <a:cs typeface="Calibri"/>
                <a:sym typeface="Calibri"/>
              </a:rPr>
              <a:t>What is RAG?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/>
          <p:nvPr/>
        </p:nvSpPr>
        <p:spPr>
          <a:xfrm>
            <a:off x="2176272" y="3931920"/>
            <a:ext cx="1572768" cy="292608"/>
          </a:xfrm>
          <a:prstGeom prst="rect">
            <a:avLst/>
          </a:prstGeom>
          <a:solidFill>
            <a:srgbClr val="141420"/>
          </a:solidFill>
          <a:ln cap="flat" cmpd="sng" w="12700">
            <a:solidFill>
              <a:srgbClr val="2E2E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4"/>
          <p:cNvSpPr/>
          <p:nvPr/>
        </p:nvSpPr>
        <p:spPr>
          <a:xfrm>
            <a:off x="2176272" y="3931920"/>
            <a:ext cx="157276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BFFF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7BBFFF"/>
                </a:solidFill>
                <a:latin typeface="Calibri"/>
                <a:ea typeface="Calibri"/>
                <a:cs typeface="Calibri"/>
                <a:sym typeface="Calibri"/>
              </a:rPr>
              <a:t>Embeddings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4"/>
          <p:cNvSpPr/>
          <p:nvPr/>
        </p:nvSpPr>
        <p:spPr>
          <a:xfrm>
            <a:off x="3895344" y="3931920"/>
            <a:ext cx="1572768" cy="292608"/>
          </a:xfrm>
          <a:prstGeom prst="rect">
            <a:avLst/>
          </a:prstGeom>
          <a:solidFill>
            <a:srgbClr val="141420"/>
          </a:solidFill>
          <a:ln cap="flat" cmpd="sng" w="12700">
            <a:solidFill>
              <a:srgbClr val="2E2E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4"/>
          <p:cNvSpPr/>
          <p:nvPr/>
        </p:nvSpPr>
        <p:spPr>
          <a:xfrm>
            <a:off x="3895344" y="3931920"/>
            <a:ext cx="157276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BFFF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7BBFFF"/>
                </a:solidFill>
                <a:latin typeface="Calibri"/>
                <a:ea typeface="Calibri"/>
                <a:cs typeface="Calibri"/>
                <a:sym typeface="Calibri"/>
              </a:rPr>
              <a:t>Vector Search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/>
          <p:cNvSpPr/>
          <p:nvPr/>
        </p:nvSpPr>
        <p:spPr>
          <a:xfrm>
            <a:off x="5614416" y="3931920"/>
            <a:ext cx="1572768" cy="292608"/>
          </a:xfrm>
          <a:prstGeom prst="rect">
            <a:avLst/>
          </a:prstGeom>
          <a:solidFill>
            <a:srgbClr val="141420"/>
          </a:solidFill>
          <a:ln cap="flat" cmpd="sng" w="12700">
            <a:solidFill>
              <a:srgbClr val="2E2E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4"/>
          <p:cNvSpPr/>
          <p:nvPr/>
        </p:nvSpPr>
        <p:spPr>
          <a:xfrm>
            <a:off x="5614416" y="3931920"/>
            <a:ext cx="157276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BFFF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7BBFFF"/>
                </a:solidFill>
                <a:latin typeface="Calibri"/>
                <a:ea typeface="Calibri"/>
                <a:cs typeface="Calibri"/>
                <a:sym typeface="Calibri"/>
              </a:rPr>
              <a:t>Agentic AI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4"/>
          <p:cNvSpPr/>
          <p:nvPr/>
        </p:nvSpPr>
        <p:spPr>
          <a:xfrm>
            <a:off x="7333488" y="3931920"/>
            <a:ext cx="1572768" cy="292608"/>
          </a:xfrm>
          <a:prstGeom prst="rect">
            <a:avLst/>
          </a:prstGeom>
          <a:solidFill>
            <a:srgbClr val="141420"/>
          </a:solidFill>
          <a:ln cap="flat" cmpd="sng" w="12700">
            <a:solidFill>
              <a:srgbClr val="2E2E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4"/>
          <p:cNvSpPr/>
          <p:nvPr/>
        </p:nvSpPr>
        <p:spPr>
          <a:xfrm>
            <a:off x="7333488" y="3931920"/>
            <a:ext cx="157276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BFFF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7BBFFF"/>
                </a:solidFill>
                <a:latin typeface="Calibri"/>
                <a:ea typeface="Calibri"/>
                <a:cs typeface="Calibri"/>
                <a:sym typeface="Calibri"/>
              </a:rPr>
              <a:t>LangGraph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4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70"/>
              </a:buClr>
              <a:buSzPts val="900"/>
              <a:buFont typeface="Calibri"/>
              <a:buNone/>
            </a:pPr>
            <a:r>
              <a:rPr lang="en" sz="900">
                <a:solidFill>
                  <a:srgbClr val="555570"/>
                </a:solidFill>
                <a:latin typeface="Calibri"/>
                <a:ea typeface="Calibri"/>
                <a:cs typeface="Calibri"/>
                <a:sym typeface="Calibri"/>
              </a:rPr>
              <a:t>Tampa Bay Biotech | June 3, 2026                                                                                                                                                                                   Ernest Bonat, Ph.D. | Paul London, M.S.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5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5"/>
          <p:cNvSpPr/>
          <p:nvPr/>
        </p:nvSpPr>
        <p:spPr>
          <a:xfrm>
            <a:off x="0" y="0"/>
            <a:ext cx="201168" cy="749808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5"/>
          <p:cNvSpPr/>
          <p:nvPr/>
        </p:nvSpPr>
        <p:spPr>
          <a:xfrm>
            <a:off x="384048" y="0"/>
            <a:ext cx="859536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WHY LLMs NEED HELP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5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A0F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0A0A0F"/>
                </a:solidFill>
                <a:latin typeface="Calibri"/>
                <a:ea typeface="Calibri"/>
                <a:cs typeface="Calibri"/>
                <a:sym typeface="Calibri"/>
              </a:rPr>
              <a:t>Large language models are powerful — but they have hard limits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5"/>
          <p:cNvSpPr/>
          <p:nvPr/>
        </p:nvSpPr>
        <p:spPr>
          <a:xfrm>
            <a:off x="365760" y="1371600"/>
            <a:ext cx="4160520" cy="1572768"/>
          </a:xfrm>
          <a:prstGeom prst="rect">
            <a:avLst/>
          </a:prstGeom>
          <a:solidFill>
            <a:srgbClr val="F2F4F8"/>
          </a:solidFill>
          <a:ln cap="flat" cmpd="sng" w="12700">
            <a:solidFill>
              <a:srgbClr val="2E2E4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5"/>
          <p:cNvSpPr/>
          <p:nvPr/>
        </p:nvSpPr>
        <p:spPr>
          <a:xfrm>
            <a:off x="365760" y="1371600"/>
            <a:ext cx="4160520" cy="4572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5"/>
          <p:cNvSpPr/>
          <p:nvPr/>
        </p:nvSpPr>
        <p:spPr>
          <a:xfrm>
            <a:off x="530352" y="1435608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📅  Knowledge cutoff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5"/>
          <p:cNvSpPr/>
          <p:nvPr/>
        </p:nvSpPr>
        <p:spPr>
          <a:xfrm>
            <a:off x="530352" y="1938528"/>
            <a:ext cx="3840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A6B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3A4A6B"/>
                </a:solidFill>
                <a:latin typeface="Calibri"/>
                <a:ea typeface="Calibri"/>
                <a:cs typeface="Calibri"/>
                <a:sym typeface="Calibri"/>
              </a:rPr>
              <a:t>An LLM only knows what it saw during training. Ask about last week's events and it can't help. (They </a:t>
            </a:r>
            <a:r>
              <a:rPr lang="en" sz="1050">
                <a:solidFill>
                  <a:srgbClr val="3A4A6B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i="0" lang="en" sz="1050" u="none" cap="none" strike="noStrike">
                <a:solidFill>
                  <a:srgbClr val="3A4A6B"/>
                </a:solidFill>
                <a:latin typeface="Calibri"/>
                <a:ea typeface="Calibri"/>
                <a:cs typeface="Calibri"/>
                <a:sym typeface="Calibri"/>
              </a:rPr>
              <a:t>on't </a:t>
            </a:r>
            <a:r>
              <a:rPr lang="en" sz="1050">
                <a:solidFill>
                  <a:srgbClr val="3A4A6B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b="0" i="0" lang="en" sz="1050" u="none" cap="none" strike="noStrike">
                <a:solidFill>
                  <a:srgbClr val="3A4A6B"/>
                </a:solidFill>
                <a:latin typeface="Calibri"/>
                <a:ea typeface="Calibri"/>
                <a:cs typeface="Calibri"/>
                <a:sym typeface="Calibri"/>
              </a:rPr>
              <a:t>now </a:t>
            </a:r>
            <a:r>
              <a:rPr lang="en" sz="1050">
                <a:solidFill>
                  <a:srgbClr val="3A4A6B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b="0" i="0" lang="en" sz="1050" u="none" cap="none" strike="noStrike">
                <a:solidFill>
                  <a:srgbClr val="3A4A6B"/>
                </a:solidFill>
                <a:latin typeface="Calibri"/>
                <a:ea typeface="Calibri"/>
                <a:cs typeface="Calibri"/>
                <a:sym typeface="Calibri"/>
              </a:rPr>
              <a:t>verything</a:t>
            </a:r>
            <a:r>
              <a:rPr lang="en" sz="1050">
                <a:solidFill>
                  <a:srgbClr val="3A4A6B"/>
                </a:solidFill>
                <a:latin typeface="Calibri"/>
                <a:ea typeface="Calibri"/>
                <a:cs typeface="Calibri"/>
                <a:sym typeface="Calibri"/>
              </a:rPr>
              <a:t>).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5"/>
          <p:cNvSpPr/>
          <p:nvPr/>
        </p:nvSpPr>
        <p:spPr>
          <a:xfrm>
            <a:off x="4800600" y="1371600"/>
            <a:ext cx="4160520" cy="1572768"/>
          </a:xfrm>
          <a:prstGeom prst="rect">
            <a:avLst/>
          </a:prstGeom>
          <a:solidFill>
            <a:srgbClr val="F2F4F8"/>
          </a:solidFill>
          <a:ln cap="flat" cmpd="sng" w="12700">
            <a:solidFill>
              <a:srgbClr val="2E2E4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5"/>
          <p:cNvSpPr/>
          <p:nvPr/>
        </p:nvSpPr>
        <p:spPr>
          <a:xfrm>
            <a:off x="4800600" y="1371600"/>
            <a:ext cx="4160520" cy="4572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5"/>
          <p:cNvSpPr/>
          <p:nvPr/>
        </p:nvSpPr>
        <p:spPr>
          <a:xfrm>
            <a:off x="4965192" y="1435608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🎭  Hallucination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5"/>
          <p:cNvSpPr/>
          <p:nvPr/>
        </p:nvSpPr>
        <p:spPr>
          <a:xfrm>
            <a:off x="4965192" y="1938528"/>
            <a:ext cx="3840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A6B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3A4A6B"/>
                </a:solidFill>
                <a:latin typeface="Calibri"/>
                <a:ea typeface="Calibri"/>
                <a:cs typeface="Calibri"/>
                <a:sym typeface="Calibri"/>
              </a:rPr>
              <a:t>When unsure, models invent plausible-sounding but false answers — stated with total confidence. (</a:t>
            </a:r>
            <a:r>
              <a:rPr lang="en" sz="1050">
                <a:solidFill>
                  <a:srgbClr val="3A4A6B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0" i="0" lang="en" sz="1050" u="none" cap="none" strike="noStrike">
                <a:solidFill>
                  <a:srgbClr val="3A4A6B"/>
                </a:solidFill>
                <a:latin typeface="Calibri"/>
                <a:ea typeface="Calibri"/>
                <a:cs typeface="Calibri"/>
                <a:sym typeface="Calibri"/>
              </a:rPr>
              <a:t>he model is predicting text, not verifying facts</a:t>
            </a:r>
            <a:r>
              <a:rPr lang="en" sz="1050">
                <a:solidFill>
                  <a:srgbClr val="3A4A6B"/>
                </a:solidFill>
                <a:latin typeface="Calibri"/>
                <a:ea typeface="Calibri"/>
                <a:cs typeface="Calibri"/>
                <a:sym typeface="Calibri"/>
              </a:rPr>
              <a:t>).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5"/>
          <p:cNvSpPr/>
          <p:nvPr/>
        </p:nvSpPr>
        <p:spPr>
          <a:xfrm>
            <a:off x="365760" y="3127248"/>
            <a:ext cx="4160520" cy="1572768"/>
          </a:xfrm>
          <a:prstGeom prst="rect">
            <a:avLst/>
          </a:prstGeom>
          <a:solidFill>
            <a:srgbClr val="F2F4F8"/>
          </a:solidFill>
          <a:ln cap="flat" cmpd="sng" w="12700">
            <a:solidFill>
              <a:srgbClr val="2E2E4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5"/>
          <p:cNvSpPr/>
          <p:nvPr/>
        </p:nvSpPr>
        <p:spPr>
          <a:xfrm>
            <a:off x="365760" y="3127248"/>
            <a:ext cx="4160520" cy="4572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5"/>
          <p:cNvSpPr/>
          <p:nvPr/>
        </p:nvSpPr>
        <p:spPr>
          <a:xfrm>
            <a:off x="530352" y="3191256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🔒  No private data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5"/>
          <p:cNvSpPr/>
          <p:nvPr/>
        </p:nvSpPr>
        <p:spPr>
          <a:xfrm>
            <a:off x="530352" y="3694176"/>
            <a:ext cx="3840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A6B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3A4A6B"/>
                </a:solidFill>
                <a:latin typeface="Calibri"/>
                <a:ea typeface="Calibri"/>
                <a:cs typeface="Calibri"/>
                <a:sym typeface="Calibri"/>
              </a:rPr>
              <a:t>Your company's documents, internal wikis, and PDFs were never part of the model's training. (Limited </a:t>
            </a:r>
            <a:r>
              <a:rPr lang="en" sz="1050">
                <a:solidFill>
                  <a:srgbClr val="3A4A6B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b="0" i="0" lang="en" sz="1050" u="none" cap="none" strike="noStrike">
                <a:solidFill>
                  <a:srgbClr val="3A4A6B"/>
                </a:solidFill>
                <a:latin typeface="Calibri"/>
                <a:ea typeface="Calibri"/>
                <a:cs typeface="Calibri"/>
                <a:sym typeface="Calibri"/>
              </a:rPr>
              <a:t>ontext </a:t>
            </a:r>
            <a:r>
              <a:rPr lang="en" sz="1050">
                <a:solidFill>
                  <a:srgbClr val="3A4A6B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b="0" i="0" lang="en" sz="1050" u="none" cap="none" strike="noStrike">
                <a:solidFill>
                  <a:srgbClr val="3A4A6B"/>
                </a:solidFill>
                <a:latin typeface="Calibri"/>
                <a:ea typeface="Calibri"/>
                <a:cs typeface="Calibri"/>
                <a:sym typeface="Calibri"/>
              </a:rPr>
              <a:t>indow</a:t>
            </a:r>
            <a:r>
              <a:rPr lang="en" sz="1050">
                <a:solidFill>
                  <a:srgbClr val="3A4A6B"/>
                </a:solidFill>
                <a:latin typeface="Calibri"/>
                <a:ea typeface="Calibri"/>
                <a:cs typeface="Calibri"/>
                <a:sym typeface="Calibri"/>
              </a:rPr>
              <a:t>).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5"/>
          <p:cNvSpPr/>
          <p:nvPr/>
        </p:nvSpPr>
        <p:spPr>
          <a:xfrm>
            <a:off x="4800600" y="3127248"/>
            <a:ext cx="4160520" cy="1572768"/>
          </a:xfrm>
          <a:prstGeom prst="rect">
            <a:avLst/>
          </a:prstGeom>
          <a:solidFill>
            <a:srgbClr val="F2F4F8"/>
          </a:solidFill>
          <a:ln cap="flat" cmpd="sng" w="12700">
            <a:solidFill>
              <a:srgbClr val="2E2E4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5"/>
          <p:cNvSpPr/>
          <p:nvPr/>
        </p:nvSpPr>
        <p:spPr>
          <a:xfrm>
            <a:off x="4800600" y="3127248"/>
            <a:ext cx="4160520" cy="4572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5"/>
          <p:cNvSpPr/>
          <p:nvPr/>
        </p:nvSpPr>
        <p:spPr>
          <a:xfrm>
            <a:off x="4965192" y="3191256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❓  No sources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5"/>
          <p:cNvSpPr/>
          <p:nvPr/>
        </p:nvSpPr>
        <p:spPr>
          <a:xfrm>
            <a:off x="4965192" y="3694176"/>
            <a:ext cx="3840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A6B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3A4A6B"/>
                </a:solidFill>
                <a:latin typeface="Calibri"/>
                <a:ea typeface="Calibri"/>
                <a:cs typeface="Calibri"/>
                <a:sym typeface="Calibri"/>
              </a:rPr>
              <a:t>A raw LLM can't tell you where an answer came from — there's no citation, no traceability. (No informa</a:t>
            </a:r>
            <a:r>
              <a:rPr lang="en" sz="1050">
                <a:solidFill>
                  <a:srgbClr val="3A4A6B"/>
                </a:solidFill>
                <a:latin typeface="Calibri"/>
                <a:ea typeface="Calibri"/>
                <a:cs typeface="Calibri"/>
                <a:sym typeface="Calibri"/>
              </a:rPr>
              <a:t>tion source).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5"/>
          <p:cNvSpPr/>
          <p:nvPr/>
        </p:nvSpPr>
        <p:spPr>
          <a:xfrm>
            <a:off x="365760" y="4864608"/>
            <a:ext cx="8412480" cy="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6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6"/>
          <p:cNvSpPr/>
          <p:nvPr/>
        </p:nvSpPr>
        <p:spPr>
          <a:xfrm>
            <a:off x="0" y="0"/>
            <a:ext cx="201168" cy="749808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6"/>
          <p:cNvSpPr/>
          <p:nvPr/>
        </p:nvSpPr>
        <p:spPr>
          <a:xfrm>
            <a:off x="384048" y="0"/>
            <a:ext cx="859536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IS RAG?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6"/>
          <p:cNvSpPr/>
          <p:nvPr/>
        </p:nvSpPr>
        <p:spPr>
          <a:xfrm>
            <a:off x="457200" y="896112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9EFF"/>
              </a:buClr>
              <a:buSzPts val="1500"/>
              <a:buFont typeface="Calibri"/>
              <a:buNone/>
            </a:pPr>
            <a:r>
              <a:rPr b="1" i="0" lang="en" sz="1500" u="none" cap="none" strike="noStrike">
                <a:solidFill>
                  <a:srgbClr val="4A9EFF"/>
                </a:solidFill>
                <a:latin typeface="Calibri"/>
                <a:ea typeface="Calibri"/>
                <a:cs typeface="Calibri"/>
                <a:sym typeface="Calibri"/>
              </a:rPr>
              <a:t>Retrieval-Augmented Generation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6"/>
          <p:cNvSpPr/>
          <p:nvPr/>
        </p:nvSpPr>
        <p:spPr>
          <a:xfrm>
            <a:off x="457200" y="1298448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A6B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3A4A6B"/>
                </a:solidFill>
                <a:latin typeface="Calibri"/>
                <a:ea typeface="Calibri"/>
                <a:cs typeface="Calibri"/>
                <a:sym typeface="Calibri"/>
              </a:rPr>
              <a:t>Give the LLM a relevant "open book" to read before it answers — instead of relying only on memory.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6"/>
          <p:cNvSpPr/>
          <p:nvPr/>
        </p:nvSpPr>
        <p:spPr>
          <a:xfrm>
            <a:off x="502920" y="2057400"/>
            <a:ext cx="1737360" cy="1371600"/>
          </a:xfrm>
          <a:prstGeom prst="rect">
            <a:avLst/>
          </a:prstGeom>
          <a:solidFill>
            <a:srgbClr val="4A5A8B"/>
          </a:solidFill>
          <a:ln>
            <a:noFill/>
          </a:ln>
          <a:effectLst>
            <a:outerShdw blurRad="127000" rotWithShape="0" algn="bl" dir="81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6"/>
          <p:cNvSpPr/>
          <p:nvPr/>
        </p:nvSpPr>
        <p:spPr>
          <a:xfrm>
            <a:off x="502920" y="2194560"/>
            <a:ext cx="1737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Calibri"/>
              <a:buNone/>
            </a:pPr>
            <a:r>
              <a:rPr b="0" i="0" lang="en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❓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6"/>
          <p:cNvSpPr/>
          <p:nvPr/>
        </p:nvSpPr>
        <p:spPr>
          <a:xfrm>
            <a:off x="502920" y="2743200"/>
            <a:ext cx="1737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Question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6"/>
          <p:cNvSpPr/>
          <p:nvPr/>
        </p:nvSpPr>
        <p:spPr>
          <a:xfrm>
            <a:off x="548640" y="3063240"/>
            <a:ext cx="1645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User asks something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5" name="Google Shape;145;p16"/>
          <p:cNvCxnSpPr/>
          <p:nvPr/>
        </p:nvCxnSpPr>
        <p:spPr>
          <a:xfrm>
            <a:off x="2276856" y="2743200"/>
            <a:ext cx="310896" cy="0"/>
          </a:xfrm>
          <a:prstGeom prst="straightConnector1">
            <a:avLst/>
          </a:prstGeom>
          <a:noFill/>
          <a:ln cap="flat" cmpd="sng" w="31750">
            <a:solidFill>
              <a:srgbClr val="4A9E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6" name="Google Shape;146;p16"/>
          <p:cNvSpPr/>
          <p:nvPr/>
        </p:nvSpPr>
        <p:spPr>
          <a:xfrm>
            <a:off x="2624328" y="2057400"/>
            <a:ext cx="1737360" cy="1371600"/>
          </a:xfrm>
          <a:prstGeom prst="rect">
            <a:avLst/>
          </a:prstGeom>
          <a:solidFill>
            <a:srgbClr val="4A9EFF"/>
          </a:solidFill>
          <a:ln>
            <a:noFill/>
          </a:ln>
          <a:effectLst>
            <a:outerShdw blurRad="127000" rotWithShape="0" algn="bl" dir="81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6"/>
          <p:cNvSpPr/>
          <p:nvPr/>
        </p:nvSpPr>
        <p:spPr>
          <a:xfrm>
            <a:off x="2624328" y="2194560"/>
            <a:ext cx="1737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Calibri"/>
              <a:buNone/>
            </a:pPr>
            <a:r>
              <a:rPr b="0" i="0" lang="en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🔍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6"/>
          <p:cNvSpPr/>
          <p:nvPr/>
        </p:nvSpPr>
        <p:spPr>
          <a:xfrm>
            <a:off x="2624328" y="2743200"/>
            <a:ext cx="1737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Retrieve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6"/>
          <p:cNvSpPr/>
          <p:nvPr/>
        </p:nvSpPr>
        <p:spPr>
          <a:xfrm>
            <a:off x="2670048" y="3063240"/>
            <a:ext cx="1645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Find relevant documents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0" name="Google Shape;150;p16"/>
          <p:cNvCxnSpPr/>
          <p:nvPr/>
        </p:nvCxnSpPr>
        <p:spPr>
          <a:xfrm>
            <a:off x="4398264" y="2743200"/>
            <a:ext cx="310896" cy="0"/>
          </a:xfrm>
          <a:prstGeom prst="straightConnector1">
            <a:avLst/>
          </a:prstGeom>
          <a:noFill/>
          <a:ln cap="flat" cmpd="sng" w="31750">
            <a:solidFill>
              <a:srgbClr val="4A9E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1" name="Google Shape;151;p16"/>
          <p:cNvSpPr/>
          <p:nvPr/>
        </p:nvSpPr>
        <p:spPr>
          <a:xfrm>
            <a:off x="4745736" y="2057400"/>
            <a:ext cx="1737360" cy="1371600"/>
          </a:xfrm>
          <a:prstGeom prst="rect">
            <a:avLst/>
          </a:prstGeom>
          <a:solidFill>
            <a:srgbClr val="6B7FFF"/>
          </a:solidFill>
          <a:ln>
            <a:noFill/>
          </a:ln>
          <a:effectLst>
            <a:outerShdw blurRad="127000" rotWithShape="0" algn="bl" dir="81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6"/>
          <p:cNvSpPr/>
          <p:nvPr/>
        </p:nvSpPr>
        <p:spPr>
          <a:xfrm>
            <a:off x="4745736" y="2194560"/>
            <a:ext cx="1737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Calibri"/>
              <a:buNone/>
            </a:pPr>
            <a:r>
              <a:rPr b="0" i="0" lang="en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📋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6"/>
          <p:cNvSpPr/>
          <p:nvPr/>
        </p:nvSpPr>
        <p:spPr>
          <a:xfrm>
            <a:off x="4745736" y="2743200"/>
            <a:ext cx="1737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Augment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6"/>
          <p:cNvSpPr/>
          <p:nvPr/>
        </p:nvSpPr>
        <p:spPr>
          <a:xfrm>
            <a:off x="4791456" y="3063240"/>
            <a:ext cx="1645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Add docs to the prompt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5" name="Google Shape;155;p16"/>
          <p:cNvCxnSpPr/>
          <p:nvPr/>
        </p:nvCxnSpPr>
        <p:spPr>
          <a:xfrm>
            <a:off x="6519672" y="2743200"/>
            <a:ext cx="310896" cy="0"/>
          </a:xfrm>
          <a:prstGeom prst="straightConnector1">
            <a:avLst/>
          </a:prstGeom>
          <a:noFill/>
          <a:ln cap="flat" cmpd="sng" w="31750">
            <a:solidFill>
              <a:srgbClr val="4A9E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6" name="Google Shape;156;p16"/>
          <p:cNvSpPr/>
          <p:nvPr/>
        </p:nvSpPr>
        <p:spPr>
          <a:xfrm>
            <a:off x="6867144" y="2057400"/>
            <a:ext cx="1737360" cy="1371600"/>
          </a:xfrm>
          <a:prstGeom prst="rect">
            <a:avLst/>
          </a:prstGeom>
          <a:solidFill>
            <a:srgbClr val="3DD68C"/>
          </a:solidFill>
          <a:ln>
            <a:noFill/>
          </a:ln>
          <a:effectLst>
            <a:outerShdw blurRad="127000" rotWithShape="0" algn="bl" dir="81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6"/>
          <p:cNvSpPr/>
          <p:nvPr/>
        </p:nvSpPr>
        <p:spPr>
          <a:xfrm>
            <a:off x="6867144" y="2194560"/>
            <a:ext cx="1737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Calibri"/>
              <a:buNone/>
            </a:pPr>
            <a:r>
              <a:rPr b="0" i="0" lang="en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💡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6"/>
          <p:cNvSpPr/>
          <p:nvPr/>
        </p:nvSpPr>
        <p:spPr>
          <a:xfrm>
            <a:off x="6867144" y="2743200"/>
            <a:ext cx="1737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Generate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6"/>
          <p:cNvSpPr/>
          <p:nvPr/>
        </p:nvSpPr>
        <p:spPr>
          <a:xfrm>
            <a:off x="6912864" y="3063240"/>
            <a:ext cx="1645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LLM answers from context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6"/>
          <p:cNvSpPr/>
          <p:nvPr/>
        </p:nvSpPr>
        <p:spPr>
          <a:xfrm>
            <a:off x="365760" y="3794760"/>
            <a:ext cx="8412480" cy="1097280"/>
          </a:xfrm>
          <a:prstGeom prst="rect">
            <a:avLst/>
          </a:prstGeom>
          <a:solidFill>
            <a:srgbClr val="F2F4F8"/>
          </a:solidFill>
          <a:ln cap="flat" cmpd="sng" w="12700">
            <a:solidFill>
              <a:srgbClr val="2E2E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6"/>
          <p:cNvSpPr/>
          <p:nvPr/>
        </p:nvSpPr>
        <p:spPr>
          <a:xfrm>
            <a:off x="365760" y="3794760"/>
            <a:ext cx="137160" cy="1097280"/>
          </a:xfrm>
          <a:prstGeom prst="rect">
            <a:avLst/>
          </a:prstGeom>
          <a:solidFill>
            <a:srgbClr val="FFB8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6"/>
          <p:cNvSpPr/>
          <p:nvPr/>
        </p:nvSpPr>
        <p:spPr>
          <a:xfrm>
            <a:off x="640080" y="3886200"/>
            <a:ext cx="7955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A0F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0A0A0F"/>
                </a:solidFill>
                <a:latin typeface="Calibri"/>
                <a:ea typeface="Calibri"/>
                <a:cs typeface="Calibri"/>
                <a:sym typeface="Calibri"/>
              </a:rPr>
              <a:t>💡  The key insight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6"/>
          <p:cNvSpPr/>
          <p:nvPr/>
        </p:nvSpPr>
        <p:spPr>
          <a:xfrm>
            <a:off x="640080" y="4206240"/>
            <a:ext cx="79552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A6B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3A4A6B"/>
                </a:solidFill>
                <a:latin typeface="Calibri"/>
                <a:ea typeface="Calibri"/>
                <a:cs typeface="Calibri"/>
                <a:sym typeface="Calibri"/>
              </a:rPr>
              <a:t>RAG separates knowledge (your documents) from reasoning (the LLM). Update your documents and the system instantly "knows" new things — no retraining required.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7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7"/>
          <p:cNvSpPr/>
          <p:nvPr/>
        </p:nvSpPr>
        <p:spPr>
          <a:xfrm>
            <a:off x="0" y="0"/>
            <a:ext cx="201168" cy="749808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7"/>
          <p:cNvSpPr/>
          <p:nvPr/>
        </p:nvSpPr>
        <p:spPr>
          <a:xfrm>
            <a:off x="384048" y="0"/>
            <a:ext cx="859536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EMBEDDINGS</a:t>
            </a:r>
            <a:r>
              <a:rPr b="1" lang="en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b="1" i="0" lang="en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TEXT AS NUMBERS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7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A0F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0A0A0F"/>
                </a:solidFill>
                <a:latin typeface="Calibri"/>
                <a:ea typeface="Calibri"/>
                <a:cs typeface="Calibri"/>
                <a:sym typeface="Calibri"/>
              </a:rPr>
              <a:t>How does a computer understand "meaning"?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7"/>
          <p:cNvSpPr/>
          <p:nvPr/>
        </p:nvSpPr>
        <p:spPr>
          <a:xfrm>
            <a:off x="457200" y="1298448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A6B"/>
              </a:buClr>
              <a:buSzPts val="1100"/>
              <a:buFont typeface="Calibri"/>
              <a:buNone/>
            </a:pPr>
            <a:r>
              <a:rPr b="1" lang="en" sz="1100">
                <a:solidFill>
                  <a:schemeClr val="dk1"/>
                </a:solidFill>
              </a:rPr>
              <a:t>Embeddings</a:t>
            </a:r>
            <a:r>
              <a:rPr lang="en" sz="1100">
                <a:solidFill>
                  <a:schemeClr val="dk1"/>
                </a:solidFill>
              </a:rPr>
              <a:t> are numerical vector representations of text that allow the system to find information based on </a:t>
            </a:r>
            <a:r>
              <a:rPr b="1" lang="en" sz="1100">
                <a:solidFill>
                  <a:schemeClr val="dk1"/>
                </a:solidFill>
              </a:rPr>
              <a:t>meaning</a:t>
            </a:r>
            <a:r>
              <a:rPr lang="en" sz="1100">
                <a:solidFill>
                  <a:schemeClr val="dk1"/>
                </a:solidFill>
              </a:rPr>
              <a:t> rather than exact keyword matches.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7"/>
          <p:cNvSpPr/>
          <p:nvPr/>
        </p:nvSpPr>
        <p:spPr>
          <a:xfrm>
            <a:off x="457200" y="1828800"/>
            <a:ext cx="2194560" cy="41148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7"/>
          <p:cNvSpPr/>
          <p:nvPr/>
        </p:nvSpPr>
        <p:spPr>
          <a:xfrm>
            <a:off x="457200" y="1828800"/>
            <a:ext cx="21945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"heart attack"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7"/>
          <p:cNvSpPr/>
          <p:nvPr/>
        </p:nvSpPr>
        <p:spPr>
          <a:xfrm>
            <a:off x="2743200" y="182880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9EFF"/>
              </a:buClr>
              <a:buSzPts val="1600"/>
              <a:buFont typeface="Calibri"/>
              <a:buNone/>
            </a:pPr>
            <a:r>
              <a:rPr b="1" i="0" lang="en" sz="1600" u="none" cap="none" strike="noStrike">
                <a:solidFill>
                  <a:srgbClr val="4A9EF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7"/>
          <p:cNvSpPr/>
          <p:nvPr/>
        </p:nvSpPr>
        <p:spPr>
          <a:xfrm>
            <a:off x="3200400" y="1828800"/>
            <a:ext cx="2743200" cy="411480"/>
          </a:xfrm>
          <a:prstGeom prst="rect">
            <a:avLst/>
          </a:prstGeom>
          <a:solidFill>
            <a:srgbClr val="F2F4F8"/>
          </a:solidFill>
          <a:ln cap="flat" cmpd="sng" w="12700">
            <a:solidFill>
              <a:srgbClr val="2E2E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7"/>
          <p:cNvSpPr/>
          <p:nvPr/>
        </p:nvSpPr>
        <p:spPr>
          <a:xfrm>
            <a:off x="3200400" y="1828800"/>
            <a:ext cx="2743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4A6B"/>
              </a:buClr>
              <a:buSzPts val="1000"/>
              <a:buFont typeface="Consolas"/>
              <a:buNone/>
            </a:pPr>
            <a:r>
              <a:rPr b="0" i="0" lang="en" sz="1000" u="none" cap="none" strike="noStrike">
                <a:solidFill>
                  <a:srgbClr val="3A4A6B"/>
                </a:solidFill>
                <a:latin typeface="Consolas"/>
                <a:ea typeface="Consolas"/>
                <a:cs typeface="Consolas"/>
                <a:sym typeface="Consolas"/>
              </a:rPr>
              <a:t>[0.82, -0.13, 0.44, ...]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7"/>
          <p:cNvSpPr/>
          <p:nvPr/>
        </p:nvSpPr>
        <p:spPr>
          <a:xfrm>
            <a:off x="457200" y="2377440"/>
            <a:ext cx="2194560" cy="41148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7"/>
          <p:cNvSpPr/>
          <p:nvPr/>
        </p:nvSpPr>
        <p:spPr>
          <a:xfrm>
            <a:off x="457200" y="2377440"/>
            <a:ext cx="21945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"cardiac arrest"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7"/>
          <p:cNvSpPr/>
          <p:nvPr/>
        </p:nvSpPr>
        <p:spPr>
          <a:xfrm>
            <a:off x="2743200" y="237744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9EFF"/>
              </a:buClr>
              <a:buSzPts val="1600"/>
              <a:buFont typeface="Calibri"/>
              <a:buNone/>
            </a:pPr>
            <a:r>
              <a:rPr b="1" i="0" lang="en" sz="1600" u="none" cap="none" strike="noStrike">
                <a:solidFill>
                  <a:srgbClr val="4A9EF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7"/>
          <p:cNvSpPr/>
          <p:nvPr/>
        </p:nvSpPr>
        <p:spPr>
          <a:xfrm>
            <a:off x="3200400" y="2377440"/>
            <a:ext cx="2743200" cy="411480"/>
          </a:xfrm>
          <a:prstGeom prst="rect">
            <a:avLst/>
          </a:prstGeom>
          <a:solidFill>
            <a:srgbClr val="F2F4F8"/>
          </a:solidFill>
          <a:ln cap="flat" cmpd="sng" w="12700">
            <a:solidFill>
              <a:srgbClr val="2E2E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7"/>
          <p:cNvSpPr/>
          <p:nvPr/>
        </p:nvSpPr>
        <p:spPr>
          <a:xfrm>
            <a:off x="3200400" y="2377440"/>
            <a:ext cx="2743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4A6B"/>
              </a:buClr>
              <a:buSzPts val="1000"/>
              <a:buFont typeface="Consolas"/>
              <a:buNone/>
            </a:pPr>
            <a:r>
              <a:rPr b="0" i="0" lang="en" sz="1000" u="none" cap="none" strike="noStrike">
                <a:solidFill>
                  <a:srgbClr val="3A4A6B"/>
                </a:solidFill>
                <a:latin typeface="Consolas"/>
                <a:ea typeface="Consolas"/>
                <a:cs typeface="Consolas"/>
                <a:sym typeface="Consolas"/>
              </a:rPr>
              <a:t>[0.79, -0.11, 0.47, ...]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7"/>
          <p:cNvSpPr/>
          <p:nvPr/>
        </p:nvSpPr>
        <p:spPr>
          <a:xfrm>
            <a:off x="457200" y="2926080"/>
            <a:ext cx="2194560" cy="41148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7"/>
          <p:cNvSpPr/>
          <p:nvPr/>
        </p:nvSpPr>
        <p:spPr>
          <a:xfrm>
            <a:off x="457200" y="2926080"/>
            <a:ext cx="21945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B830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FFB830"/>
                </a:solidFill>
                <a:latin typeface="Calibri"/>
                <a:ea typeface="Calibri"/>
                <a:cs typeface="Calibri"/>
                <a:sym typeface="Calibri"/>
              </a:rPr>
              <a:t>"banana bread"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7"/>
          <p:cNvSpPr/>
          <p:nvPr/>
        </p:nvSpPr>
        <p:spPr>
          <a:xfrm>
            <a:off x="2743200" y="292608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9EFF"/>
              </a:buClr>
              <a:buSzPts val="1600"/>
              <a:buFont typeface="Calibri"/>
              <a:buNone/>
            </a:pPr>
            <a:r>
              <a:rPr b="1" i="0" lang="en" sz="1600" u="none" cap="none" strike="noStrike">
                <a:solidFill>
                  <a:srgbClr val="4A9EF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7"/>
          <p:cNvSpPr/>
          <p:nvPr/>
        </p:nvSpPr>
        <p:spPr>
          <a:xfrm>
            <a:off x="3200400" y="2926080"/>
            <a:ext cx="2743200" cy="411480"/>
          </a:xfrm>
          <a:prstGeom prst="rect">
            <a:avLst/>
          </a:prstGeom>
          <a:solidFill>
            <a:srgbClr val="F2F4F8"/>
          </a:solidFill>
          <a:ln cap="flat" cmpd="sng" w="12700">
            <a:solidFill>
              <a:srgbClr val="2E2E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7"/>
          <p:cNvSpPr/>
          <p:nvPr/>
        </p:nvSpPr>
        <p:spPr>
          <a:xfrm>
            <a:off x="3200400" y="2926080"/>
            <a:ext cx="2743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4A6B"/>
              </a:buClr>
              <a:buSzPts val="1000"/>
              <a:buFont typeface="Consolas"/>
              <a:buNone/>
            </a:pPr>
            <a:r>
              <a:rPr b="0" i="0" lang="en" sz="1000" u="none" cap="none" strike="noStrike">
                <a:solidFill>
                  <a:srgbClr val="3A4A6B"/>
                </a:solidFill>
                <a:latin typeface="Consolas"/>
                <a:ea typeface="Consolas"/>
                <a:cs typeface="Consolas"/>
                <a:sym typeface="Consolas"/>
              </a:rPr>
              <a:t>[-0.21, 0.66, -0.30, ...]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7"/>
          <p:cNvSpPr/>
          <p:nvPr/>
        </p:nvSpPr>
        <p:spPr>
          <a:xfrm>
            <a:off x="457200" y="3520440"/>
            <a:ext cx="5486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900"/>
              <a:buFont typeface="Calibri"/>
              <a:buNone/>
            </a:pPr>
            <a:r>
              <a:rPr b="0" i="1" lang="en" sz="90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↑ first two are nearly identical vectors — the model learned they mean the same thing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7"/>
          <p:cNvSpPr/>
          <p:nvPr/>
        </p:nvSpPr>
        <p:spPr>
          <a:xfrm>
            <a:off x="6309360" y="1783080"/>
            <a:ext cx="2468880" cy="2331720"/>
          </a:xfrm>
          <a:prstGeom prst="rect">
            <a:avLst/>
          </a:prstGeom>
          <a:solidFill>
            <a:srgbClr val="141420"/>
          </a:solidFill>
          <a:ln>
            <a:noFill/>
          </a:ln>
          <a:effectLst>
            <a:outerShdw blurRad="127000" rotWithShape="0" algn="bl" dir="81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7"/>
          <p:cNvSpPr/>
          <p:nvPr/>
        </p:nvSpPr>
        <p:spPr>
          <a:xfrm>
            <a:off x="6309360" y="1783080"/>
            <a:ext cx="2468880" cy="45720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7"/>
          <p:cNvSpPr/>
          <p:nvPr/>
        </p:nvSpPr>
        <p:spPr>
          <a:xfrm>
            <a:off x="6446520" y="182880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Why it matters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7"/>
          <p:cNvSpPr/>
          <p:nvPr/>
        </p:nvSpPr>
        <p:spPr>
          <a:xfrm>
            <a:off x="6446520" y="2377440"/>
            <a:ext cx="224028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BFFF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7BBFFF"/>
                </a:solidFill>
                <a:latin typeface="Calibri"/>
                <a:ea typeface="Calibri"/>
                <a:cs typeface="Calibri"/>
                <a:sym typeface="Calibri"/>
              </a:rPr>
              <a:t>Search by meaning, not keywords. A query for "chest pain" can match a document that says "angina" — even with zero words in common.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7"/>
          <p:cNvSpPr/>
          <p:nvPr/>
        </p:nvSpPr>
        <p:spPr>
          <a:xfrm>
            <a:off x="365760" y="4297680"/>
            <a:ext cx="8412480" cy="594360"/>
          </a:xfrm>
          <a:prstGeom prst="rect">
            <a:avLst/>
          </a:prstGeom>
          <a:solidFill>
            <a:srgbClr val="F2F4F8"/>
          </a:solidFill>
          <a:ln cap="flat" cmpd="sng" w="12700">
            <a:solidFill>
              <a:srgbClr val="2E2E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7"/>
          <p:cNvSpPr/>
          <p:nvPr/>
        </p:nvSpPr>
        <p:spPr>
          <a:xfrm>
            <a:off x="365760" y="4297680"/>
            <a:ext cx="137160" cy="59436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7"/>
          <p:cNvSpPr/>
          <p:nvPr/>
        </p:nvSpPr>
        <p:spPr>
          <a:xfrm>
            <a:off x="640080" y="4370832"/>
            <a:ext cx="7955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A6B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3A4A6B"/>
                </a:solidFill>
                <a:latin typeface="Calibri"/>
                <a:ea typeface="Calibri"/>
                <a:cs typeface="Calibri"/>
                <a:sym typeface="Calibri"/>
              </a:rPr>
              <a:t>Common models: OpenAI text-embedding-3, sentence-transformers (all-MiniLM-L6-v2), Cohere Embed — all map text into the same kind of numeric space.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8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8"/>
          <p:cNvSpPr/>
          <p:nvPr/>
        </p:nvSpPr>
        <p:spPr>
          <a:xfrm>
            <a:off x="0" y="0"/>
            <a:ext cx="201168" cy="749808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8"/>
          <p:cNvSpPr/>
          <p:nvPr/>
        </p:nvSpPr>
        <p:spPr>
          <a:xfrm>
            <a:off x="384048" y="0"/>
            <a:ext cx="859536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VECTOR SEARCH &amp; DATABASES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8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A0F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0A0A0F"/>
                </a:solidFill>
                <a:latin typeface="Calibri"/>
                <a:ea typeface="Calibri"/>
                <a:cs typeface="Calibri"/>
                <a:sym typeface="Calibri"/>
              </a:rPr>
              <a:t>Finding the needle: nearest-neighbor search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8"/>
          <p:cNvSpPr/>
          <p:nvPr/>
        </p:nvSpPr>
        <p:spPr>
          <a:xfrm>
            <a:off x="365760" y="1371600"/>
            <a:ext cx="4114800" cy="3520440"/>
          </a:xfrm>
          <a:prstGeom prst="rect">
            <a:avLst/>
          </a:prstGeom>
          <a:solidFill>
            <a:srgbClr val="F2F4F8"/>
          </a:solidFill>
          <a:ln cap="flat" cmpd="sng" w="12700">
            <a:solidFill>
              <a:srgbClr val="2E2E4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8"/>
          <p:cNvSpPr/>
          <p:nvPr/>
        </p:nvSpPr>
        <p:spPr>
          <a:xfrm>
            <a:off x="365760" y="1371600"/>
            <a:ext cx="4114800" cy="4572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8"/>
          <p:cNvSpPr/>
          <p:nvPr/>
        </p:nvSpPr>
        <p:spPr>
          <a:xfrm>
            <a:off x="548640" y="1417320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9EFF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4A9EFF"/>
                </a:solidFill>
                <a:latin typeface="Calibri"/>
                <a:ea typeface="Calibri"/>
                <a:cs typeface="Calibri"/>
                <a:sym typeface="Calibri"/>
              </a:rPr>
              <a:t>How it works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8"/>
          <p:cNvSpPr/>
          <p:nvPr/>
        </p:nvSpPr>
        <p:spPr>
          <a:xfrm>
            <a:off x="548640" y="1965960"/>
            <a:ext cx="329184" cy="329184"/>
          </a:xfrm>
          <a:prstGeom prst="ellipse">
            <a:avLst/>
          </a:prstGeom>
          <a:solidFill>
            <a:srgbClr val="4A9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8"/>
          <p:cNvSpPr/>
          <p:nvPr/>
        </p:nvSpPr>
        <p:spPr>
          <a:xfrm>
            <a:off x="548640" y="1965960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8"/>
          <p:cNvSpPr/>
          <p:nvPr/>
        </p:nvSpPr>
        <p:spPr>
          <a:xfrm>
            <a:off x="909399" y="1819085"/>
            <a:ext cx="33375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A6B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3A4A6B"/>
                </a:solidFill>
                <a:latin typeface="Calibri"/>
                <a:ea typeface="Calibri"/>
                <a:cs typeface="Calibri"/>
                <a:sym typeface="Calibri"/>
              </a:rPr>
              <a:t>Every document chunk is embedded into a vector and stored.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8"/>
          <p:cNvSpPr/>
          <p:nvPr/>
        </p:nvSpPr>
        <p:spPr>
          <a:xfrm>
            <a:off x="548640" y="2679192"/>
            <a:ext cx="329184" cy="329184"/>
          </a:xfrm>
          <a:prstGeom prst="ellipse">
            <a:avLst/>
          </a:prstGeom>
          <a:solidFill>
            <a:srgbClr val="4A9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8"/>
          <p:cNvSpPr/>
          <p:nvPr/>
        </p:nvSpPr>
        <p:spPr>
          <a:xfrm>
            <a:off x="548640" y="2679192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8"/>
          <p:cNvSpPr/>
          <p:nvPr/>
        </p:nvSpPr>
        <p:spPr>
          <a:xfrm>
            <a:off x="909399" y="2532317"/>
            <a:ext cx="33375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A6B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3A4A6B"/>
                </a:solidFill>
                <a:latin typeface="Calibri"/>
                <a:ea typeface="Calibri"/>
                <a:cs typeface="Calibri"/>
                <a:sym typeface="Calibri"/>
              </a:rPr>
              <a:t>Your question is embedded into a vector too.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8"/>
          <p:cNvSpPr/>
          <p:nvPr/>
        </p:nvSpPr>
        <p:spPr>
          <a:xfrm>
            <a:off x="548640" y="3392424"/>
            <a:ext cx="329184" cy="329184"/>
          </a:xfrm>
          <a:prstGeom prst="ellipse">
            <a:avLst/>
          </a:prstGeom>
          <a:solidFill>
            <a:srgbClr val="4A9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8"/>
          <p:cNvSpPr/>
          <p:nvPr/>
        </p:nvSpPr>
        <p:spPr>
          <a:xfrm>
            <a:off x="548640" y="3392424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8"/>
          <p:cNvSpPr/>
          <p:nvPr/>
        </p:nvSpPr>
        <p:spPr>
          <a:xfrm>
            <a:off x="909399" y="3245549"/>
            <a:ext cx="33375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A6B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3A4A6B"/>
                </a:solidFill>
                <a:latin typeface="Calibri"/>
                <a:ea typeface="Calibri"/>
                <a:cs typeface="Calibri"/>
                <a:sym typeface="Calibri"/>
              </a:rPr>
              <a:t>The database finds the chunks whose vectors are mathematically closest.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8"/>
          <p:cNvSpPr/>
          <p:nvPr/>
        </p:nvSpPr>
        <p:spPr>
          <a:xfrm>
            <a:off x="548640" y="4105656"/>
            <a:ext cx="329184" cy="329184"/>
          </a:xfrm>
          <a:prstGeom prst="ellipse">
            <a:avLst/>
          </a:prstGeom>
          <a:solidFill>
            <a:srgbClr val="4A9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8"/>
          <p:cNvSpPr/>
          <p:nvPr/>
        </p:nvSpPr>
        <p:spPr>
          <a:xfrm>
            <a:off x="548640" y="4105656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8"/>
          <p:cNvSpPr/>
          <p:nvPr/>
        </p:nvSpPr>
        <p:spPr>
          <a:xfrm>
            <a:off x="909399" y="3958781"/>
            <a:ext cx="33375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A6B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3A4A6B"/>
                </a:solidFill>
                <a:latin typeface="Calibri"/>
                <a:ea typeface="Calibri"/>
                <a:cs typeface="Calibri"/>
                <a:sym typeface="Calibri"/>
              </a:rPr>
              <a:t>Those nearest chunks are the most semantically relevant matches.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8"/>
          <p:cNvSpPr/>
          <p:nvPr/>
        </p:nvSpPr>
        <p:spPr>
          <a:xfrm>
            <a:off x="4663440" y="1371600"/>
            <a:ext cx="4114800" cy="3520440"/>
          </a:xfrm>
          <a:prstGeom prst="rect">
            <a:avLst/>
          </a:prstGeom>
          <a:solidFill>
            <a:srgbClr val="141420"/>
          </a:solidFill>
          <a:ln>
            <a:noFill/>
          </a:ln>
          <a:effectLst>
            <a:outerShdw blurRad="127000" rotWithShape="0" algn="bl" dir="81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8"/>
          <p:cNvSpPr/>
          <p:nvPr/>
        </p:nvSpPr>
        <p:spPr>
          <a:xfrm>
            <a:off x="4663440" y="1371600"/>
            <a:ext cx="4114800" cy="45720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8"/>
          <p:cNvSpPr/>
          <p:nvPr/>
        </p:nvSpPr>
        <p:spPr>
          <a:xfrm>
            <a:off x="4846320" y="1417320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Popular vector stores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8"/>
          <p:cNvSpPr/>
          <p:nvPr/>
        </p:nvSpPr>
        <p:spPr>
          <a:xfrm>
            <a:off x="4846320" y="2034969"/>
            <a:ext cx="1371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FAISS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8"/>
          <p:cNvSpPr/>
          <p:nvPr/>
        </p:nvSpPr>
        <p:spPr>
          <a:xfrm>
            <a:off x="5989320" y="1956816"/>
            <a:ext cx="2697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Meta's library — fast, local, free. Great for prototypes.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6" name="Google Shape;226;p18"/>
          <p:cNvCxnSpPr/>
          <p:nvPr/>
        </p:nvCxnSpPr>
        <p:spPr>
          <a:xfrm>
            <a:off x="4846320" y="2450592"/>
            <a:ext cx="3749040" cy="0"/>
          </a:xfrm>
          <a:prstGeom prst="straightConnector1">
            <a:avLst/>
          </a:prstGeom>
          <a:noFill/>
          <a:ln cap="flat" cmpd="sng" w="9525">
            <a:solidFill>
              <a:srgbClr val="2E2E4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7" name="Google Shape;227;p18"/>
          <p:cNvSpPr/>
          <p:nvPr/>
        </p:nvSpPr>
        <p:spPr>
          <a:xfrm>
            <a:off x="4846320" y="2601897"/>
            <a:ext cx="1371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Pinecone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8"/>
          <p:cNvSpPr/>
          <p:nvPr/>
        </p:nvSpPr>
        <p:spPr>
          <a:xfrm>
            <a:off x="5989320" y="2523744"/>
            <a:ext cx="2697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Managed cloud service — scales to billions of vectors.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9" name="Google Shape;229;p18"/>
          <p:cNvCxnSpPr/>
          <p:nvPr/>
        </p:nvCxnSpPr>
        <p:spPr>
          <a:xfrm>
            <a:off x="4846320" y="3017520"/>
            <a:ext cx="3749040" cy="0"/>
          </a:xfrm>
          <a:prstGeom prst="straightConnector1">
            <a:avLst/>
          </a:prstGeom>
          <a:noFill/>
          <a:ln cap="flat" cmpd="sng" w="9525">
            <a:solidFill>
              <a:srgbClr val="2E2E4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0" name="Google Shape;230;p18"/>
          <p:cNvSpPr/>
          <p:nvPr/>
        </p:nvSpPr>
        <p:spPr>
          <a:xfrm>
            <a:off x="4846320" y="3168825"/>
            <a:ext cx="1371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Chroma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8"/>
          <p:cNvSpPr/>
          <p:nvPr/>
        </p:nvSpPr>
        <p:spPr>
          <a:xfrm>
            <a:off x="5989320" y="3090672"/>
            <a:ext cx="2697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Lightweight, developer-friendly, open-source.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2" name="Google Shape;232;p18"/>
          <p:cNvCxnSpPr/>
          <p:nvPr/>
        </p:nvCxnSpPr>
        <p:spPr>
          <a:xfrm>
            <a:off x="4846320" y="3584448"/>
            <a:ext cx="3749040" cy="0"/>
          </a:xfrm>
          <a:prstGeom prst="straightConnector1">
            <a:avLst/>
          </a:prstGeom>
          <a:noFill/>
          <a:ln cap="flat" cmpd="sng" w="9525">
            <a:solidFill>
              <a:srgbClr val="2E2E4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3" name="Google Shape;233;p18"/>
          <p:cNvSpPr/>
          <p:nvPr/>
        </p:nvSpPr>
        <p:spPr>
          <a:xfrm>
            <a:off x="4846320" y="3735753"/>
            <a:ext cx="1371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Weaviate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8"/>
          <p:cNvSpPr/>
          <p:nvPr/>
        </p:nvSpPr>
        <p:spPr>
          <a:xfrm>
            <a:off x="5989320" y="3657600"/>
            <a:ext cx="2697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Open-source with built-in hybrid keyword + vector search.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5" name="Google Shape;235;p18"/>
          <p:cNvCxnSpPr/>
          <p:nvPr/>
        </p:nvCxnSpPr>
        <p:spPr>
          <a:xfrm>
            <a:off x="4846320" y="4151376"/>
            <a:ext cx="3749040" cy="0"/>
          </a:xfrm>
          <a:prstGeom prst="straightConnector1">
            <a:avLst/>
          </a:prstGeom>
          <a:noFill/>
          <a:ln cap="flat" cmpd="sng" w="9525">
            <a:solidFill>
              <a:srgbClr val="2E2E4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6" name="Google Shape;236;p18"/>
          <p:cNvSpPr/>
          <p:nvPr/>
        </p:nvSpPr>
        <p:spPr>
          <a:xfrm>
            <a:off x="4846320" y="4302681"/>
            <a:ext cx="1371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pgvector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8"/>
          <p:cNvSpPr/>
          <p:nvPr/>
        </p:nvSpPr>
        <p:spPr>
          <a:xfrm>
            <a:off x="5989320" y="4224528"/>
            <a:ext cx="2697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Adds vector search to a normal PostgreSQL database.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9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9"/>
          <p:cNvSpPr/>
          <p:nvPr/>
        </p:nvSpPr>
        <p:spPr>
          <a:xfrm>
            <a:off x="0" y="0"/>
            <a:ext cx="201168" cy="749808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9"/>
          <p:cNvSpPr/>
          <p:nvPr/>
        </p:nvSpPr>
        <p:spPr>
          <a:xfrm>
            <a:off x="384048" y="0"/>
            <a:ext cx="859536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AGENTIC AI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9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A0F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0A0A0F"/>
                </a:solidFill>
                <a:latin typeface="Calibri"/>
                <a:ea typeface="Calibri"/>
                <a:cs typeface="Calibri"/>
                <a:sym typeface="Calibri"/>
              </a:rPr>
              <a:t>From answering questions to taking actions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9"/>
          <p:cNvSpPr/>
          <p:nvPr/>
        </p:nvSpPr>
        <p:spPr>
          <a:xfrm>
            <a:off x="457200" y="1298448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A6B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3A4A6B"/>
                </a:solidFill>
                <a:latin typeface="Calibri"/>
                <a:ea typeface="Calibri"/>
                <a:cs typeface="Calibri"/>
                <a:sym typeface="Calibri"/>
              </a:rPr>
              <a:t>An agent is an LLM that can reason, use tools, and loop — deciding its own next step until a goal is met.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9"/>
          <p:cNvSpPr/>
          <p:nvPr/>
        </p:nvSpPr>
        <p:spPr>
          <a:xfrm>
            <a:off x="502920" y="1874520"/>
            <a:ext cx="1783080" cy="1325880"/>
          </a:xfrm>
          <a:prstGeom prst="rect">
            <a:avLst/>
          </a:prstGeom>
          <a:solidFill>
            <a:srgbClr val="4A9EFF"/>
          </a:solidFill>
          <a:ln>
            <a:noFill/>
          </a:ln>
          <a:effectLst>
            <a:outerShdw blurRad="127000" rotWithShape="0" algn="bl" dir="81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9"/>
          <p:cNvSpPr/>
          <p:nvPr/>
        </p:nvSpPr>
        <p:spPr>
          <a:xfrm>
            <a:off x="502920" y="1984248"/>
            <a:ext cx="1783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b="0" i="0" lang="en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🤔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9"/>
          <p:cNvSpPr/>
          <p:nvPr/>
        </p:nvSpPr>
        <p:spPr>
          <a:xfrm>
            <a:off x="502920" y="2496312"/>
            <a:ext cx="1783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Think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9"/>
          <p:cNvSpPr/>
          <p:nvPr/>
        </p:nvSpPr>
        <p:spPr>
          <a:xfrm>
            <a:off x="548640" y="2816352"/>
            <a:ext cx="1691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Reason about the task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2" name="Google Shape;252;p19"/>
          <p:cNvCxnSpPr/>
          <p:nvPr/>
        </p:nvCxnSpPr>
        <p:spPr>
          <a:xfrm>
            <a:off x="2322576" y="2537460"/>
            <a:ext cx="310896" cy="0"/>
          </a:xfrm>
          <a:prstGeom prst="straightConnector1">
            <a:avLst/>
          </a:prstGeom>
          <a:noFill/>
          <a:ln cap="flat" cmpd="sng" w="31750">
            <a:solidFill>
              <a:srgbClr val="4A9E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3" name="Google Shape;253;p19"/>
          <p:cNvSpPr/>
          <p:nvPr/>
        </p:nvSpPr>
        <p:spPr>
          <a:xfrm>
            <a:off x="2606040" y="1874520"/>
            <a:ext cx="1783080" cy="1325880"/>
          </a:xfrm>
          <a:prstGeom prst="rect">
            <a:avLst/>
          </a:prstGeom>
          <a:solidFill>
            <a:srgbClr val="6B7FFF"/>
          </a:solidFill>
          <a:ln>
            <a:noFill/>
          </a:ln>
          <a:effectLst>
            <a:outerShdw blurRad="127000" rotWithShape="0" algn="bl" dir="81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9"/>
          <p:cNvSpPr/>
          <p:nvPr/>
        </p:nvSpPr>
        <p:spPr>
          <a:xfrm>
            <a:off x="2606040" y="1984248"/>
            <a:ext cx="1783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b="0" i="0" lang="en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🛠️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9"/>
          <p:cNvSpPr/>
          <p:nvPr/>
        </p:nvSpPr>
        <p:spPr>
          <a:xfrm>
            <a:off x="2606040" y="2496312"/>
            <a:ext cx="1783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9"/>
          <p:cNvSpPr/>
          <p:nvPr/>
        </p:nvSpPr>
        <p:spPr>
          <a:xfrm>
            <a:off x="2651760" y="2816352"/>
            <a:ext cx="1691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Call a tool / API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7" name="Google Shape;257;p19"/>
          <p:cNvCxnSpPr/>
          <p:nvPr/>
        </p:nvCxnSpPr>
        <p:spPr>
          <a:xfrm>
            <a:off x="4425696" y="2537460"/>
            <a:ext cx="310896" cy="0"/>
          </a:xfrm>
          <a:prstGeom prst="straightConnector1">
            <a:avLst/>
          </a:prstGeom>
          <a:noFill/>
          <a:ln cap="flat" cmpd="sng" w="31750">
            <a:solidFill>
              <a:srgbClr val="4A9E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8" name="Google Shape;258;p19"/>
          <p:cNvSpPr/>
          <p:nvPr/>
        </p:nvSpPr>
        <p:spPr>
          <a:xfrm>
            <a:off x="4709160" y="1874520"/>
            <a:ext cx="1783080" cy="1325880"/>
          </a:xfrm>
          <a:prstGeom prst="rect">
            <a:avLst/>
          </a:prstGeom>
          <a:solidFill>
            <a:srgbClr val="4A5A8B"/>
          </a:solidFill>
          <a:ln>
            <a:noFill/>
          </a:ln>
          <a:effectLst>
            <a:outerShdw blurRad="127000" rotWithShape="0" algn="bl" dir="81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9"/>
          <p:cNvSpPr/>
          <p:nvPr/>
        </p:nvSpPr>
        <p:spPr>
          <a:xfrm>
            <a:off x="4709160" y="1984248"/>
            <a:ext cx="1783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b="0" i="0" lang="en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👀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9"/>
          <p:cNvSpPr/>
          <p:nvPr/>
        </p:nvSpPr>
        <p:spPr>
          <a:xfrm>
            <a:off x="4709160" y="2496312"/>
            <a:ext cx="1783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Observe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9"/>
          <p:cNvSpPr/>
          <p:nvPr/>
        </p:nvSpPr>
        <p:spPr>
          <a:xfrm>
            <a:off x="4754880" y="2816352"/>
            <a:ext cx="1691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Read the result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2" name="Google Shape;262;p19"/>
          <p:cNvCxnSpPr/>
          <p:nvPr/>
        </p:nvCxnSpPr>
        <p:spPr>
          <a:xfrm>
            <a:off x="6528816" y="2537460"/>
            <a:ext cx="310896" cy="0"/>
          </a:xfrm>
          <a:prstGeom prst="straightConnector1">
            <a:avLst/>
          </a:prstGeom>
          <a:noFill/>
          <a:ln cap="flat" cmpd="sng" w="31750">
            <a:solidFill>
              <a:srgbClr val="4A9E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3" name="Google Shape;263;p19"/>
          <p:cNvSpPr/>
          <p:nvPr/>
        </p:nvSpPr>
        <p:spPr>
          <a:xfrm>
            <a:off x="6812280" y="1874520"/>
            <a:ext cx="1783080" cy="1325880"/>
          </a:xfrm>
          <a:prstGeom prst="rect">
            <a:avLst/>
          </a:prstGeom>
          <a:solidFill>
            <a:srgbClr val="3DD68C"/>
          </a:solidFill>
          <a:ln>
            <a:noFill/>
          </a:ln>
          <a:effectLst>
            <a:outerShdw blurRad="127000" rotWithShape="0" algn="bl" dir="81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9"/>
          <p:cNvSpPr/>
          <p:nvPr/>
        </p:nvSpPr>
        <p:spPr>
          <a:xfrm>
            <a:off x="6812280" y="1984248"/>
            <a:ext cx="1783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b="0" i="0" lang="en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🔁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9"/>
          <p:cNvSpPr/>
          <p:nvPr/>
        </p:nvSpPr>
        <p:spPr>
          <a:xfrm>
            <a:off x="6812280" y="2496312"/>
            <a:ext cx="1783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Repeat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9"/>
          <p:cNvSpPr/>
          <p:nvPr/>
        </p:nvSpPr>
        <p:spPr>
          <a:xfrm>
            <a:off x="6858000" y="2816352"/>
            <a:ext cx="1691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Until goal is reached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7" name="Google Shape;267;p19"/>
          <p:cNvCxnSpPr/>
          <p:nvPr/>
        </p:nvCxnSpPr>
        <p:spPr>
          <a:xfrm>
            <a:off x="1394460" y="3337560"/>
            <a:ext cx="6309360" cy="0"/>
          </a:xfrm>
          <a:prstGeom prst="straightConnector1">
            <a:avLst/>
          </a:prstGeom>
          <a:noFill/>
          <a:ln cap="flat" cmpd="sng" w="25400">
            <a:solidFill>
              <a:srgbClr val="3DD68C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68" name="Google Shape;268;p19"/>
          <p:cNvSpPr/>
          <p:nvPr/>
        </p:nvSpPr>
        <p:spPr>
          <a:xfrm>
            <a:off x="3236976" y="338328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D68C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3DD68C"/>
                </a:solidFill>
                <a:latin typeface="Calibri"/>
                <a:ea typeface="Calibri"/>
                <a:cs typeface="Calibri"/>
                <a:sym typeface="Calibri"/>
              </a:rPr>
              <a:t>↺  loop back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9"/>
          <p:cNvSpPr/>
          <p:nvPr/>
        </p:nvSpPr>
        <p:spPr>
          <a:xfrm>
            <a:off x="365760" y="3886200"/>
            <a:ext cx="8412480" cy="1005840"/>
          </a:xfrm>
          <a:prstGeom prst="rect">
            <a:avLst/>
          </a:prstGeom>
          <a:solidFill>
            <a:srgbClr val="F2F4F8"/>
          </a:solidFill>
          <a:ln cap="flat" cmpd="sng" w="12700">
            <a:solidFill>
              <a:srgbClr val="2E2E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9"/>
          <p:cNvSpPr/>
          <p:nvPr/>
        </p:nvSpPr>
        <p:spPr>
          <a:xfrm>
            <a:off x="365760" y="3886200"/>
            <a:ext cx="137160" cy="100584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9"/>
          <p:cNvSpPr/>
          <p:nvPr/>
        </p:nvSpPr>
        <p:spPr>
          <a:xfrm>
            <a:off x="640080" y="3959352"/>
            <a:ext cx="7955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A0F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0A0A0F"/>
                </a:solidFill>
                <a:latin typeface="Calibri"/>
                <a:ea typeface="Calibri"/>
                <a:cs typeface="Calibri"/>
                <a:sym typeface="Calibri"/>
              </a:rPr>
              <a:t>What tools can an agent use?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9"/>
          <p:cNvSpPr/>
          <p:nvPr/>
        </p:nvSpPr>
        <p:spPr>
          <a:xfrm>
            <a:off x="640080" y="4270248"/>
            <a:ext cx="7955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A6B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3A4A6B"/>
                </a:solidFill>
                <a:latin typeface="Calibri"/>
                <a:ea typeface="Calibri"/>
                <a:cs typeface="Calibri"/>
                <a:sym typeface="Calibri"/>
              </a:rPr>
              <a:t>Web search · Calculators · Code execution · Database queries · RAG retrieval · Sending emails · Calling other APIs — anything you give it access to. RAG itself is often just one tool in an agent's toolbox.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0"/>
          <p:cNvSpPr/>
          <p:nvPr/>
        </p:nvSpPr>
        <p:spPr>
          <a:xfrm>
            <a:off x="0" y="0"/>
            <a:ext cx="201168" cy="749808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20"/>
          <p:cNvSpPr/>
          <p:nvPr/>
        </p:nvSpPr>
        <p:spPr>
          <a:xfrm>
            <a:off x="384048" y="0"/>
            <a:ext cx="859536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LANGGRAPH — ORCHESTRATING AGENTS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0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A0F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0A0A0F"/>
                </a:solidFill>
                <a:latin typeface="Calibri"/>
                <a:ea typeface="Calibri"/>
                <a:cs typeface="Calibri"/>
                <a:sym typeface="Calibri"/>
              </a:rPr>
              <a:t>When a simple loop isn't enough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0"/>
          <p:cNvSpPr/>
          <p:nvPr/>
        </p:nvSpPr>
        <p:spPr>
          <a:xfrm>
            <a:off x="457200" y="1298448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A6B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3A4A6B"/>
                </a:solidFill>
                <a:latin typeface="Calibri"/>
                <a:ea typeface="Calibri"/>
                <a:cs typeface="Calibri"/>
                <a:sym typeface="Calibri"/>
              </a:rPr>
              <a:t>LangGraph models AI workflows as a graph: nodes do work, edges decide what happens next. It adds control, memory, and branching.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0"/>
          <p:cNvSpPr/>
          <p:nvPr/>
        </p:nvSpPr>
        <p:spPr>
          <a:xfrm>
            <a:off x="548640" y="2286000"/>
            <a:ext cx="1188720" cy="640080"/>
          </a:xfrm>
          <a:prstGeom prst="ellipse">
            <a:avLst/>
          </a:prstGeom>
          <a:solidFill>
            <a:srgbClr val="0A0A0F"/>
          </a:solidFill>
          <a:ln>
            <a:noFill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20"/>
          <p:cNvSpPr/>
          <p:nvPr/>
        </p:nvSpPr>
        <p:spPr>
          <a:xfrm>
            <a:off x="548640" y="2286000"/>
            <a:ext cx="1188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D68C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3DD68C"/>
                </a:solidFill>
                <a:latin typeface="Calibri"/>
                <a:ea typeface="Calibri"/>
                <a:cs typeface="Calibri"/>
                <a:sym typeface="Calibri"/>
              </a:rPr>
              <a:t>START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5" name="Google Shape;285;p20"/>
          <p:cNvCxnSpPr/>
          <p:nvPr/>
        </p:nvCxnSpPr>
        <p:spPr>
          <a:xfrm>
            <a:off x="1737360" y="2606040"/>
            <a:ext cx="457200" cy="0"/>
          </a:xfrm>
          <a:prstGeom prst="straightConnector1">
            <a:avLst/>
          </a:prstGeom>
          <a:noFill/>
          <a:ln cap="flat" cmpd="sng" w="25400">
            <a:solidFill>
              <a:srgbClr val="4A9E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6" name="Google Shape;286;p20"/>
          <p:cNvSpPr/>
          <p:nvPr/>
        </p:nvSpPr>
        <p:spPr>
          <a:xfrm>
            <a:off x="2194560" y="2286000"/>
            <a:ext cx="1371600" cy="640080"/>
          </a:xfrm>
          <a:prstGeom prst="rect">
            <a:avLst/>
          </a:prstGeom>
          <a:solidFill>
            <a:srgbClr val="4A9EFF"/>
          </a:solidFill>
          <a:ln>
            <a:noFill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20"/>
          <p:cNvSpPr/>
          <p:nvPr/>
        </p:nvSpPr>
        <p:spPr>
          <a:xfrm>
            <a:off x="2194560" y="2286000"/>
            <a:ext cx="1371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Retrieve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8" name="Google Shape;288;p20"/>
          <p:cNvCxnSpPr/>
          <p:nvPr/>
        </p:nvCxnSpPr>
        <p:spPr>
          <a:xfrm>
            <a:off x="3566160" y="2606040"/>
            <a:ext cx="457200" cy="0"/>
          </a:xfrm>
          <a:prstGeom prst="straightConnector1">
            <a:avLst/>
          </a:prstGeom>
          <a:noFill/>
          <a:ln cap="flat" cmpd="sng" w="25400">
            <a:solidFill>
              <a:srgbClr val="4A9E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9" name="Google Shape;289;p20"/>
          <p:cNvSpPr/>
          <p:nvPr/>
        </p:nvSpPr>
        <p:spPr>
          <a:xfrm>
            <a:off x="4023360" y="2240280"/>
            <a:ext cx="1463040" cy="731520"/>
          </a:xfrm>
          <a:prstGeom prst="rect">
            <a:avLst/>
          </a:prstGeom>
          <a:solidFill>
            <a:srgbClr val="4A5A8B"/>
          </a:solidFill>
          <a:ln>
            <a:noFill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20"/>
          <p:cNvSpPr/>
          <p:nvPr/>
        </p:nvSpPr>
        <p:spPr>
          <a:xfrm>
            <a:off x="4023360" y="2240280"/>
            <a:ext cx="14630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Good enough?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1" name="Google Shape;291;p20"/>
          <p:cNvCxnSpPr/>
          <p:nvPr/>
        </p:nvCxnSpPr>
        <p:spPr>
          <a:xfrm>
            <a:off x="5486400" y="2606040"/>
            <a:ext cx="457200" cy="0"/>
          </a:xfrm>
          <a:prstGeom prst="straightConnector1">
            <a:avLst/>
          </a:prstGeom>
          <a:noFill/>
          <a:ln cap="flat" cmpd="sng" w="25400">
            <a:solidFill>
              <a:srgbClr val="3DD68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2" name="Google Shape;292;p20"/>
          <p:cNvSpPr/>
          <p:nvPr/>
        </p:nvSpPr>
        <p:spPr>
          <a:xfrm>
            <a:off x="5486400" y="233172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D68C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3DD68C"/>
                </a:solidFill>
                <a:latin typeface="Calibri"/>
                <a:ea typeface="Calibri"/>
                <a:cs typeface="Calibri"/>
                <a:sym typeface="Calibri"/>
              </a:rPr>
              <a:t>yes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0"/>
          <p:cNvSpPr/>
          <p:nvPr/>
        </p:nvSpPr>
        <p:spPr>
          <a:xfrm>
            <a:off x="5943600" y="2286000"/>
            <a:ext cx="1371600" cy="640080"/>
          </a:xfrm>
          <a:prstGeom prst="rect">
            <a:avLst/>
          </a:prstGeom>
          <a:solidFill>
            <a:srgbClr val="6B7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20"/>
          <p:cNvSpPr/>
          <p:nvPr/>
        </p:nvSpPr>
        <p:spPr>
          <a:xfrm>
            <a:off x="5943600" y="2286000"/>
            <a:ext cx="1371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Generate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5" name="Google Shape;295;p20"/>
          <p:cNvCxnSpPr/>
          <p:nvPr/>
        </p:nvCxnSpPr>
        <p:spPr>
          <a:xfrm>
            <a:off x="7315200" y="2606040"/>
            <a:ext cx="457200" cy="0"/>
          </a:xfrm>
          <a:prstGeom prst="straightConnector1">
            <a:avLst/>
          </a:prstGeom>
          <a:noFill/>
          <a:ln cap="flat" cmpd="sng" w="25400">
            <a:solidFill>
              <a:srgbClr val="4A9E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6" name="Google Shape;296;p20"/>
          <p:cNvSpPr/>
          <p:nvPr/>
        </p:nvSpPr>
        <p:spPr>
          <a:xfrm>
            <a:off x="7772400" y="2286000"/>
            <a:ext cx="1005840" cy="640080"/>
          </a:xfrm>
          <a:prstGeom prst="ellipse">
            <a:avLst/>
          </a:prstGeom>
          <a:solidFill>
            <a:srgbClr val="0A0A0F"/>
          </a:solidFill>
          <a:ln>
            <a:noFill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20"/>
          <p:cNvSpPr/>
          <p:nvPr/>
        </p:nvSpPr>
        <p:spPr>
          <a:xfrm>
            <a:off x="7772400" y="2286000"/>
            <a:ext cx="1005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END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8" name="Google Shape;298;p20"/>
          <p:cNvCxnSpPr/>
          <p:nvPr/>
        </p:nvCxnSpPr>
        <p:spPr>
          <a:xfrm rot="10800000">
            <a:off x="4754880" y="1828800"/>
            <a:ext cx="0" cy="411480"/>
          </a:xfrm>
          <a:prstGeom prst="straightConnector1">
            <a:avLst/>
          </a:prstGeom>
          <a:noFill/>
          <a:ln cap="flat" cmpd="sng" w="25400">
            <a:solidFill>
              <a:srgbClr val="FFB830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99" name="Google Shape;299;p20"/>
          <p:cNvCxnSpPr/>
          <p:nvPr/>
        </p:nvCxnSpPr>
        <p:spPr>
          <a:xfrm>
            <a:off x="2880360" y="1828800"/>
            <a:ext cx="1874520" cy="0"/>
          </a:xfrm>
          <a:prstGeom prst="straightConnector1">
            <a:avLst/>
          </a:prstGeom>
          <a:noFill/>
          <a:ln cap="flat" cmpd="sng" w="25400">
            <a:solidFill>
              <a:srgbClr val="FFB830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00" name="Google Shape;300;p20"/>
          <p:cNvCxnSpPr/>
          <p:nvPr/>
        </p:nvCxnSpPr>
        <p:spPr>
          <a:xfrm>
            <a:off x="2880360" y="1828800"/>
            <a:ext cx="0" cy="457200"/>
          </a:xfrm>
          <a:prstGeom prst="straightConnector1">
            <a:avLst/>
          </a:prstGeom>
          <a:noFill/>
          <a:ln cap="flat" cmpd="sng" w="25400">
            <a:solidFill>
              <a:srgbClr val="FFB830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301" name="Google Shape;301;p20"/>
          <p:cNvSpPr/>
          <p:nvPr/>
        </p:nvSpPr>
        <p:spPr>
          <a:xfrm>
            <a:off x="3017520" y="1572768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B830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FFB830"/>
                </a:solidFill>
                <a:latin typeface="Calibri"/>
                <a:ea typeface="Calibri"/>
                <a:cs typeface="Calibri"/>
                <a:sym typeface="Calibri"/>
              </a:rPr>
              <a:t>no → refine &amp; retry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0"/>
          <p:cNvSpPr/>
          <p:nvPr/>
        </p:nvSpPr>
        <p:spPr>
          <a:xfrm>
            <a:off x="365760" y="3383280"/>
            <a:ext cx="2670048" cy="1417320"/>
          </a:xfrm>
          <a:prstGeom prst="rect">
            <a:avLst/>
          </a:prstGeom>
          <a:solidFill>
            <a:srgbClr val="F2F4F8"/>
          </a:solidFill>
          <a:ln cap="flat" cmpd="sng" w="12700">
            <a:solidFill>
              <a:srgbClr val="2E2E4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20"/>
          <p:cNvSpPr/>
          <p:nvPr/>
        </p:nvSpPr>
        <p:spPr>
          <a:xfrm>
            <a:off x="365760" y="3383280"/>
            <a:ext cx="2670048" cy="73152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20"/>
          <p:cNvSpPr/>
          <p:nvPr/>
        </p:nvSpPr>
        <p:spPr>
          <a:xfrm>
            <a:off x="365760" y="3520440"/>
            <a:ext cx="267004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🔀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0"/>
          <p:cNvSpPr/>
          <p:nvPr/>
        </p:nvSpPr>
        <p:spPr>
          <a:xfrm>
            <a:off x="365760" y="4023360"/>
            <a:ext cx="267004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0A0F"/>
              </a:buClr>
              <a:buSzPts val="1150"/>
              <a:buFont typeface="Calibri"/>
              <a:buNone/>
            </a:pPr>
            <a:r>
              <a:rPr b="1" i="0" lang="en" sz="1150" u="none" cap="none" strike="noStrike">
                <a:solidFill>
                  <a:srgbClr val="0A0A0F"/>
                </a:solidFill>
                <a:latin typeface="Calibri"/>
                <a:ea typeface="Calibri"/>
                <a:cs typeface="Calibri"/>
                <a:sym typeface="Calibri"/>
              </a:rPr>
              <a:t>Branching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0"/>
          <p:cNvSpPr/>
          <p:nvPr/>
        </p:nvSpPr>
        <p:spPr>
          <a:xfrm>
            <a:off x="502920" y="4315968"/>
            <a:ext cx="239572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4A6B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3A4A6B"/>
                </a:solidFill>
                <a:latin typeface="Calibri"/>
                <a:ea typeface="Calibri"/>
                <a:cs typeface="Calibri"/>
                <a:sym typeface="Calibri"/>
              </a:rPr>
              <a:t>Route differently based on results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0"/>
          <p:cNvSpPr/>
          <p:nvPr/>
        </p:nvSpPr>
        <p:spPr>
          <a:xfrm>
            <a:off x="3172968" y="3383280"/>
            <a:ext cx="2670048" cy="1417320"/>
          </a:xfrm>
          <a:prstGeom prst="rect">
            <a:avLst/>
          </a:prstGeom>
          <a:solidFill>
            <a:srgbClr val="F2F4F8"/>
          </a:solidFill>
          <a:ln cap="flat" cmpd="sng" w="12700">
            <a:solidFill>
              <a:srgbClr val="2E2E4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20"/>
          <p:cNvSpPr/>
          <p:nvPr/>
        </p:nvSpPr>
        <p:spPr>
          <a:xfrm>
            <a:off x="3172968" y="3383280"/>
            <a:ext cx="2670048" cy="73152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20"/>
          <p:cNvSpPr/>
          <p:nvPr/>
        </p:nvSpPr>
        <p:spPr>
          <a:xfrm>
            <a:off x="3172968" y="3520440"/>
            <a:ext cx="267004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🧠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0"/>
          <p:cNvSpPr/>
          <p:nvPr/>
        </p:nvSpPr>
        <p:spPr>
          <a:xfrm>
            <a:off x="3172968" y="4023360"/>
            <a:ext cx="267004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0A0F"/>
              </a:buClr>
              <a:buSzPts val="1150"/>
              <a:buFont typeface="Calibri"/>
              <a:buNone/>
            </a:pPr>
            <a:r>
              <a:rPr b="1" i="0" lang="en" sz="1150" u="none" cap="none" strike="noStrike">
                <a:solidFill>
                  <a:srgbClr val="0A0A0F"/>
                </a:solidFill>
                <a:latin typeface="Calibri"/>
                <a:ea typeface="Calibri"/>
                <a:cs typeface="Calibri"/>
                <a:sym typeface="Calibri"/>
              </a:rPr>
              <a:t>State / memory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0"/>
          <p:cNvSpPr/>
          <p:nvPr/>
        </p:nvSpPr>
        <p:spPr>
          <a:xfrm>
            <a:off x="3310128" y="4315968"/>
            <a:ext cx="239572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4A6B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3A4A6B"/>
                </a:solidFill>
                <a:latin typeface="Calibri"/>
                <a:ea typeface="Calibri"/>
                <a:cs typeface="Calibri"/>
                <a:sym typeface="Calibri"/>
              </a:rPr>
              <a:t>Carry context across every step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0"/>
          <p:cNvSpPr/>
          <p:nvPr/>
        </p:nvSpPr>
        <p:spPr>
          <a:xfrm>
            <a:off x="5980176" y="3383280"/>
            <a:ext cx="2670048" cy="1417320"/>
          </a:xfrm>
          <a:prstGeom prst="rect">
            <a:avLst/>
          </a:prstGeom>
          <a:solidFill>
            <a:srgbClr val="F2F4F8"/>
          </a:solidFill>
          <a:ln cap="flat" cmpd="sng" w="12700">
            <a:solidFill>
              <a:srgbClr val="2E2E4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20"/>
          <p:cNvSpPr/>
          <p:nvPr/>
        </p:nvSpPr>
        <p:spPr>
          <a:xfrm>
            <a:off x="5980176" y="3383280"/>
            <a:ext cx="2670048" cy="73152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20"/>
          <p:cNvSpPr/>
          <p:nvPr/>
        </p:nvSpPr>
        <p:spPr>
          <a:xfrm>
            <a:off x="5980176" y="3520440"/>
            <a:ext cx="267004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🔁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0"/>
          <p:cNvSpPr/>
          <p:nvPr/>
        </p:nvSpPr>
        <p:spPr>
          <a:xfrm>
            <a:off x="5980176" y="4023360"/>
            <a:ext cx="267004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0A0F"/>
              </a:buClr>
              <a:buSzPts val="1150"/>
              <a:buFont typeface="Calibri"/>
              <a:buNone/>
            </a:pPr>
            <a:r>
              <a:rPr b="1" i="0" lang="en" sz="1150" u="none" cap="none" strike="noStrike">
                <a:solidFill>
                  <a:srgbClr val="0A0A0F"/>
                </a:solidFill>
                <a:latin typeface="Calibri"/>
                <a:ea typeface="Calibri"/>
                <a:cs typeface="Calibri"/>
                <a:sym typeface="Calibri"/>
              </a:rPr>
              <a:t>Cycles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20"/>
          <p:cNvSpPr/>
          <p:nvPr/>
        </p:nvSpPr>
        <p:spPr>
          <a:xfrm>
            <a:off x="6117336" y="4315968"/>
            <a:ext cx="239572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4A6B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3A4A6B"/>
                </a:solidFill>
                <a:latin typeface="Calibri"/>
                <a:ea typeface="Calibri"/>
                <a:cs typeface="Calibri"/>
                <a:sym typeface="Calibri"/>
              </a:rPr>
              <a:t>Loop until quality is good enough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1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21"/>
          <p:cNvSpPr/>
          <p:nvPr/>
        </p:nvSpPr>
        <p:spPr>
          <a:xfrm>
            <a:off x="0" y="0"/>
            <a:ext cx="201168" cy="749808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21"/>
          <p:cNvSpPr/>
          <p:nvPr/>
        </p:nvSpPr>
        <p:spPr>
          <a:xfrm>
            <a:off x="384048" y="0"/>
            <a:ext cx="859536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HOW IT ALL CONNECTS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A0F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0A0A0F"/>
                </a:solidFill>
                <a:latin typeface="Calibri"/>
                <a:ea typeface="Calibri"/>
                <a:cs typeface="Calibri"/>
                <a:sym typeface="Calibri"/>
              </a:rPr>
              <a:t>The pieces stack on top of each other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1"/>
          <p:cNvSpPr/>
          <p:nvPr/>
        </p:nvSpPr>
        <p:spPr>
          <a:xfrm>
            <a:off x="457200" y="1417320"/>
            <a:ext cx="8229600" cy="566928"/>
          </a:xfrm>
          <a:prstGeom prst="rect">
            <a:avLst/>
          </a:prstGeom>
          <a:solidFill>
            <a:srgbClr val="4A5A8B"/>
          </a:solidFill>
          <a:ln>
            <a:noFill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21"/>
          <p:cNvSpPr/>
          <p:nvPr/>
        </p:nvSpPr>
        <p:spPr>
          <a:xfrm>
            <a:off x="640080" y="1417320"/>
            <a:ext cx="20116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Embeddings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21"/>
          <p:cNvSpPr/>
          <p:nvPr/>
        </p:nvSpPr>
        <p:spPr>
          <a:xfrm>
            <a:off x="2651760" y="1417320"/>
            <a:ext cx="59436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5E0F5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D5E0F5"/>
                </a:solidFill>
                <a:latin typeface="Calibri"/>
                <a:ea typeface="Calibri"/>
                <a:cs typeface="Calibri"/>
                <a:sym typeface="Calibri"/>
              </a:rPr>
              <a:t>Turn text into meaning-vectors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21"/>
          <p:cNvSpPr/>
          <p:nvPr/>
        </p:nvSpPr>
        <p:spPr>
          <a:xfrm>
            <a:off x="1005840" y="2075688"/>
            <a:ext cx="7132320" cy="566928"/>
          </a:xfrm>
          <a:prstGeom prst="rect">
            <a:avLst/>
          </a:prstGeom>
          <a:solidFill>
            <a:srgbClr val="3A4A6B"/>
          </a:solidFill>
          <a:ln>
            <a:noFill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21"/>
          <p:cNvSpPr/>
          <p:nvPr/>
        </p:nvSpPr>
        <p:spPr>
          <a:xfrm>
            <a:off x="1188720" y="2075688"/>
            <a:ext cx="20116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Vector Search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21"/>
          <p:cNvSpPr/>
          <p:nvPr/>
        </p:nvSpPr>
        <p:spPr>
          <a:xfrm>
            <a:off x="3200400" y="2075688"/>
            <a:ext cx="48463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5E0F5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D5E0F5"/>
                </a:solidFill>
                <a:latin typeface="Calibri"/>
                <a:ea typeface="Calibri"/>
                <a:cs typeface="Calibri"/>
                <a:sym typeface="Calibri"/>
              </a:rPr>
              <a:t>Find the most relevant chunks fast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21"/>
          <p:cNvSpPr/>
          <p:nvPr/>
        </p:nvSpPr>
        <p:spPr>
          <a:xfrm>
            <a:off x="1554480" y="2734056"/>
            <a:ext cx="6035040" cy="566928"/>
          </a:xfrm>
          <a:prstGeom prst="rect">
            <a:avLst/>
          </a:prstGeom>
          <a:solidFill>
            <a:srgbClr val="4A9EFF"/>
          </a:solidFill>
          <a:ln>
            <a:noFill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21"/>
          <p:cNvSpPr/>
          <p:nvPr/>
        </p:nvSpPr>
        <p:spPr>
          <a:xfrm>
            <a:off x="1737360" y="2734056"/>
            <a:ext cx="20116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21"/>
          <p:cNvSpPr/>
          <p:nvPr/>
        </p:nvSpPr>
        <p:spPr>
          <a:xfrm>
            <a:off x="3749040" y="2734056"/>
            <a:ext cx="37490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5E0F5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D5E0F5"/>
                </a:solidFill>
                <a:latin typeface="Calibri"/>
                <a:ea typeface="Calibri"/>
                <a:cs typeface="Calibri"/>
                <a:sym typeface="Calibri"/>
              </a:rPr>
              <a:t>Feed retrieved chunks to the LLM for grounded answers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21"/>
          <p:cNvSpPr/>
          <p:nvPr/>
        </p:nvSpPr>
        <p:spPr>
          <a:xfrm>
            <a:off x="2103120" y="3392424"/>
            <a:ext cx="4937760" cy="566928"/>
          </a:xfrm>
          <a:prstGeom prst="rect">
            <a:avLst/>
          </a:prstGeom>
          <a:solidFill>
            <a:srgbClr val="6B7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21"/>
          <p:cNvSpPr/>
          <p:nvPr/>
        </p:nvSpPr>
        <p:spPr>
          <a:xfrm>
            <a:off x="2286000" y="3392424"/>
            <a:ext cx="20116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Agents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21"/>
          <p:cNvSpPr/>
          <p:nvPr/>
        </p:nvSpPr>
        <p:spPr>
          <a:xfrm>
            <a:off x="4297680" y="3392424"/>
            <a:ext cx="26517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5E0F5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D5E0F5"/>
                </a:solidFill>
                <a:latin typeface="Calibri"/>
                <a:ea typeface="Calibri"/>
                <a:cs typeface="Calibri"/>
                <a:sym typeface="Calibri"/>
              </a:rPr>
              <a:t>Let the LLM choose tools — RAG becomes one of them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21"/>
          <p:cNvSpPr/>
          <p:nvPr/>
        </p:nvSpPr>
        <p:spPr>
          <a:xfrm>
            <a:off x="2651760" y="4050792"/>
            <a:ext cx="3840480" cy="566928"/>
          </a:xfrm>
          <a:prstGeom prst="rect">
            <a:avLst/>
          </a:prstGeom>
          <a:solidFill>
            <a:srgbClr val="0A0A0F"/>
          </a:solidFill>
          <a:ln>
            <a:noFill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21"/>
          <p:cNvSpPr/>
          <p:nvPr/>
        </p:nvSpPr>
        <p:spPr>
          <a:xfrm>
            <a:off x="2834640" y="4050792"/>
            <a:ext cx="20116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LangGraph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21"/>
          <p:cNvSpPr/>
          <p:nvPr/>
        </p:nvSpPr>
        <p:spPr>
          <a:xfrm>
            <a:off x="4846320" y="4050792"/>
            <a:ext cx="15544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5E0F5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D5E0F5"/>
                </a:solidFill>
                <a:latin typeface="Calibri"/>
                <a:ea typeface="Calibri"/>
                <a:cs typeface="Calibri"/>
                <a:sym typeface="Calibri"/>
              </a:rPr>
              <a:t>Orchestrate agents with branching, memory &amp; loops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21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950"/>
              <a:buFont typeface="Calibri"/>
              <a:buNone/>
            </a:pPr>
            <a:r>
              <a:rPr b="0" i="1" lang="en" sz="95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↑  Each layer builds on the one below. </a:t>
            </a:r>
            <a:r>
              <a:rPr i="1" lang="en" sz="950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This</a:t>
            </a:r>
            <a:r>
              <a:rPr b="0" i="1" lang="en" sz="95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 project (next!) lives mostly at the RAG layer.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F"/>
        </a:solidFill>
      </p:bgPr>
    </p:bg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7" name="Google Shape;347;p22"/>
          <p:cNvCxnSpPr/>
          <p:nvPr/>
        </p:nvCxnSpPr>
        <p:spPr>
          <a:xfrm>
            <a:off x="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5882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8" name="Google Shape;348;p22"/>
          <p:cNvCxnSpPr/>
          <p:nvPr/>
        </p:nvCxnSpPr>
        <p:spPr>
          <a:xfrm>
            <a:off x="50292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5882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9" name="Google Shape;349;p22"/>
          <p:cNvCxnSpPr/>
          <p:nvPr/>
        </p:nvCxnSpPr>
        <p:spPr>
          <a:xfrm>
            <a:off x="100584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5882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0" name="Google Shape;350;p22"/>
          <p:cNvCxnSpPr/>
          <p:nvPr/>
        </p:nvCxnSpPr>
        <p:spPr>
          <a:xfrm>
            <a:off x="150876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5882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1" name="Google Shape;351;p22"/>
          <p:cNvCxnSpPr/>
          <p:nvPr/>
        </p:nvCxnSpPr>
        <p:spPr>
          <a:xfrm>
            <a:off x="201168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5882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2" name="Google Shape;352;p22"/>
          <p:cNvCxnSpPr/>
          <p:nvPr/>
        </p:nvCxnSpPr>
        <p:spPr>
          <a:xfrm>
            <a:off x="25146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5882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3" name="Google Shape;353;p22"/>
          <p:cNvCxnSpPr/>
          <p:nvPr/>
        </p:nvCxnSpPr>
        <p:spPr>
          <a:xfrm>
            <a:off x="301752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5882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4" name="Google Shape;354;p22"/>
          <p:cNvCxnSpPr/>
          <p:nvPr/>
        </p:nvCxnSpPr>
        <p:spPr>
          <a:xfrm>
            <a:off x="352044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5882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5" name="Google Shape;355;p22"/>
          <p:cNvCxnSpPr/>
          <p:nvPr/>
        </p:nvCxnSpPr>
        <p:spPr>
          <a:xfrm>
            <a:off x="402336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5882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6" name="Google Shape;356;p22"/>
          <p:cNvCxnSpPr/>
          <p:nvPr/>
        </p:nvCxnSpPr>
        <p:spPr>
          <a:xfrm>
            <a:off x="452628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5882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7" name="Google Shape;357;p22"/>
          <p:cNvCxnSpPr/>
          <p:nvPr/>
        </p:nvCxnSpPr>
        <p:spPr>
          <a:xfrm>
            <a:off x="50292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5882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8" name="Google Shape;358;p22"/>
          <p:cNvCxnSpPr/>
          <p:nvPr/>
        </p:nvCxnSpPr>
        <p:spPr>
          <a:xfrm>
            <a:off x="553212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5882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9" name="Google Shape;359;p22"/>
          <p:cNvCxnSpPr/>
          <p:nvPr/>
        </p:nvCxnSpPr>
        <p:spPr>
          <a:xfrm>
            <a:off x="603504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5882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0" name="Google Shape;360;p22"/>
          <p:cNvCxnSpPr/>
          <p:nvPr/>
        </p:nvCxnSpPr>
        <p:spPr>
          <a:xfrm>
            <a:off x="653796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5882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1" name="Google Shape;361;p22"/>
          <p:cNvCxnSpPr/>
          <p:nvPr/>
        </p:nvCxnSpPr>
        <p:spPr>
          <a:xfrm>
            <a:off x="704088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5882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2" name="Google Shape;362;p22"/>
          <p:cNvCxnSpPr/>
          <p:nvPr/>
        </p:nvCxnSpPr>
        <p:spPr>
          <a:xfrm>
            <a:off x="75438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5882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3" name="Google Shape;363;p22"/>
          <p:cNvCxnSpPr/>
          <p:nvPr/>
        </p:nvCxnSpPr>
        <p:spPr>
          <a:xfrm>
            <a:off x="804672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5882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4" name="Google Shape;364;p22"/>
          <p:cNvCxnSpPr/>
          <p:nvPr/>
        </p:nvCxnSpPr>
        <p:spPr>
          <a:xfrm>
            <a:off x="854964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5882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5" name="Google Shape;365;p22"/>
          <p:cNvCxnSpPr/>
          <p:nvPr/>
        </p:nvCxnSpPr>
        <p:spPr>
          <a:xfrm>
            <a:off x="905256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5882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6" name="Google Shape;366;p22"/>
          <p:cNvCxnSpPr/>
          <p:nvPr/>
        </p:nvCxnSpPr>
        <p:spPr>
          <a:xfrm>
            <a:off x="955548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5882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7" name="Google Shape;367;p22"/>
          <p:cNvCxnSpPr/>
          <p:nvPr/>
        </p:nvCxnSpPr>
        <p:spPr>
          <a:xfrm>
            <a:off x="0" y="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5882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8" name="Google Shape;368;p22"/>
          <p:cNvCxnSpPr/>
          <p:nvPr/>
        </p:nvCxnSpPr>
        <p:spPr>
          <a:xfrm>
            <a:off x="0" y="4572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5882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9" name="Google Shape;369;p22"/>
          <p:cNvCxnSpPr/>
          <p:nvPr/>
        </p:nvCxnSpPr>
        <p:spPr>
          <a:xfrm>
            <a:off x="0" y="9144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5882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0" name="Google Shape;370;p22"/>
          <p:cNvCxnSpPr/>
          <p:nvPr/>
        </p:nvCxnSpPr>
        <p:spPr>
          <a:xfrm>
            <a:off x="0" y="13716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5882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1" name="Google Shape;371;p22"/>
          <p:cNvCxnSpPr/>
          <p:nvPr/>
        </p:nvCxnSpPr>
        <p:spPr>
          <a:xfrm>
            <a:off x="0" y="18288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5882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2" name="Google Shape;372;p22"/>
          <p:cNvCxnSpPr/>
          <p:nvPr/>
        </p:nvCxnSpPr>
        <p:spPr>
          <a:xfrm>
            <a:off x="0" y="22860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5882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3" name="Google Shape;373;p22"/>
          <p:cNvCxnSpPr/>
          <p:nvPr/>
        </p:nvCxnSpPr>
        <p:spPr>
          <a:xfrm>
            <a:off x="0" y="27432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5882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4" name="Google Shape;374;p22"/>
          <p:cNvCxnSpPr/>
          <p:nvPr/>
        </p:nvCxnSpPr>
        <p:spPr>
          <a:xfrm>
            <a:off x="0" y="32004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5882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5" name="Google Shape;375;p22"/>
          <p:cNvCxnSpPr/>
          <p:nvPr/>
        </p:nvCxnSpPr>
        <p:spPr>
          <a:xfrm>
            <a:off x="0" y="36576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5882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6" name="Google Shape;376;p22"/>
          <p:cNvCxnSpPr/>
          <p:nvPr/>
        </p:nvCxnSpPr>
        <p:spPr>
          <a:xfrm>
            <a:off x="0" y="41148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5882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7" name="Google Shape;377;p22"/>
          <p:cNvCxnSpPr/>
          <p:nvPr/>
        </p:nvCxnSpPr>
        <p:spPr>
          <a:xfrm>
            <a:off x="0" y="45720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5882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8" name="Google Shape;378;p22"/>
          <p:cNvCxnSpPr/>
          <p:nvPr/>
        </p:nvCxnSpPr>
        <p:spPr>
          <a:xfrm>
            <a:off x="0" y="50292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5882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9" name="Google Shape;379;p22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22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2400"/>
              <a:buFont typeface="Calibri"/>
              <a:buNone/>
            </a:pPr>
            <a:r>
              <a:rPr b="0" i="1" lang="en" sz="240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That's the theory.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22"/>
          <p:cNvSpPr/>
          <p:nvPr/>
        </p:nvSpPr>
        <p:spPr>
          <a:xfrm>
            <a:off x="457200" y="1554480"/>
            <a:ext cx="822960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Georgia"/>
              <a:buNone/>
            </a:pPr>
            <a:r>
              <a:rPr b="1" i="0" lang="en" sz="5200" u="none" cap="none" strike="noStrik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Now let's see it</a:t>
            </a:r>
            <a:endParaRPr i="0" sz="52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Georgia"/>
              <a:buNone/>
            </a:pPr>
            <a:r>
              <a:rPr b="1" i="0" lang="en" sz="5200" u="none" cap="none" strike="noStrik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built for real.</a:t>
            </a:r>
            <a:endParaRPr i="0" sz="52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82" name="Google Shape;382;p22"/>
          <p:cNvSpPr/>
          <p:nvPr/>
        </p:nvSpPr>
        <p:spPr>
          <a:xfrm>
            <a:off x="457200" y="3383280"/>
            <a:ext cx="5943600" cy="36576"/>
          </a:xfrm>
          <a:prstGeom prst="rect">
            <a:avLst/>
          </a:prstGeom>
          <a:solidFill>
            <a:srgbClr val="4A5A8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22"/>
          <p:cNvSpPr/>
          <p:nvPr/>
        </p:nvSpPr>
        <p:spPr>
          <a:xfrm>
            <a:off x="457200" y="3611880"/>
            <a:ext cx="7772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BFFF"/>
              </a:buClr>
              <a:buSzPts val="1400"/>
              <a:buFont typeface="Calibri"/>
              <a:buNone/>
            </a:pPr>
            <a:r>
              <a:rPr b="0" i="0" lang="en" sz="1400" u="none" cap="none" strike="noStrike">
                <a:solidFill>
                  <a:srgbClr val="7BBFFF"/>
                </a:solidFill>
                <a:latin typeface="Calibri"/>
                <a:ea typeface="Calibri"/>
                <a:cs typeface="Calibri"/>
                <a:sym typeface="Calibri"/>
              </a:rPr>
              <a:t>Up next: a document-intelligence RAG chatbot built for Pfizer — every design choice, end to end.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22"/>
          <p:cNvSpPr/>
          <p:nvPr/>
        </p:nvSpPr>
        <p:spPr>
          <a:xfrm>
            <a:off x="457200" y="4434840"/>
            <a:ext cx="1572768" cy="310896"/>
          </a:xfrm>
          <a:prstGeom prst="rect">
            <a:avLst/>
          </a:prstGeom>
          <a:solidFill>
            <a:srgbClr val="141420"/>
          </a:solidFill>
          <a:ln cap="flat" cmpd="sng" w="12700">
            <a:solidFill>
              <a:srgbClr val="4A9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22"/>
          <p:cNvSpPr/>
          <p:nvPr/>
        </p:nvSpPr>
        <p:spPr>
          <a:xfrm>
            <a:off x="457200" y="4434840"/>
            <a:ext cx="157276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BFFF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7BBFFF"/>
                </a:solidFill>
                <a:latin typeface="Calibri"/>
                <a:ea typeface="Calibri"/>
                <a:cs typeface="Calibri"/>
                <a:sym typeface="Calibri"/>
              </a:rPr>
              <a:t>Document OCR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22"/>
          <p:cNvSpPr/>
          <p:nvPr/>
        </p:nvSpPr>
        <p:spPr>
          <a:xfrm>
            <a:off x="2176272" y="4434840"/>
            <a:ext cx="1572768" cy="310896"/>
          </a:xfrm>
          <a:prstGeom prst="rect">
            <a:avLst/>
          </a:prstGeom>
          <a:solidFill>
            <a:srgbClr val="141420"/>
          </a:solidFill>
          <a:ln cap="flat" cmpd="sng" w="12700">
            <a:solidFill>
              <a:srgbClr val="4A9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22"/>
          <p:cNvSpPr/>
          <p:nvPr/>
        </p:nvSpPr>
        <p:spPr>
          <a:xfrm>
            <a:off x="2176272" y="4434840"/>
            <a:ext cx="157276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BFFF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7BBFFF"/>
                </a:solidFill>
                <a:latin typeface="Calibri"/>
                <a:ea typeface="Calibri"/>
                <a:cs typeface="Calibri"/>
                <a:sym typeface="Calibri"/>
              </a:rPr>
              <a:t>Chunking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22"/>
          <p:cNvSpPr/>
          <p:nvPr/>
        </p:nvSpPr>
        <p:spPr>
          <a:xfrm>
            <a:off x="3895344" y="4434840"/>
            <a:ext cx="1572768" cy="310896"/>
          </a:xfrm>
          <a:prstGeom prst="rect">
            <a:avLst/>
          </a:prstGeom>
          <a:solidFill>
            <a:srgbClr val="141420"/>
          </a:solidFill>
          <a:ln cap="flat" cmpd="sng" w="12700">
            <a:solidFill>
              <a:srgbClr val="4A9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22"/>
          <p:cNvSpPr/>
          <p:nvPr/>
        </p:nvSpPr>
        <p:spPr>
          <a:xfrm>
            <a:off x="3895344" y="4434840"/>
            <a:ext cx="157276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BFFF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7BBFFF"/>
                </a:solidFill>
                <a:latin typeface="Calibri"/>
                <a:ea typeface="Calibri"/>
                <a:cs typeface="Calibri"/>
                <a:sym typeface="Calibri"/>
              </a:rPr>
              <a:t>FAISS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22"/>
          <p:cNvSpPr/>
          <p:nvPr/>
        </p:nvSpPr>
        <p:spPr>
          <a:xfrm>
            <a:off x="5614416" y="4434840"/>
            <a:ext cx="1572768" cy="310896"/>
          </a:xfrm>
          <a:prstGeom prst="rect">
            <a:avLst/>
          </a:prstGeom>
          <a:solidFill>
            <a:srgbClr val="141420"/>
          </a:solidFill>
          <a:ln cap="flat" cmpd="sng" w="12700">
            <a:solidFill>
              <a:srgbClr val="4A9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22"/>
          <p:cNvSpPr/>
          <p:nvPr/>
        </p:nvSpPr>
        <p:spPr>
          <a:xfrm>
            <a:off x="5614416" y="4434840"/>
            <a:ext cx="157276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BFFF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7BBFFF"/>
                </a:solidFill>
                <a:latin typeface="Calibri"/>
                <a:ea typeface="Calibri"/>
                <a:cs typeface="Calibri"/>
                <a:sym typeface="Calibri"/>
              </a:rPr>
              <a:t>Flan-T5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22"/>
          <p:cNvSpPr/>
          <p:nvPr/>
        </p:nvSpPr>
        <p:spPr>
          <a:xfrm>
            <a:off x="7333488" y="4434840"/>
            <a:ext cx="1572768" cy="310896"/>
          </a:xfrm>
          <a:prstGeom prst="rect">
            <a:avLst/>
          </a:prstGeom>
          <a:solidFill>
            <a:srgbClr val="141420"/>
          </a:solidFill>
          <a:ln cap="flat" cmpd="sng" w="12700">
            <a:solidFill>
              <a:srgbClr val="4A9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22"/>
          <p:cNvSpPr/>
          <p:nvPr/>
        </p:nvSpPr>
        <p:spPr>
          <a:xfrm>
            <a:off x="7333488" y="4434840"/>
            <a:ext cx="157276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BFFF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7BBFFF"/>
                </a:solidFill>
                <a:latin typeface="Calibri"/>
                <a:ea typeface="Calibri"/>
                <a:cs typeface="Calibri"/>
                <a:sym typeface="Calibri"/>
              </a:rPr>
              <a:t>Live demo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2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0" name="Google Shape;400;p23"/>
          <p:cNvCxnSpPr/>
          <p:nvPr/>
        </p:nvCxnSpPr>
        <p:spPr>
          <a:xfrm>
            <a:off x="0" y="0"/>
            <a:ext cx="0" cy="329184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1" name="Google Shape;401;p23"/>
          <p:cNvCxnSpPr/>
          <p:nvPr/>
        </p:nvCxnSpPr>
        <p:spPr>
          <a:xfrm>
            <a:off x="502920" y="0"/>
            <a:ext cx="0" cy="329184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2" name="Google Shape;402;p23"/>
          <p:cNvCxnSpPr/>
          <p:nvPr/>
        </p:nvCxnSpPr>
        <p:spPr>
          <a:xfrm>
            <a:off x="1005840" y="0"/>
            <a:ext cx="0" cy="329184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3" name="Google Shape;403;p23"/>
          <p:cNvCxnSpPr/>
          <p:nvPr/>
        </p:nvCxnSpPr>
        <p:spPr>
          <a:xfrm>
            <a:off x="1508760" y="0"/>
            <a:ext cx="0" cy="329184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4" name="Google Shape;404;p23"/>
          <p:cNvCxnSpPr/>
          <p:nvPr/>
        </p:nvCxnSpPr>
        <p:spPr>
          <a:xfrm>
            <a:off x="2011680" y="0"/>
            <a:ext cx="0" cy="329184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5" name="Google Shape;405;p23"/>
          <p:cNvCxnSpPr/>
          <p:nvPr/>
        </p:nvCxnSpPr>
        <p:spPr>
          <a:xfrm>
            <a:off x="2514600" y="0"/>
            <a:ext cx="0" cy="329184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6" name="Google Shape;406;p23"/>
          <p:cNvCxnSpPr/>
          <p:nvPr/>
        </p:nvCxnSpPr>
        <p:spPr>
          <a:xfrm>
            <a:off x="3017520" y="0"/>
            <a:ext cx="0" cy="329184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7" name="Google Shape;407;p23"/>
          <p:cNvCxnSpPr/>
          <p:nvPr/>
        </p:nvCxnSpPr>
        <p:spPr>
          <a:xfrm>
            <a:off x="3520440" y="0"/>
            <a:ext cx="0" cy="329184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8" name="Google Shape;408;p23"/>
          <p:cNvCxnSpPr/>
          <p:nvPr/>
        </p:nvCxnSpPr>
        <p:spPr>
          <a:xfrm>
            <a:off x="4023360" y="0"/>
            <a:ext cx="0" cy="329184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9" name="Google Shape;409;p23"/>
          <p:cNvCxnSpPr/>
          <p:nvPr/>
        </p:nvCxnSpPr>
        <p:spPr>
          <a:xfrm>
            <a:off x="4526280" y="0"/>
            <a:ext cx="0" cy="329184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0" name="Google Shape;410;p23"/>
          <p:cNvCxnSpPr/>
          <p:nvPr/>
        </p:nvCxnSpPr>
        <p:spPr>
          <a:xfrm>
            <a:off x="5029200" y="0"/>
            <a:ext cx="0" cy="329184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1" name="Google Shape;411;p23"/>
          <p:cNvCxnSpPr/>
          <p:nvPr/>
        </p:nvCxnSpPr>
        <p:spPr>
          <a:xfrm>
            <a:off x="5532120" y="0"/>
            <a:ext cx="0" cy="329184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2" name="Google Shape;412;p23"/>
          <p:cNvCxnSpPr/>
          <p:nvPr/>
        </p:nvCxnSpPr>
        <p:spPr>
          <a:xfrm>
            <a:off x="6035040" y="0"/>
            <a:ext cx="0" cy="329184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3" name="Google Shape;413;p23"/>
          <p:cNvCxnSpPr/>
          <p:nvPr/>
        </p:nvCxnSpPr>
        <p:spPr>
          <a:xfrm>
            <a:off x="6537960" y="0"/>
            <a:ext cx="0" cy="329184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4" name="Google Shape;414;p23"/>
          <p:cNvCxnSpPr/>
          <p:nvPr/>
        </p:nvCxnSpPr>
        <p:spPr>
          <a:xfrm>
            <a:off x="7040880" y="0"/>
            <a:ext cx="0" cy="329184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5" name="Google Shape;415;p23"/>
          <p:cNvCxnSpPr/>
          <p:nvPr/>
        </p:nvCxnSpPr>
        <p:spPr>
          <a:xfrm>
            <a:off x="7543800" y="0"/>
            <a:ext cx="0" cy="329184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6" name="Google Shape;416;p23"/>
          <p:cNvCxnSpPr/>
          <p:nvPr/>
        </p:nvCxnSpPr>
        <p:spPr>
          <a:xfrm>
            <a:off x="8046720" y="0"/>
            <a:ext cx="0" cy="329184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7" name="Google Shape;417;p23"/>
          <p:cNvCxnSpPr/>
          <p:nvPr/>
        </p:nvCxnSpPr>
        <p:spPr>
          <a:xfrm>
            <a:off x="8549640" y="0"/>
            <a:ext cx="0" cy="329184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8" name="Google Shape;418;p23"/>
          <p:cNvCxnSpPr/>
          <p:nvPr/>
        </p:nvCxnSpPr>
        <p:spPr>
          <a:xfrm>
            <a:off x="9052560" y="0"/>
            <a:ext cx="0" cy="329184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9" name="Google Shape;419;p23"/>
          <p:cNvCxnSpPr/>
          <p:nvPr/>
        </p:nvCxnSpPr>
        <p:spPr>
          <a:xfrm>
            <a:off x="9555480" y="0"/>
            <a:ext cx="0" cy="329184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0" name="Google Shape;420;p23"/>
          <p:cNvCxnSpPr/>
          <p:nvPr/>
        </p:nvCxnSpPr>
        <p:spPr>
          <a:xfrm>
            <a:off x="0" y="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1" name="Google Shape;421;p23"/>
          <p:cNvCxnSpPr/>
          <p:nvPr/>
        </p:nvCxnSpPr>
        <p:spPr>
          <a:xfrm>
            <a:off x="0" y="50292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2" name="Google Shape;422;p23"/>
          <p:cNvCxnSpPr/>
          <p:nvPr/>
        </p:nvCxnSpPr>
        <p:spPr>
          <a:xfrm>
            <a:off x="0" y="100584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3" name="Google Shape;423;p23"/>
          <p:cNvCxnSpPr/>
          <p:nvPr/>
        </p:nvCxnSpPr>
        <p:spPr>
          <a:xfrm>
            <a:off x="0" y="150876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4" name="Google Shape;424;p23"/>
          <p:cNvCxnSpPr/>
          <p:nvPr/>
        </p:nvCxnSpPr>
        <p:spPr>
          <a:xfrm>
            <a:off x="0" y="201168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5" name="Google Shape;425;p23"/>
          <p:cNvCxnSpPr/>
          <p:nvPr/>
        </p:nvCxnSpPr>
        <p:spPr>
          <a:xfrm>
            <a:off x="0" y="25146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6" name="Google Shape;426;p23"/>
          <p:cNvCxnSpPr/>
          <p:nvPr/>
        </p:nvCxnSpPr>
        <p:spPr>
          <a:xfrm>
            <a:off x="0" y="301752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7" name="Google Shape;427;p23"/>
          <p:cNvCxnSpPr/>
          <p:nvPr/>
        </p:nvCxnSpPr>
        <p:spPr>
          <a:xfrm>
            <a:off x="0" y="352044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8" name="Google Shape;428;p23"/>
          <p:cNvSpPr/>
          <p:nvPr/>
        </p:nvSpPr>
        <p:spPr>
          <a:xfrm>
            <a:off x="0" y="0"/>
            <a:ext cx="201300" cy="514350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23"/>
          <p:cNvSpPr/>
          <p:nvPr/>
        </p:nvSpPr>
        <p:spPr>
          <a:xfrm>
            <a:off x="457200" y="502920"/>
            <a:ext cx="2286000" cy="30180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23"/>
          <p:cNvSpPr/>
          <p:nvPr/>
        </p:nvSpPr>
        <p:spPr>
          <a:xfrm>
            <a:off x="457200" y="502920"/>
            <a:ext cx="22860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0A0F"/>
              </a:buClr>
              <a:buSzPts val="950"/>
              <a:buFont typeface="Calibri"/>
              <a:buNone/>
            </a:pPr>
            <a:r>
              <a:rPr b="1" i="0" lang="en" sz="950" u="none" cap="none" strike="noStrike">
                <a:solidFill>
                  <a:srgbClr val="0A0A0F"/>
                </a:solidFill>
                <a:latin typeface="Calibri"/>
                <a:ea typeface="Calibri"/>
                <a:cs typeface="Calibri"/>
                <a:sym typeface="Calibri"/>
              </a:rPr>
              <a:t>RAG IN THE REAL WORLD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23"/>
          <p:cNvSpPr/>
          <p:nvPr/>
        </p:nvSpPr>
        <p:spPr>
          <a:xfrm>
            <a:off x="457200" y="914400"/>
            <a:ext cx="685800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Georgia"/>
              <a:buNone/>
            </a:pPr>
            <a:r>
              <a:rPr b="1" i="0" lang="en" sz="5600" u="none" cap="none" strike="noStrik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From Theory</a:t>
            </a:r>
            <a:endParaRPr i="0" sz="56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Georgia"/>
              <a:buNone/>
            </a:pPr>
            <a:r>
              <a:rPr b="1" i="0" lang="en" sz="5600" u="none" cap="none" strike="noStrik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to Production</a:t>
            </a:r>
            <a:endParaRPr i="0" sz="56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32" name="Google Shape;432;p23"/>
          <p:cNvSpPr/>
          <p:nvPr/>
        </p:nvSpPr>
        <p:spPr>
          <a:xfrm>
            <a:off x="457200" y="2606040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1500"/>
              <a:buFont typeface="Calibri"/>
              <a:buNone/>
            </a:pPr>
            <a:r>
              <a:rPr b="0" i="1" lang="en" sz="150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Building a document intelligence chatbot for </a:t>
            </a:r>
            <a:r>
              <a:rPr i="1" lang="en" sz="1500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pharma product inserts</a:t>
            </a:r>
            <a:r>
              <a:rPr b="0" i="1" lang="en" sz="150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 — end to end pipeline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23"/>
          <p:cNvSpPr/>
          <p:nvPr/>
        </p:nvSpPr>
        <p:spPr>
          <a:xfrm>
            <a:off x="457200" y="3703320"/>
            <a:ext cx="1325880" cy="274320"/>
          </a:xfrm>
          <a:prstGeom prst="rect">
            <a:avLst/>
          </a:prstGeom>
          <a:solidFill>
            <a:srgbClr val="F2F4F8"/>
          </a:solidFill>
          <a:ln cap="flat" cmpd="sng" w="12700">
            <a:solidFill>
              <a:srgbClr val="2E2E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23"/>
          <p:cNvSpPr/>
          <p:nvPr/>
        </p:nvSpPr>
        <p:spPr>
          <a:xfrm>
            <a:off x="457200" y="3703320"/>
            <a:ext cx="1325880" cy="274320"/>
          </a:xfrm>
          <a:prstGeom prst="rect">
            <a:avLst/>
          </a:prstGeom>
          <a:solidFill>
            <a:srgbClr val="0A0A0F"/>
          </a:solidFill>
          <a:ln cap="flat" cmpd="sng" w="9525">
            <a:solidFill>
              <a:srgbClr val="7BB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BBFFF"/>
              </a:buClr>
              <a:buSzPts val="850"/>
              <a:buFont typeface="Calibri"/>
              <a:buNone/>
            </a:pPr>
            <a:r>
              <a:rPr lang="en" sz="850">
                <a:solidFill>
                  <a:srgbClr val="7BBFFF"/>
                </a:solidFill>
                <a:latin typeface="Calibri"/>
                <a:ea typeface="Calibri"/>
                <a:cs typeface="Calibri"/>
                <a:sym typeface="Calibri"/>
              </a:rPr>
              <a:t>FAISS</a:t>
            </a:r>
            <a:endParaRPr sz="850">
              <a:solidFill>
                <a:srgbClr val="7BB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23"/>
          <p:cNvSpPr/>
          <p:nvPr/>
        </p:nvSpPr>
        <p:spPr>
          <a:xfrm>
            <a:off x="1892808" y="3703320"/>
            <a:ext cx="1325880" cy="274320"/>
          </a:xfrm>
          <a:prstGeom prst="rect">
            <a:avLst/>
          </a:prstGeom>
          <a:solidFill>
            <a:srgbClr val="F2F4F8"/>
          </a:solidFill>
          <a:ln cap="flat" cmpd="sng" w="12700">
            <a:solidFill>
              <a:srgbClr val="2E2E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23"/>
          <p:cNvSpPr/>
          <p:nvPr/>
        </p:nvSpPr>
        <p:spPr>
          <a:xfrm>
            <a:off x="1892808" y="3703320"/>
            <a:ext cx="1325880" cy="274320"/>
          </a:xfrm>
          <a:prstGeom prst="rect">
            <a:avLst/>
          </a:prstGeom>
          <a:solidFill>
            <a:srgbClr val="0A0A0F"/>
          </a:solidFill>
          <a:ln cap="flat" cmpd="sng" w="9525">
            <a:solidFill>
              <a:srgbClr val="7BB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BBFFF"/>
              </a:buClr>
              <a:buSzPts val="850"/>
              <a:buFont typeface="Calibri"/>
              <a:buNone/>
            </a:pPr>
            <a:r>
              <a:rPr lang="en" sz="850">
                <a:solidFill>
                  <a:srgbClr val="7BBFFF"/>
                </a:solidFill>
                <a:latin typeface="Calibri"/>
                <a:ea typeface="Calibri"/>
                <a:cs typeface="Calibri"/>
                <a:sym typeface="Calibri"/>
              </a:rPr>
              <a:t>Sentence-Transformers</a:t>
            </a:r>
            <a:endParaRPr sz="850">
              <a:solidFill>
                <a:srgbClr val="7BB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23"/>
          <p:cNvSpPr/>
          <p:nvPr/>
        </p:nvSpPr>
        <p:spPr>
          <a:xfrm>
            <a:off x="3328416" y="3703320"/>
            <a:ext cx="1325880" cy="274320"/>
          </a:xfrm>
          <a:prstGeom prst="rect">
            <a:avLst/>
          </a:prstGeom>
          <a:solidFill>
            <a:srgbClr val="F2F4F8"/>
          </a:solidFill>
          <a:ln cap="flat" cmpd="sng" w="12700">
            <a:solidFill>
              <a:srgbClr val="2E2E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23"/>
          <p:cNvSpPr/>
          <p:nvPr/>
        </p:nvSpPr>
        <p:spPr>
          <a:xfrm>
            <a:off x="3328416" y="3703320"/>
            <a:ext cx="1325880" cy="274320"/>
          </a:xfrm>
          <a:prstGeom prst="rect">
            <a:avLst/>
          </a:prstGeom>
          <a:solidFill>
            <a:srgbClr val="0A0A0F"/>
          </a:solidFill>
          <a:ln cap="flat" cmpd="sng" w="9525">
            <a:solidFill>
              <a:srgbClr val="7BB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BBFFF"/>
              </a:buClr>
              <a:buSzPts val="850"/>
              <a:buFont typeface="Calibri"/>
              <a:buNone/>
            </a:pPr>
            <a:r>
              <a:rPr lang="en" sz="850">
                <a:solidFill>
                  <a:srgbClr val="7BBFFF"/>
                </a:solidFill>
                <a:latin typeface="Calibri"/>
                <a:ea typeface="Calibri"/>
                <a:cs typeface="Calibri"/>
                <a:sym typeface="Calibri"/>
              </a:rPr>
              <a:t>Flan-T5</a:t>
            </a:r>
            <a:endParaRPr sz="850">
              <a:solidFill>
                <a:srgbClr val="7BB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23"/>
          <p:cNvSpPr/>
          <p:nvPr/>
        </p:nvSpPr>
        <p:spPr>
          <a:xfrm>
            <a:off x="4764024" y="3703320"/>
            <a:ext cx="1325880" cy="274320"/>
          </a:xfrm>
          <a:prstGeom prst="rect">
            <a:avLst/>
          </a:prstGeom>
          <a:solidFill>
            <a:srgbClr val="F2F4F8"/>
          </a:solidFill>
          <a:ln cap="flat" cmpd="sng" w="12700">
            <a:solidFill>
              <a:srgbClr val="2E2E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23"/>
          <p:cNvSpPr/>
          <p:nvPr/>
        </p:nvSpPr>
        <p:spPr>
          <a:xfrm>
            <a:off x="4764024" y="3703320"/>
            <a:ext cx="1325880" cy="274320"/>
          </a:xfrm>
          <a:prstGeom prst="rect">
            <a:avLst/>
          </a:prstGeom>
          <a:solidFill>
            <a:srgbClr val="0A0A0F"/>
          </a:solidFill>
          <a:ln cap="flat" cmpd="sng" w="9525">
            <a:solidFill>
              <a:srgbClr val="7BB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BBFFF"/>
              </a:buClr>
              <a:buSzPts val="850"/>
              <a:buFont typeface="Calibri"/>
              <a:buNone/>
            </a:pPr>
            <a:r>
              <a:rPr lang="en" sz="850">
                <a:solidFill>
                  <a:srgbClr val="7BBFFF"/>
                </a:solidFill>
                <a:latin typeface="Calibri"/>
                <a:ea typeface="Calibri"/>
                <a:cs typeface="Calibri"/>
                <a:sym typeface="Calibri"/>
              </a:rPr>
              <a:t>Tesseract OCR</a:t>
            </a:r>
            <a:endParaRPr sz="850">
              <a:solidFill>
                <a:srgbClr val="7BB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23"/>
          <p:cNvSpPr/>
          <p:nvPr/>
        </p:nvSpPr>
        <p:spPr>
          <a:xfrm>
            <a:off x="6199632" y="3703320"/>
            <a:ext cx="1325880" cy="274320"/>
          </a:xfrm>
          <a:prstGeom prst="rect">
            <a:avLst/>
          </a:prstGeom>
          <a:solidFill>
            <a:srgbClr val="F2F4F8"/>
          </a:solidFill>
          <a:ln cap="flat" cmpd="sng" w="12700">
            <a:solidFill>
              <a:srgbClr val="2E2E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23"/>
          <p:cNvSpPr/>
          <p:nvPr/>
        </p:nvSpPr>
        <p:spPr>
          <a:xfrm>
            <a:off x="6199632" y="3703320"/>
            <a:ext cx="1325880" cy="274320"/>
          </a:xfrm>
          <a:prstGeom prst="rect">
            <a:avLst/>
          </a:prstGeom>
          <a:solidFill>
            <a:srgbClr val="0A0A0F"/>
          </a:solidFill>
          <a:ln cap="flat" cmpd="sng" w="9525">
            <a:solidFill>
              <a:srgbClr val="7BB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BBFFF"/>
              </a:buClr>
              <a:buSzPts val="850"/>
              <a:buFont typeface="Calibri"/>
              <a:buNone/>
            </a:pPr>
            <a:r>
              <a:rPr lang="en" sz="850">
                <a:solidFill>
                  <a:srgbClr val="7BBFFF"/>
                </a:solidFill>
                <a:latin typeface="Calibri"/>
                <a:ea typeface="Calibri"/>
                <a:cs typeface="Calibri"/>
                <a:sym typeface="Calibri"/>
              </a:rPr>
              <a:t>Gradio</a:t>
            </a:r>
            <a:endParaRPr sz="850">
              <a:solidFill>
                <a:srgbClr val="7BB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23"/>
          <p:cNvSpPr/>
          <p:nvPr/>
        </p:nvSpPr>
        <p:spPr>
          <a:xfrm>
            <a:off x="7635240" y="3703320"/>
            <a:ext cx="1325880" cy="274320"/>
          </a:xfrm>
          <a:prstGeom prst="rect">
            <a:avLst/>
          </a:prstGeom>
          <a:solidFill>
            <a:srgbClr val="F2F4F8"/>
          </a:solidFill>
          <a:ln cap="flat" cmpd="sng" w="12700">
            <a:solidFill>
              <a:srgbClr val="2E2E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23"/>
          <p:cNvSpPr/>
          <p:nvPr/>
        </p:nvSpPr>
        <p:spPr>
          <a:xfrm>
            <a:off x="7635240" y="3703320"/>
            <a:ext cx="1325880" cy="274320"/>
          </a:xfrm>
          <a:prstGeom prst="rect">
            <a:avLst/>
          </a:prstGeom>
          <a:solidFill>
            <a:srgbClr val="0A0A0F"/>
          </a:solidFill>
          <a:ln cap="flat" cmpd="sng" w="9525">
            <a:solidFill>
              <a:srgbClr val="7BB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BBFFF"/>
              </a:buClr>
              <a:buSzPts val="850"/>
              <a:buFont typeface="Calibri"/>
              <a:buNone/>
            </a:pPr>
            <a:r>
              <a:rPr lang="en" sz="850">
                <a:solidFill>
                  <a:srgbClr val="7BBFFF"/>
                </a:solidFill>
                <a:latin typeface="Calibri"/>
                <a:ea typeface="Calibri"/>
                <a:cs typeface="Calibri"/>
                <a:sym typeface="Calibri"/>
              </a:rPr>
              <a:t>Python</a:t>
            </a:r>
            <a:endParaRPr sz="850">
              <a:solidFill>
                <a:srgbClr val="7BB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45" name="Google Shape;445;p23"/>
          <p:cNvCxnSpPr/>
          <p:nvPr/>
        </p:nvCxnSpPr>
        <p:spPr>
          <a:xfrm>
            <a:off x="457200" y="3491872"/>
            <a:ext cx="8229600" cy="0"/>
          </a:xfrm>
          <a:prstGeom prst="straightConnector1">
            <a:avLst/>
          </a:prstGeom>
          <a:noFill/>
          <a:ln cap="flat" cmpd="sng" w="9525">
            <a:solidFill>
              <a:srgbClr val="4A5A8B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24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24"/>
          <p:cNvSpPr/>
          <p:nvPr/>
        </p:nvSpPr>
        <p:spPr>
          <a:xfrm>
            <a:off x="0" y="0"/>
            <a:ext cx="201168" cy="749808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24"/>
          <p:cNvSpPr/>
          <p:nvPr/>
        </p:nvSpPr>
        <p:spPr>
          <a:xfrm>
            <a:off x="384048" y="0"/>
            <a:ext cx="822960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WHERE THIS FITS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54" name="Google Shape;454;p24"/>
          <p:cNvCxnSpPr/>
          <p:nvPr/>
        </p:nvCxnSpPr>
        <p:spPr>
          <a:xfrm>
            <a:off x="822960" y="1645920"/>
            <a:ext cx="6309360" cy="0"/>
          </a:xfrm>
          <a:prstGeom prst="straightConnector1">
            <a:avLst/>
          </a:prstGeom>
          <a:noFill/>
          <a:ln cap="flat" cmpd="sng" w="25400">
            <a:solidFill>
              <a:srgbClr val="2E2E4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5" name="Google Shape;455;p24"/>
          <p:cNvSpPr/>
          <p:nvPr/>
        </p:nvSpPr>
        <p:spPr>
          <a:xfrm>
            <a:off x="594360" y="1417320"/>
            <a:ext cx="457200" cy="457200"/>
          </a:xfrm>
          <a:prstGeom prst="ellipse">
            <a:avLst/>
          </a:prstGeom>
          <a:solidFill>
            <a:srgbClr val="4A5A8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24"/>
          <p:cNvSpPr/>
          <p:nvPr/>
        </p:nvSpPr>
        <p:spPr>
          <a:xfrm>
            <a:off x="594360" y="14173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24"/>
          <p:cNvSpPr/>
          <p:nvPr/>
        </p:nvSpPr>
        <p:spPr>
          <a:xfrm>
            <a:off x="360224" y="1965960"/>
            <a:ext cx="9144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0A0F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0A0A0F"/>
                </a:solidFill>
                <a:latin typeface="Calibri"/>
                <a:ea typeface="Calibri"/>
                <a:cs typeface="Calibri"/>
                <a:sym typeface="Calibri"/>
              </a:rPr>
              <a:t>RAG Theory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24"/>
          <p:cNvSpPr/>
          <p:nvPr/>
        </p:nvSpPr>
        <p:spPr>
          <a:xfrm>
            <a:off x="260747" y="2106697"/>
            <a:ext cx="1169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Retrieval-Augmented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Generation concepts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24"/>
          <p:cNvSpPr/>
          <p:nvPr/>
        </p:nvSpPr>
        <p:spPr>
          <a:xfrm>
            <a:off x="2697480" y="1417320"/>
            <a:ext cx="457200" cy="457200"/>
          </a:xfrm>
          <a:prstGeom prst="ellipse">
            <a:avLst/>
          </a:prstGeom>
          <a:solidFill>
            <a:srgbClr val="4A5A8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24"/>
          <p:cNvSpPr/>
          <p:nvPr/>
        </p:nvSpPr>
        <p:spPr>
          <a:xfrm>
            <a:off x="2697480" y="14173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24"/>
          <p:cNvSpPr/>
          <p:nvPr/>
        </p:nvSpPr>
        <p:spPr>
          <a:xfrm>
            <a:off x="2463344" y="1965960"/>
            <a:ext cx="9144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0A0F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0A0A0F"/>
                </a:solidFill>
                <a:latin typeface="Calibri"/>
                <a:ea typeface="Calibri"/>
                <a:cs typeface="Calibri"/>
                <a:sym typeface="Calibri"/>
              </a:rPr>
              <a:t>Agentic AI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24"/>
          <p:cNvSpPr/>
          <p:nvPr/>
        </p:nvSpPr>
        <p:spPr>
          <a:xfrm>
            <a:off x="2363867" y="2106692"/>
            <a:ext cx="10974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Agents, tool use,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orchestration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24"/>
          <p:cNvSpPr/>
          <p:nvPr/>
        </p:nvSpPr>
        <p:spPr>
          <a:xfrm>
            <a:off x="4800600" y="1417320"/>
            <a:ext cx="457200" cy="457200"/>
          </a:xfrm>
          <a:prstGeom prst="ellipse">
            <a:avLst/>
          </a:prstGeom>
          <a:solidFill>
            <a:srgbClr val="4A5A8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24"/>
          <p:cNvSpPr/>
          <p:nvPr/>
        </p:nvSpPr>
        <p:spPr>
          <a:xfrm>
            <a:off x="4800600" y="14173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24"/>
          <p:cNvSpPr/>
          <p:nvPr/>
        </p:nvSpPr>
        <p:spPr>
          <a:xfrm>
            <a:off x="4566464" y="1965960"/>
            <a:ext cx="9144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0A0F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0A0A0F"/>
                </a:solidFill>
                <a:latin typeface="Calibri"/>
                <a:ea typeface="Calibri"/>
                <a:cs typeface="Calibri"/>
                <a:sym typeface="Calibri"/>
              </a:rPr>
              <a:t>LangGraph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24"/>
          <p:cNvSpPr/>
          <p:nvPr/>
        </p:nvSpPr>
        <p:spPr>
          <a:xfrm>
            <a:off x="4430773" y="2107920"/>
            <a:ext cx="1169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Graph-based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workflow frameworks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24"/>
          <p:cNvSpPr/>
          <p:nvPr/>
        </p:nvSpPr>
        <p:spPr>
          <a:xfrm>
            <a:off x="6903720" y="1417320"/>
            <a:ext cx="457200" cy="457200"/>
          </a:xfrm>
          <a:prstGeom prst="ellipse">
            <a:avLst/>
          </a:prstGeom>
          <a:solidFill>
            <a:srgbClr val="4A9EFF"/>
          </a:solidFill>
          <a:ln>
            <a:noFill/>
          </a:ln>
          <a:effectLst>
            <a:outerShdw blurRad="127000" rotWithShape="0" algn="bl" dir="81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24"/>
          <p:cNvSpPr/>
          <p:nvPr/>
        </p:nvSpPr>
        <p:spPr>
          <a:xfrm>
            <a:off x="6903720" y="14173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★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24"/>
          <p:cNvSpPr/>
          <p:nvPr/>
        </p:nvSpPr>
        <p:spPr>
          <a:xfrm>
            <a:off x="6669584" y="1965960"/>
            <a:ext cx="9144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9EFF"/>
              </a:buClr>
              <a:buSzPts val="1200"/>
              <a:buFont typeface="Calibri"/>
              <a:buNone/>
            </a:pPr>
            <a:r>
              <a:rPr b="1" lang="en" sz="1200">
                <a:solidFill>
                  <a:srgbClr val="4A9EFF"/>
                </a:solidFill>
                <a:latin typeface="Calibri"/>
                <a:ea typeface="Calibri"/>
                <a:cs typeface="Calibri"/>
                <a:sym typeface="Calibri"/>
              </a:rPr>
              <a:t>Production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24"/>
          <p:cNvSpPr/>
          <p:nvPr/>
        </p:nvSpPr>
        <p:spPr>
          <a:xfrm>
            <a:off x="6570107" y="2106692"/>
            <a:ext cx="10974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RAG applied to a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real pharma project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24"/>
          <p:cNvSpPr/>
          <p:nvPr/>
        </p:nvSpPr>
        <p:spPr>
          <a:xfrm>
            <a:off x="457200" y="2788920"/>
            <a:ext cx="8229600" cy="2103120"/>
          </a:xfrm>
          <a:prstGeom prst="rect">
            <a:avLst/>
          </a:prstGeom>
          <a:solidFill>
            <a:srgbClr val="F2F4F8"/>
          </a:solidFill>
          <a:ln cap="flat" cmpd="sng" w="12700">
            <a:solidFill>
              <a:srgbClr val="2E2E4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24"/>
          <p:cNvSpPr/>
          <p:nvPr/>
        </p:nvSpPr>
        <p:spPr>
          <a:xfrm>
            <a:off x="457200" y="2788920"/>
            <a:ext cx="164592" cy="210312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24"/>
          <p:cNvSpPr/>
          <p:nvPr/>
        </p:nvSpPr>
        <p:spPr>
          <a:xfrm>
            <a:off x="777240" y="2907792"/>
            <a:ext cx="7680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A0F"/>
              </a:buClr>
              <a:buSzPts val="1300"/>
              <a:buFont typeface="Calibri"/>
              <a:buNone/>
            </a:pPr>
            <a:r>
              <a:rPr b="1" lang="en" sz="1600">
                <a:solidFill>
                  <a:srgbClr val="0A0A0F"/>
                </a:solidFill>
                <a:latin typeface="Calibri"/>
                <a:ea typeface="Calibri"/>
                <a:cs typeface="Calibri"/>
                <a:sym typeface="Calibri"/>
              </a:rPr>
              <a:t>In </a:t>
            </a:r>
            <a:r>
              <a:rPr b="1" lang="en" sz="1600">
                <a:solidFill>
                  <a:srgbClr val="0A0A0F"/>
                </a:solidFill>
                <a:latin typeface="Calibri"/>
                <a:ea typeface="Calibri"/>
                <a:cs typeface="Calibri"/>
                <a:sym typeface="Calibri"/>
              </a:rPr>
              <a:t>this section: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24"/>
          <p:cNvSpPr/>
          <p:nvPr/>
        </p:nvSpPr>
        <p:spPr>
          <a:xfrm>
            <a:off x="777240" y="3291840"/>
            <a:ext cx="758952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A6B"/>
              </a:buClr>
              <a:buSzPts val="1200"/>
              <a:buFont typeface="Calibri"/>
              <a:buNone/>
            </a:pPr>
            <a:r>
              <a:rPr lang="en" sz="1200">
                <a:solidFill>
                  <a:srgbClr val="3A4A6B"/>
                </a:solidFill>
                <a:latin typeface="Calibri"/>
                <a:ea typeface="Calibri"/>
                <a:cs typeface="Calibri"/>
                <a:sym typeface="Calibri"/>
              </a:rPr>
              <a:t>We covered</a:t>
            </a:r>
            <a:r>
              <a:rPr b="0" i="0" lang="en" sz="1200" u="none" cap="none" strike="noStrike">
                <a:solidFill>
                  <a:srgbClr val="3A4A6B"/>
                </a:solidFill>
                <a:latin typeface="Calibri"/>
                <a:ea typeface="Calibri"/>
                <a:cs typeface="Calibri"/>
                <a:sym typeface="Calibri"/>
              </a:rPr>
              <a:t> the concepts. Now let's walk through every decision in a working system — what model, what chunk size, what prompt, and why — using a real document Q&amp;A tool built for pharmaceutical use cases</a:t>
            </a:r>
            <a:r>
              <a:rPr lang="en" sz="1200">
                <a:solidFill>
                  <a:srgbClr val="3A4A6B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25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25"/>
          <p:cNvSpPr/>
          <p:nvPr/>
        </p:nvSpPr>
        <p:spPr>
          <a:xfrm>
            <a:off x="0" y="0"/>
            <a:ext cx="201168" cy="749808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25"/>
          <p:cNvSpPr/>
          <p:nvPr/>
        </p:nvSpPr>
        <p:spPr>
          <a:xfrm>
            <a:off x="384048" y="0"/>
            <a:ext cx="822960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PROBLEM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25"/>
          <p:cNvSpPr/>
          <p:nvPr/>
        </p:nvSpPr>
        <p:spPr>
          <a:xfrm>
            <a:off x="365760" y="960120"/>
            <a:ext cx="4160520" cy="1783080"/>
          </a:xfrm>
          <a:prstGeom prst="rect">
            <a:avLst/>
          </a:prstGeom>
          <a:solidFill>
            <a:srgbClr val="F2F4F8"/>
          </a:solidFill>
          <a:ln cap="flat" cmpd="sng" w="12700">
            <a:solidFill>
              <a:srgbClr val="2E2E4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25"/>
          <p:cNvSpPr/>
          <p:nvPr/>
        </p:nvSpPr>
        <p:spPr>
          <a:xfrm>
            <a:off x="365760" y="960120"/>
            <a:ext cx="4160520" cy="4572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25"/>
          <p:cNvSpPr/>
          <p:nvPr/>
        </p:nvSpPr>
        <p:spPr>
          <a:xfrm>
            <a:off x="530352" y="1024128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📄  Mixed document formats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25"/>
          <p:cNvSpPr/>
          <p:nvPr/>
        </p:nvSpPr>
        <p:spPr>
          <a:xfrm>
            <a:off x="530352" y="1527048"/>
            <a:ext cx="38404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9527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A4A6B"/>
              </a:buClr>
              <a:buSzPts val="1050"/>
              <a:buFont typeface="Calibri"/>
              <a:buChar char="●"/>
            </a:pPr>
            <a:r>
              <a:rPr b="0" i="0" lang="en" sz="1050" u="none" cap="none" strike="noStrike">
                <a:solidFill>
                  <a:srgbClr val="3A4A6B"/>
                </a:solidFill>
                <a:latin typeface="Calibri"/>
                <a:ea typeface="Calibri"/>
                <a:cs typeface="Calibri"/>
                <a:sym typeface="Calibri"/>
              </a:rPr>
              <a:t>PDFs range from clean digital exports to scanned fax-quality images</a:t>
            </a:r>
            <a:endParaRPr b="0" i="0" sz="1050" u="none" cap="none" strike="noStrike">
              <a:solidFill>
                <a:srgbClr val="3A4A6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3A4A6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527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A4A6B"/>
              </a:buClr>
              <a:buSzPts val="1050"/>
              <a:buFont typeface="Calibri"/>
              <a:buChar char="●"/>
            </a:pPr>
            <a:r>
              <a:rPr b="0" i="0" lang="en" sz="1050" u="none" cap="none" strike="noStrike">
                <a:solidFill>
                  <a:srgbClr val="3A4A6B"/>
                </a:solidFill>
                <a:latin typeface="Calibri"/>
                <a:ea typeface="Calibri"/>
                <a:cs typeface="Calibri"/>
                <a:sym typeface="Calibri"/>
              </a:rPr>
              <a:t>A single pipeline has to handle both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25"/>
          <p:cNvSpPr/>
          <p:nvPr/>
        </p:nvSpPr>
        <p:spPr>
          <a:xfrm>
            <a:off x="4800600" y="960120"/>
            <a:ext cx="4160520" cy="1783080"/>
          </a:xfrm>
          <a:prstGeom prst="rect">
            <a:avLst/>
          </a:prstGeom>
          <a:solidFill>
            <a:srgbClr val="F2F4F8"/>
          </a:solidFill>
          <a:ln cap="flat" cmpd="sng" w="12700">
            <a:solidFill>
              <a:srgbClr val="2E2E4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25"/>
          <p:cNvSpPr/>
          <p:nvPr/>
        </p:nvSpPr>
        <p:spPr>
          <a:xfrm>
            <a:off x="4800600" y="960120"/>
            <a:ext cx="4160520" cy="4572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25"/>
          <p:cNvSpPr/>
          <p:nvPr/>
        </p:nvSpPr>
        <p:spPr>
          <a:xfrm>
            <a:off x="4965192" y="1024128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🔍  No global search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25"/>
          <p:cNvSpPr/>
          <p:nvPr/>
        </p:nvSpPr>
        <p:spPr>
          <a:xfrm>
            <a:off x="4965192" y="1527048"/>
            <a:ext cx="38404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9527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A4A6B"/>
              </a:buClr>
              <a:buSzPts val="1050"/>
              <a:buFont typeface="Calibri"/>
              <a:buChar char="●"/>
            </a:pPr>
            <a:r>
              <a:rPr b="0" i="0" lang="en" sz="1050" u="none" cap="none" strike="noStrike">
                <a:solidFill>
                  <a:srgbClr val="3A4A6B"/>
                </a:solidFill>
                <a:latin typeface="Calibri"/>
                <a:ea typeface="Calibri"/>
                <a:cs typeface="Calibri"/>
                <a:sym typeface="Calibri"/>
              </a:rPr>
              <a:t>Analysts ha</a:t>
            </a:r>
            <a:r>
              <a:rPr lang="en" sz="1050">
                <a:solidFill>
                  <a:srgbClr val="3A4A6B"/>
                </a:solidFill>
                <a:latin typeface="Calibri"/>
                <a:ea typeface="Calibri"/>
                <a:cs typeface="Calibri"/>
                <a:sym typeface="Calibri"/>
              </a:rPr>
              <a:t>ve</a:t>
            </a:r>
            <a:r>
              <a:rPr b="0" i="0" lang="en" sz="1050" u="none" cap="none" strike="noStrike">
                <a:solidFill>
                  <a:srgbClr val="3A4A6B"/>
                </a:solidFill>
                <a:latin typeface="Calibri"/>
                <a:ea typeface="Calibri"/>
                <a:cs typeface="Calibri"/>
                <a:sym typeface="Calibri"/>
              </a:rPr>
              <a:t> to open each file manually to find relevant sections</a:t>
            </a:r>
            <a:endParaRPr b="0" i="0" sz="1050" u="none" cap="none" strike="noStrike">
              <a:solidFill>
                <a:srgbClr val="3A4A6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3A4A6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527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A4A6B"/>
              </a:buClr>
              <a:buSzPts val="1050"/>
              <a:buFont typeface="Calibri"/>
              <a:buChar char="●"/>
            </a:pPr>
            <a:r>
              <a:rPr lang="en" sz="1050">
                <a:solidFill>
                  <a:srgbClr val="3A4A6B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0" i="0" lang="en" sz="1050" u="none" cap="none" strike="noStrike">
                <a:solidFill>
                  <a:srgbClr val="3A4A6B"/>
                </a:solidFill>
                <a:latin typeface="Calibri"/>
                <a:ea typeface="Calibri"/>
                <a:cs typeface="Calibri"/>
                <a:sym typeface="Calibri"/>
              </a:rPr>
              <a:t>o way to query across a library of documents at once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25"/>
          <p:cNvSpPr/>
          <p:nvPr/>
        </p:nvSpPr>
        <p:spPr>
          <a:xfrm>
            <a:off x="365760" y="2953512"/>
            <a:ext cx="4160520" cy="1783080"/>
          </a:xfrm>
          <a:prstGeom prst="rect">
            <a:avLst/>
          </a:prstGeom>
          <a:solidFill>
            <a:srgbClr val="F2F4F8"/>
          </a:solidFill>
          <a:ln cap="flat" cmpd="sng" w="12700">
            <a:solidFill>
              <a:srgbClr val="2E2E4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25"/>
          <p:cNvSpPr/>
          <p:nvPr/>
        </p:nvSpPr>
        <p:spPr>
          <a:xfrm>
            <a:off x="365760" y="2953512"/>
            <a:ext cx="4160520" cy="4572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25"/>
          <p:cNvSpPr/>
          <p:nvPr/>
        </p:nvSpPr>
        <p:spPr>
          <a:xfrm>
            <a:off x="530352" y="3017520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📍  No source traceability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25"/>
          <p:cNvSpPr/>
          <p:nvPr/>
        </p:nvSpPr>
        <p:spPr>
          <a:xfrm>
            <a:off x="530352" y="3520440"/>
            <a:ext cx="38404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9527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A4A6B"/>
              </a:buClr>
              <a:buSzPts val="1050"/>
              <a:buFont typeface="Calibri"/>
              <a:buChar char="●"/>
            </a:pPr>
            <a:r>
              <a:rPr lang="en" sz="1050">
                <a:solidFill>
                  <a:srgbClr val="3A4A6B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0" i="0" lang="en" sz="1050" u="none" cap="none" strike="noStrike">
                <a:solidFill>
                  <a:srgbClr val="3A4A6B"/>
                </a:solidFill>
                <a:latin typeface="Calibri"/>
                <a:ea typeface="Calibri"/>
                <a:cs typeface="Calibri"/>
                <a:sym typeface="Calibri"/>
              </a:rPr>
              <a:t>o clear way to cite which document and page the information came from</a:t>
            </a:r>
            <a:endParaRPr b="0" i="0" sz="1050" u="none" cap="none" strike="noStrike">
              <a:solidFill>
                <a:srgbClr val="3A4A6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3A4A6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527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A4A6B"/>
              </a:buClr>
              <a:buSzPts val="1050"/>
              <a:buFont typeface="Calibri"/>
              <a:buChar char="●"/>
            </a:pPr>
            <a:r>
              <a:rPr lang="en" sz="1050">
                <a:solidFill>
                  <a:srgbClr val="3A4A6B"/>
                </a:solidFill>
                <a:latin typeface="Calibri"/>
                <a:ea typeface="Calibri"/>
                <a:cs typeface="Calibri"/>
                <a:sym typeface="Calibri"/>
              </a:rPr>
              <a:t>Would require manual recordkeeping and organization</a:t>
            </a:r>
            <a:endParaRPr sz="1050">
              <a:solidFill>
                <a:srgbClr val="3A4A6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25"/>
          <p:cNvSpPr/>
          <p:nvPr/>
        </p:nvSpPr>
        <p:spPr>
          <a:xfrm>
            <a:off x="4800600" y="2953512"/>
            <a:ext cx="4160520" cy="1783080"/>
          </a:xfrm>
          <a:prstGeom prst="rect">
            <a:avLst/>
          </a:prstGeom>
          <a:solidFill>
            <a:srgbClr val="F2F4F8"/>
          </a:solidFill>
          <a:ln cap="flat" cmpd="sng" w="12700">
            <a:solidFill>
              <a:srgbClr val="2E2E4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25"/>
          <p:cNvSpPr/>
          <p:nvPr/>
        </p:nvSpPr>
        <p:spPr>
          <a:xfrm>
            <a:off x="4800600" y="2953512"/>
            <a:ext cx="4160520" cy="4572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25"/>
          <p:cNvSpPr/>
          <p:nvPr/>
        </p:nvSpPr>
        <p:spPr>
          <a:xfrm>
            <a:off x="4965192" y="3017520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⚡  Needs to run locally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25"/>
          <p:cNvSpPr/>
          <p:nvPr/>
        </p:nvSpPr>
        <p:spPr>
          <a:xfrm>
            <a:off x="4965192" y="3520440"/>
            <a:ext cx="38404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9527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A4A6B"/>
              </a:buClr>
              <a:buSzPts val="1050"/>
              <a:buFont typeface="Calibri"/>
              <a:buChar char="●"/>
            </a:pPr>
            <a:r>
              <a:rPr b="0" i="0" lang="en" sz="1050" u="none" cap="none" strike="noStrike">
                <a:solidFill>
                  <a:srgbClr val="3A4A6B"/>
                </a:solidFill>
                <a:latin typeface="Calibri"/>
                <a:ea typeface="Calibri"/>
                <a:cs typeface="Calibri"/>
                <a:sym typeface="Calibri"/>
              </a:rPr>
              <a:t>No external API keys</a:t>
            </a:r>
            <a:endParaRPr sz="1050">
              <a:solidFill>
                <a:srgbClr val="3A4A6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527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A4A6B"/>
              </a:buClr>
              <a:buSzPts val="1050"/>
              <a:buFont typeface="Calibri"/>
              <a:buChar char="●"/>
            </a:pPr>
            <a:r>
              <a:rPr b="0" i="0" lang="en" sz="1050" u="none" cap="none" strike="noStrike">
                <a:solidFill>
                  <a:srgbClr val="3A4A6B"/>
                </a:solidFill>
                <a:latin typeface="Calibri"/>
                <a:ea typeface="Calibri"/>
                <a:cs typeface="Calibri"/>
                <a:sym typeface="Calibri"/>
              </a:rPr>
              <a:t>The system must work fully offline using open-source models</a:t>
            </a:r>
            <a:endParaRPr sz="1050">
              <a:solidFill>
                <a:srgbClr val="3A4A6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527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A4A6B"/>
              </a:buClr>
              <a:buSzPts val="1050"/>
              <a:buFont typeface="Calibri"/>
              <a:buChar char="●"/>
            </a:pPr>
            <a:r>
              <a:rPr lang="en" sz="1050">
                <a:solidFill>
                  <a:srgbClr val="3A4A6B"/>
                </a:solidFill>
                <a:latin typeface="Calibri"/>
                <a:ea typeface="Calibri"/>
                <a:cs typeface="Calibri"/>
                <a:sym typeface="Calibri"/>
              </a:rPr>
              <a:t>Necessary for</a:t>
            </a:r>
            <a:r>
              <a:rPr b="0" i="0" lang="en" sz="1050" u="none" cap="none" strike="noStrike">
                <a:solidFill>
                  <a:srgbClr val="3A4A6B"/>
                </a:solidFill>
                <a:latin typeface="Calibri"/>
                <a:ea typeface="Calibri"/>
                <a:cs typeface="Calibri"/>
                <a:sym typeface="Calibri"/>
              </a:rPr>
              <a:t> sensitive clinical data (not as important for product inserts)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F"/>
        </a:solidFill>
      </p:bgPr>
    </p:bg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04" name="Google Shape;504;p26"/>
          <p:cNvCxnSpPr/>
          <p:nvPr/>
        </p:nvCxnSpPr>
        <p:spPr>
          <a:xfrm>
            <a:off x="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5882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05" name="Google Shape;505;p26"/>
          <p:cNvCxnSpPr/>
          <p:nvPr/>
        </p:nvCxnSpPr>
        <p:spPr>
          <a:xfrm>
            <a:off x="50292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5882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06" name="Google Shape;506;p26"/>
          <p:cNvCxnSpPr/>
          <p:nvPr/>
        </p:nvCxnSpPr>
        <p:spPr>
          <a:xfrm>
            <a:off x="100584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5882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07" name="Google Shape;507;p26"/>
          <p:cNvCxnSpPr/>
          <p:nvPr/>
        </p:nvCxnSpPr>
        <p:spPr>
          <a:xfrm>
            <a:off x="150876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5882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08" name="Google Shape;508;p26"/>
          <p:cNvCxnSpPr/>
          <p:nvPr/>
        </p:nvCxnSpPr>
        <p:spPr>
          <a:xfrm>
            <a:off x="201168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5882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09" name="Google Shape;509;p26"/>
          <p:cNvCxnSpPr/>
          <p:nvPr/>
        </p:nvCxnSpPr>
        <p:spPr>
          <a:xfrm>
            <a:off x="25146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5882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10" name="Google Shape;510;p26"/>
          <p:cNvCxnSpPr/>
          <p:nvPr/>
        </p:nvCxnSpPr>
        <p:spPr>
          <a:xfrm>
            <a:off x="301752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5882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11" name="Google Shape;511;p26"/>
          <p:cNvCxnSpPr/>
          <p:nvPr/>
        </p:nvCxnSpPr>
        <p:spPr>
          <a:xfrm>
            <a:off x="352044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5882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12" name="Google Shape;512;p26"/>
          <p:cNvCxnSpPr/>
          <p:nvPr/>
        </p:nvCxnSpPr>
        <p:spPr>
          <a:xfrm>
            <a:off x="402336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5882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13" name="Google Shape;513;p26"/>
          <p:cNvCxnSpPr/>
          <p:nvPr/>
        </p:nvCxnSpPr>
        <p:spPr>
          <a:xfrm>
            <a:off x="452628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5882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14" name="Google Shape;514;p26"/>
          <p:cNvCxnSpPr/>
          <p:nvPr/>
        </p:nvCxnSpPr>
        <p:spPr>
          <a:xfrm>
            <a:off x="50292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5882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15" name="Google Shape;515;p26"/>
          <p:cNvCxnSpPr/>
          <p:nvPr/>
        </p:nvCxnSpPr>
        <p:spPr>
          <a:xfrm>
            <a:off x="553212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5882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16" name="Google Shape;516;p26"/>
          <p:cNvCxnSpPr/>
          <p:nvPr/>
        </p:nvCxnSpPr>
        <p:spPr>
          <a:xfrm>
            <a:off x="603504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5882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17" name="Google Shape;517;p26"/>
          <p:cNvCxnSpPr/>
          <p:nvPr/>
        </p:nvCxnSpPr>
        <p:spPr>
          <a:xfrm>
            <a:off x="653796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5882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18" name="Google Shape;518;p26"/>
          <p:cNvCxnSpPr/>
          <p:nvPr/>
        </p:nvCxnSpPr>
        <p:spPr>
          <a:xfrm>
            <a:off x="704088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5882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19" name="Google Shape;519;p26"/>
          <p:cNvCxnSpPr/>
          <p:nvPr/>
        </p:nvCxnSpPr>
        <p:spPr>
          <a:xfrm>
            <a:off x="75438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5882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20" name="Google Shape;520;p26"/>
          <p:cNvCxnSpPr/>
          <p:nvPr/>
        </p:nvCxnSpPr>
        <p:spPr>
          <a:xfrm>
            <a:off x="804672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5882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21" name="Google Shape;521;p26"/>
          <p:cNvCxnSpPr/>
          <p:nvPr/>
        </p:nvCxnSpPr>
        <p:spPr>
          <a:xfrm>
            <a:off x="854964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5882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22" name="Google Shape;522;p26"/>
          <p:cNvCxnSpPr/>
          <p:nvPr/>
        </p:nvCxnSpPr>
        <p:spPr>
          <a:xfrm>
            <a:off x="905256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5882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23" name="Google Shape;523;p26"/>
          <p:cNvCxnSpPr/>
          <p:nvPr/>
        </p:nvCxnSpPr>
        <p:spPr>
          <a:xfrm>
            <a:off x="955548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5882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24" name="Google Shape;524;p26"/>
          <p:cNvCxnSpPr/>
          <p:nvPr/>
        </p:nvCxnSpPr>
        <p:spPr>
          <a:xfrm>
            <a:off x="0" y="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5882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25" name="Google Shape;525;p26"/>
          <p:cNvCxnSpPr/>
          <p:nvPr/>
        </p:nvCxnSpPr>
        <p:spPr>
          <a:xfrm>
            <a:off x="0" y="4572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5882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26" name="Google Shape;526;p26"/>
          <p:cNvCxnSpPr/>
          <p:nvPr/>
        </p:nvCxnSpPr>
        <p:spPr>
          <a:xfrm>
            <a:off x="0" y="9144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5882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27" name="Google Shape;527;p26"/>
          <p:cNvCxnSpPr/>
          <p:nvPr/>
        </p:nvCxnSpPr>
        <p:spPr>
          <a:xfrm>
            <a:off x="0" y="13716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5882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28" name="Google Shape;528;p26"/>
          <p:cNvCxnSpPr/>
          <p:nvPr/>
        </p:nvCxnSpPr>
        <p:spPr>
          <a:xfrm>
            <a:off x="0" y="18288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5882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29" name="Google Shape;529;p26"/>
          <p:cNvCxnSpPr/>
          <p:nvPr/>
        </p:nvCxnSpPr>
        <p:spPr>
          <a:xfrm>
            <a:off x="0" y="22860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5882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30" name="Google Shape;530;p26"/>
          <p:cNvCxnSpPr/>
          <p:nvPr/>
        </p:nvCxnSpPr>
        <p:spPr>
          <a:xfrm>
            <a:off x="0" y="27432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5882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31" name="Google Shape;531;p26"/>
          <p:cNvCxnSpPr/>
          <p:nvPr/>
        </p:nvCxnSpPr>
        <p:spPr>
          <a:xfrm>
            <a:off x="0" y="32004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5882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32" name="Google Shape;532;p26"/>
          <p:cNvCxnSpPr/>
          <p:nvPr/>
        </p:nvCxnSpPr>
        <p:spPr>
          <a:xfrm>
            <a:off x="0" y="36576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5882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33" name="Google Shape;533;p26"/>
          <p:cNvCxnSpPr/>
          <p:nvPr/>
        </p:nvCxnSpPr>
        <p:spPr>
          <a:xfrm>
            <a:off x="0" y="41148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5882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34" name="Google Shape;534;p26"/>
          <p:cNvCxnSpPr/>
          <p:nvPr/>
        </p:nvCxnSpPr>
        <p:spPr>
          <a:xfrm>
            <a:off x="0" y="45720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5882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35" name="Google Shape;535;p26"/>
          <p:cNvCxnSpPr/>
          <p:nvPr/>
        </p:nvCxnSpPr>
        <p:spPr>
          <a:xfrm>
            <a:off x="0" y="50292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5882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36" name="Google Shape;536;p26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26"/>
          <p:cNvSpPr/>
          <p:nvPr/>
        </p:nvSpPr>
        <p:spPr>
          <a:xfrm>
            <a:off x="384048" y="13716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PIPELINE AT A GLANCE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26"/>
          <p:cNvSpPr/>
          <p:nvPr/>
        </p:nvSpPr>
        <p:spPr>
          <a:xfrm>
            <a:off x="365760" y="822960"/>
            <a:ext cx="1024128" cy="1097280"/>
          </a:xfrm>
          <a:prstGeom prst="rect">
            <a:avLst/>
          </a:prstGeom>
          <a:solidFill>
            <a:srgbClr val="4A5A8B"/>
          </a:solidFill>
          <a:ln>
            <a:noFill/>
          </a:ln>
          <a:effectLst>
            <a:outerShdw blurRad="127000" rotWithShape="0" algn="bl" dir="81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26"/>
          <p:cNvSpPr/>
          <p:nvPr/>
        </p:nvSpPr>
        <p:spPr>
          <a:xfrm>
            <a:off x="365760" y="914400"/>
            <a:ext cx="102412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📤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26"/>
          <p:cNvSpPr/>
          <p:nvPr/>
        </p:nvSpPr>
        <p:spPr>
          <a:xfrm>
            <a:off x="320040" y="1389888"/>
            <a:ext cx="111556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Upload PDF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41" name="Google Shape;541;p26"/>
          <p:cNvCxnSpPr/>
          <p:nvPr/>
        </p:nvCxnSpPr>
        <p:spPr>
          <a:xfrm>
            <a:off x="1389771" y="1371600"/>
            <a:ext cx="225000" cy="0"/>
          </a:xfrm>
          <a:prstGeom prst="straightConnector1">
            <a:avLst/>
          </a:prstGeom>
          <a:noFill/>
          <a:ln cap="flat" cmpd="sng" w="25400">
            <a:solidFill>
              <a:srgbClr val="4A9E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42" name="Google Shape;542;p26"/>
          <p:cNvSpPr/>
          <p:nvPr/>
        </p:nvSpPr>
        <p:spPr>
          <a:xfrm>
            <a:off x="1567543" y="822960"/>
            <a:ext cx="1024128" cy="1097280"/>
          </a:xfrm>
          <a:prstGeom prst="rect">
            <a:avLst/>
          </a:prstGeom>
          <a:solidFill>
            <a:srgbClr val="4A5A8B"/>
          </a:solidFill>
          <a:ln>
            <a:noFill/>
          </a:ln>
          <a:effectLst>
            <a:outerShdw blurRad="127000" rotWithShape="0" algn="bl" dir="81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26"/>
          <p:cNvSpPr/>
          <p:nvPr/>
        </p:nvSpPr>
        <p:spPr>
          <a:xfrm>
            <a:off x="1567543" y="914400"/>
            <a:ext cx="102412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🔎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26"/>
          <p:cNvSpPr/>
          <p:nvPr/>
        </p:nvSpPr>
        <p:spPr>
          <a:xfrm>
            <a:off x="1521823" y="1389888"/>
            <a:ext cx="111556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Detect type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45" name="Google Shape;545;p26"/>
          <p:cNvCxnSpPr/>
          <p:nvPr/>
        </p:nvCxnSpPr>
        <p:spPr>
          <a:xfrm>
            <a:off x="2592000" y="1371600"/>
            <a:ext cx="177900" cy="0"/>
          </a:xfrm>
          <a:prstGeom prst="straightConnector1">
            <a:avLst/>
          </a:prstGeom>
          <a:noFill/>
          <a:ln cap="flat" cmpd="sng" w="25400">
            <a:solidFill>
              <a:srgbClr val="4A9E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46" name="Google Shape;546;p26"/>
          <p:cNvSpPr/>
          <p:nvPr/>
        </p:nvSpPr>
        <p:spPr>
          <a:xfrm>
            <a:off x="2769326" y="822960"/>
            <a:ext cx="1024128" cy="1097280"/>
          </a:xfrm>
          <a:prstGeom prst="rect">
            <a:avLst/>
          </a:prstGeom>
          <a:solidFill>
            <a:srgbClr val="6B7FFF"/>
          </a:solidFill>
          <a:ln>
            <a:noFill/>
          </a:ln>
          <a:effectLst>
            <a:outerShdw blurRad="127000" rotWithShape="0" algn="bl" dir="81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26"/>
          <p:cNvSpPr/>
          <p:nvPr/>
        </p:nvSpPr>
        <p:spPr>
          <a:xfrm>
            <a:off x="2769326" y="914400"/>
            <a:ext cx="102412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📸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26"/>
          <p:cNvSpPr/>
          <p:nvPr/>
        </p:nvSpPr>
        <p:spPr>
          <a:xfrm>
            <a:off x="2723606" y="1389888"/>
            <a:ext cx="111556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OCR if scanned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49" name="Google Shape;549;p26"/>
          <p:cNvCxnSpPr/>
          <p:nvPr/>
        </p:nvCxnSpPr>
        <p:spPr>
          <a:xfrm>
            <a:off x="3793325" y="1371600"/>
            <a:ext cx="179100" cy="0"/>
          </a:xfrm>
          <a:prstGeom prst="straightConnector1">
            <a:avLst/>
          </a:prstGeom>
          <a:noFill/>
          <a:ln cap="flat" cmpd="sng" w="25400">
            <a:solidFill>
              <a:srgbClr val="4A9E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50" name="Google Shape;550;p26"/>
          <p:cNvSpPr/>
          <p:nvPr/>
        </p:nvSpPr>
        <p:spPr>
          <a:xfrm>
            <a:off x="3971109" y="822960"/>
            <a:ext cx="1024128" cy="1097280"/>
          </a:xfrm>
          <a:prstGeom prst="rect">
            <a:avLst/>
          </a:prstGeom>
          <a:solidFill>
            <a:srgbClr val="4A5A8B"/>
          </a:solidFill>
          <a:ln>
            <a:noFill/>
          </a:ln>
          <a:effectLst>
            <a:outerShdw blurRad="127000" rotWithShape="0" algn="bl" dir="81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26"/>
          <p:cNvSpPr/>
          <p:nvPr/>
        </p:nvSpPr>
        <p:spPr>
          <a:xfrm>
            <a:off x="3971109" y="914400"/>
            <a:ext cx="102412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✂️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26"/>
          <p:cNvSpPr/>
          <p:nvPr/>
        </p:nvSpPr>
        <p:spPr>
          <a:xfrm>
            <a:off x="3925389" y="1389888"/>
            <a:ext cx="111556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Chunk text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53" name="Google Shape;553;p26"/>
          <p:cNvCxnSpPr/>
          <p:nvPr/>
        </p:nvCxnSpPr>
        <p:spPr>
          <a:xfrm>
            <a:off x="4995275" y="1371600"/>
            <a:ext cx="178500" cy="0"/>
          </a:xfrm>
          <a:prstGeom prst="straightConnector1">
            <a:avLst/>
          </a:prstGeom>
          <a:noFill/>
          <a:ln cap="flat" cmpd="sng" w="25400">
            <a:solidFill>
              <a:srgbClr val="4A9E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54" name="Google Shape;554;p26"/>
          <p:cNvSpPr/>
          <p:nvPr/>
        </p:nvSpPr>
        <p:spPr>
          <a:xfrm>
            <a:off x="5172891" y="822960"/>
            <a:ext cx="1024128" cy="1097280"/>
          </a:xfrm>
          <a:prstGeom prst="rect">
            <a:avLst/>
          </a:prstGeom>
          <a:solidFill>
            <a:srgbClr val="4A5A8B"/>
          </a:solidFill>
          <a:ln>
            <a:noFill/>
          </a:ln>
          <a:effectLst>
            <a:outerShdw blurRad="127000" rotWithShape="0" algn="bl" dir="81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26"/>
          <p:cNvSpPr/>
          <p:nvPr/>
        </p:nvSpPr>
        <p:spPr>
          <a:xfrm>
            <a:off x="5172891" y="914400"/>
            <a:ext cx="102412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🏷️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26"/>
          <p:cNvSpPr/>
          <p:nvPr/>
        </p:nvSpPr>
        <p:spPr>
          <a:xfrm>
            <a:off x="5127171" y="1389888"/>
            <a:ext cx="111556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Tag metadata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57" name="Google Shape;557;p26"/>
          <p:cNvCxnSpPr/>
          <p:nvPr/>
        </p:nvCxnSpPr>
        <p:spPr>
          <a:xfrm>
            <a:off x="6197200" y="1371600"/>
            <a:ext cx="178500" cy="0"/>
          </a:xfrm>
          <a:prstGeom prst="straightConnector1">
            <a:avLst/>
          </a:prstGeom>
          <a:noFill/>
          <a:ln cap="flat" cmpd="sng" w="25400">
            <a:solidFill>
              <a:srgbClr val="4A9E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58" name="Google Shape;558;p26"/>
          <p:cNvSpPr/>
          <p:nvPr/>
        </p:nvSpPr>
        <p:spPr>
          <a:xfrm>
            <a:off x="6374674" y="822960"/>
            <a:ext cx="1024128" cy="1097280"/>
          </a:xfrm>
          <a:prstGeom prst="rect">
            <a:avLst/>
          </a:prstGeom>
          <a:solidFill>
            <a:srgbClr val="4A9EFF"/>
          </a:solidFill>
          <a:ln>
            <a:noFill/>
          </a:ln>
          <a:effectLst>
            <a:outerShdw blurRad="127000" rotWithShape="0" algn="bl" dir="81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26"/>
          <p:cNvSpPr/>
          <p:nvPr/>
        </p:nvSpPr>
        <p:spPr>
          <a:xfrm>
            <a:off x="6374674" y="914400"/>
            <a:ext cx="102412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🧠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26"/>
          <p:cNvSpPr/>
          <p:nvPr/>
        </p:nvSpPr>
        <p:spPr>
          <a:xfrm>
            <a:off x="6328954" y="1389888"/>
            <a:ext cx="111556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Embed chunks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61" name="Google Shape;561;p26"/>
          <p:cNvCxnSpPr/>
          <p:nvPr/>
        </p:nvCxnSpPr>
        <p:spPr>
          <a:xfrm>
            <a:off x="7398550" y="1371600"/>
            <a:ext cx="179100" cy="0"/>
          </a:xfrm>
          <a:prstGeom prst="straightConnector1">
            <a:avLst/>
          </a:prstGeom>
          <a:noFill/>
          <a:ln cap="flat" cmpd="sng" w="25400">
            <a:solidFill>
              <a:srgbClr val="4A9E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62" name="Google Shape;562;p26"/>
          <p:cNvSpPr/>
          <p:nvPr/>
        </p:nvSpPr>
        <p:spPr>
          <a:xfrm>
            <a:off x="7576457" y="822960"/>
            <a:ext cx="1024128" cy="1097280"/>
          </a:xfrm>
          <a:prstGeom prst="rect">
            <a:avLst/>
          </a:prstGeom>
          <a:solidFill>
            <a:srgbClr val="4A9EFF"/>
          </a:solidFill>
          <a:ln>
            <a:noFill/>
          </a:ln>
          <a:effectLst>
            <a:outerShdw blurRad="127000" rotWithShape="0" algn="bl" dir="81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26"/>
          <p:cNvSpPr/>
          <p:nvPr/>
        </p:nvSpPr>
        <p:spPr>
          <a:xfrm>
            <a:off x="7576457" y="914400"/>
            <a:ext cx="102412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🗂️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26"/>
          <p:cNvSpPr/>
          <p:nvPr/>
        </p:nvSpPr>
        <p:spPr>
          <a:xfrm>
            <a:off x="7530737" y="1389888"/>
            <a:ext cx="111556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FAISS index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65" name="Google Shape;565;p26"/>
          <p:cNvCxnSpPr>
            <a:endCxn id="566" idx="0"/>
          </p:cNvCxnSpPr>
          <p:nvPr/>
        </p:nvCxnSpPr>
        <p:spPr>
          <a:xfrm flipH="1">
            <a:off x="3834384" y="1920180"/>
            <a:ext cx="4299900" cy="1005900"/>
          </a:xfrm>
          <a:prstGeom prst="straightConnector1">
            <a:avLst/>
          </a:prstGeom>
          <a:noFill/>
          <a:ln cap="flat" cmpd="sng" w="25400">
            <a:solidFill>
              <a:srgbClr val="4A9E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67" name="Google Shape;567;p26"/>
          <p:cNvSpPr/>
          <p:nvPr/>
        </p:nvSpPr>
        <p:spPr>
          <a:xfrm>
            <a:off x="8503920" y="1143000"/>
            <a:ext cx="548640" cy="457200"/>
          </a:xfrm>
          <a:prstGeom prst="rect">
            <a:avLst/>
          </a:prstGeom>
          <a:solidFill>
            <a:srgbClr val="4A5A8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26"/>
          <p:cNvSpPr/>
          <p:nvPr/>
        </p:nvSpPr>
        <p:spPr>
          <a:xfrm>
            <a:off x="8503920" y="1170432"/>
            <a:ext cx="548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1" i="0" lang="en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INGEST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26"/>
          <p:cNvSpPr/>
          <p:nvPr/>
        </p:nvSpPr>
        <p:spPr>
          <a:xfrm>
            <a:off x="822960" y="2926080"/>
            <a:ext cx="1024128" cy="1097280"/>
          </a:xfrm>
          <a:prstGeom prst="rect">
            <a:avLst/>
          </a:prstGeom>
          <a:solidFill>
            <a:srgbClr val="4A5A8B"/>
          </a:solidFill>
          <a:ln>
            <a:noFill/>
          </a:ln>
          <a:effectLst>
            <a:outerShdw blurRad="127000" rotWithShape="0" algn="bl" dir="81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26"/>
          <p:cNvSpPr/>
          <p:nvPr/>
        </p:nvSpPr>
        <p:spPr>
          <a:xfrm>
            <a:off x="822960" y="3017520"/>
            <a:ext cx="102412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💬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26"/>
          <p:cNvSpPr/>
          <p:nvPr/>
        </p:nvSpPr>
        <p:spPr>
          <a:xfrm>
            <a:off x="777240" y="3493008"/>
            <a:ext cx="111556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User query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72" name="Google Shape;572;p26"/>
          <p:cNvCxnSpPr/>
          <p:nvPr/>
        </p:nvCxnSpPr>
        <p:spPr>
          <a:xfrm>
            <a:off x="1846800" y="3474725"/>
            <a:ext cx="229500" cy="0"/>
          </a:xfrm>
          <a:prstGeom prst="straightConnector1">
            <a:avLst/>
          </a:prstGeom>
          <a:noFill/>
          <a:ln cap="flat" cmpd="sng" w="254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73" name="Google Shape;573;p26"/>
          <p:cNvSpPr/>
          <p:nvPr/>
        </p:nvSpPr>
        <p:spPr>
          <a:xfrm>
            <a:off x="2072640" y="2926080"/>
            <a:ext cx="1024128" cy="1097280"/>
          </a:xfrm>
          <a:prstGeom prst="rect">
            <a:avLst/>
          </a:prstGeom>
          <a:solidFill>
            <a:srgbClr val="4A9EFF"/>
          </a:solidFill>
          <a:ln>
            <a:noFill/>
          </a:ln>
          <a:effectLst>
            <a:outerShdw blurRad="127000" rotWithShape="0" algn="bl" dir="81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p26"/>
          <p:cNvSpPr/>
          <p:nvPr/>
        </p:nvSpPr>
        <p:spPr>
          <a:xfrm>
            <a:off x="2072640" y="3017520"/>
            <a:ext cx="102412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🧠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26"/>
          <p:cNvSpPr/>
          <p:nvPr/>
        </p:nvSpPr>
        <p:spPr>
          <a:xfrm>
            <a:off x="2026920" y="3493008"/>
            <a:ext cx="111556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Embed query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76" name="Google Shape;576;p26"/>
          <p:cNvCxnSpPr/>
          <p:nvPr/>
        </p:nvCxnSpPr>
        <p:spPr>
          <a:xfrm>
            <a:off x="3096825" y="3474725"/>
            <a:ext cx="226800" cy="0"/>
          </a:xfrm>
          <a:prstGeom prst="straightConnector1">
            <a:avLst/>
          </a:prstGeom>
          <a:noFill/>
          <a:ln cap="flat" cmpd="sng" w="254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66" name="Google Shape;566;p26"/>
          <p:cNvSpPr/>
          <p:nvPr/>
        </p:nvSpPr>
        <p:spPr>
          <a:xfrm>
            <a:off x="3322320" y="2926080"/>
            <a:ext cx="1024128" cy="1097280"/>
          </a:xfrm>
          <a:prstGeom prst="rect">
            <a:avLst/>
          </a:prstGeom>
          <a:solidFill>
            <a:srgbClr val="4A9EFF"/>
          </a:solidFill>
          <a:ln>
            <a:noFill/>
          </a:ln>
          <a:effectLst>
            <a:outerShdw blurRad="127000" rotWithShape="0" algn="bl" dir="81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26"/>
          <p:cNvSpPr/>
          <p:nvPr/>
        </p:nvSpPr>
        <p:spPr>
          <a:xfrm>
            <a:off x="3322320" y="3017520"/>
            <a:ext cx="102412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⚡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26"/>
          <p:cNvSpPr/>
          <p:nvPr/>
        </p:nvSpPr>
        <p:spPr>
          <a:xfrm>
            <a:off x="3276600" y="3493008"/>
            <a:ext cx="111556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Search FAISS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79" name="Google Shape;579;p26"/>
          <p:cNvCxnSpPr/>
          <p:nvPr/>
        </p:nvCxnSpPr>
        <p:spPr>
          <a:xfrm>
            <a:off x="4346975" y="3474725"/>
            <a:ext cx="226200" cy="0"/>
          </a:xfrm>
          <a:prstGeom prst="straightConnector1">
            <a:avLst/>
          </a:prstGeom>
          <a:noFill/>
          <a:ln cap="flat" cmpd="sng" w="254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0" name="Google Shape;580;p26"/>
          <p:cNvSpPr/>
          <p:nvPr/>
        </p:nvSpPr>
        <p:spPr>
          <a:xfrm>
            <a:off x="4572000" y="2926080"/>
            <a:ext cx="1024128" cy="1097280"/>
          </a:xfrm>
          <a:prstGeom prst="rect">
            <a:avLst/>
          </a:prstGeom>
          <a:solidFill>
            <a:srgbClr val="6B7FFF"/>
          </a:solidFill>
          <a:ln>
            <a:noFill/>
          </a:ln>
          <a:effectLst>
            <a:outerShdw blurRad="127000" rotWithShape="0" algn="bl" dir="81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26"/>
          <p:cNvSpPr/>
          <p:nvPr/>
        </p:nvSpPr>
        <p:spPr>
          <a:xfrm>
            <a:off x="4572000" y="3017520"/>
            <a:ext cx="102412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📋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26"/>
          <p:cNvSpPr/>
          <p:nvPr/>
        </p:nvSpPr>
        <p:spPr>
          <a:xfrm>
            <a:off x="4526280" y="3493008"/>
            <a:ext cx="111556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Build prompt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83" name="Google Shape;583;p26"/>
          <p:cNvCxnSpPr/>
          <p:nvPr/>
        </p:nvCxnSpPr>
        <p:spPr>
          <a:xfrm>
            <a:off x="5596525" y="3474725"/>
            <a:ext cx="226200" cy="0"/>
          </a:xfrm>
          <a:prstGeom prst="straightConnector1">
            <a:avLst/>
          </a:prstGeom>
          <a:noFill/>
          <a:ln cap="flat" cmpd="sng" w="254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4" name="Google Shape;584;p26"/>
          <p:cNvSpPr/>
          <p:nvPr/>
        </p:nvSpPr>
        <p:spPr>
          <a:xfrm>
            <a:off x="5821680" y="2926080"/>
            <a:ext cx="1024128" cy="1097280"/>
          </a:xfrm>
          <a:prstGeom prst="rect">
            <a:avLst/>
          </a:prstGeom>
          <a:solidFill>
            <a:srgbClr val="6B7FFF"/>
          </a:solidFill>
          <a:ln>
            <a:noFill/>
          </a:ln>
          <a:effectLst>
            <a:outerShdw blurRad="127000" rotWithShape="0" algn="bl" dir="81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26"/>
          <p:cNvSpPr/>
          <p:nvPr/>
        </p:nvSpPr>
        <p:spPr>
          <a:xfrm>
            <a:off x="5821680" y="3017520"/>
            <a:ext cx="102412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🤖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26"/>
          <p:cNvSpPr/>
          <p:nvPr/>
        </p:nvSpPr>
        <p:spPr>
          <a:xfrm>
            <a:off x="5775960" y="3493008"/>
            <a:ext cx="111556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Flan-T5 LLM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87" name="Google Shape;587;p26"/>
          <p:cNvCxnSpPr/>
          <p:nvPr/>
        </p:nvCxnSpPr>
        <p:spPr>
          <a:xfrm>
            <a:off x="6845500" y="3474725"/>
            <a:ext cx="227100" cy="0"/>
          </a:xfrm>
          <a:prstGeom prst="straightConnector1">
            <a:avLst/>
          </a:prstGeom>
          <a:noFill/>
          <a:ln cap="flat" cmpd="sng" w="254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8" name="Google Shape;588;p26"/>
          <p:cNvSpPr/>
          <p:nvPr/>
        </p:nvSpPr>
        <p:spPr>
          <a:xfrm>
            <a:off x="7071360" y="2926080"/>
            <a:ext cx="1024128" cy="1097280"/>
          </a:xfrm>
          <a:prstGeom prst="rect">
            <a:avLst/>
          </a:prstGeom>
          <a:solidFill>
            <a:srgbClr val="3DD68C"/>
          </a:solidFill>
          <a:ln>
            <a:noFill/>
          </a:ln>
          <a:effectLst>
            <a:outerShdw blurRad="127000" rotWithShape="0" algn="bl" dir="81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26"/>
          <p:cNvSpPr/>
          <p:nvPr/>
        </p:nvSpPr>
        <p:spPr>
          <a:xfrm>
            <a:off x="7071360" y="3017520"/>
            <a:ext cx="102412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✅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26"/>
          <p:cNvSpPr/>
          <p:nvPr/>
        </p:nvSpPr>
        <p:spPr>
          <a:xfrm>
            <a:off x="7025640" y="3493008"/>
            <a:ext cx="111556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Answer + sources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26"/>
          <p:cNvSpPr/>
          <p:nvPr/>
        </p:nvSpPr>
        <p:spPr>
          <a:xfrm>
            <a:off x="8503920" y="3246120"/>
            <a:ext cx="548640" cy="457200"/>
          </a:xfrm>
          <a:prstGeom prst="rect">
            <a:avLst/>
          </a:prstGeom>
          <a:solidFill>
            <a:srgbClr val="6B7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p26"/>
          <p:cNvSpPr/>
          <p:nvPr/>
        </p:nvSpPr>
        <p:spPr>
          <a:xfrm>
            <a:off x="8503920" y="3273552"/>
            <a:ext cx="548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1" i="0" lang="en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QUERY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27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9" name="Google Shape;599;p27"/>
          <p:cNvSpPr/>
          <p:nvPr/>
        </p:nvSpPr>
        <p:spPr>
          <a:xfrm>
            <a:off x="0" y="0"/>
            <a:ext cx="201168" cy="749808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p27"/>
          <p:cNvSpPr/>
          <p:nvPr/>
        </p:nvSpPr>
        <p:spPr>
          <a:xfrm>
            <a:off x="384048" y="0"/>
            <a:ext cx="822960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STAGE 1</a:t>
            </a:r>
            <a:r>
              <a:rPr b="1" lang="en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b="1" i="0" lang="en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DOCUMENT PROCESSING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27"/>
          <p:cNvSpPr/>
          <p:nvPr/>
        </p:nvSpPr>
        <p:spPr>
          <a:xfrm>
            <a:off x="457200" y="914400"/>
            <a:ext cx="2286000" cy="640080"/>
          </a:xfrm>
          <a:prstGeom prst="rect">
            <a:avLst/>
          </a:prstGeom>
          <a:solidFill>
            <a:srgbClr val="0A0A0F"/>
          </a:solidFill>
          <a:ln>
            <a:noFill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" name="Google Shape;602;p27"/>
          <p:cNvSpPr/>
          <p:nvPr/>
        </p:nvSpPr>
        <p:spPr>
          <a:xfrm>
            <a:off x="457200" y="914400"/>
            <a:ext cx="2286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📤  Upload PDF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03" name="Google Shape;603;p27"/>
          <p:cNvCxnSpPr/>
          <p:nvPr/>
        </p:nvCxnSpPr>
        <p:spPr>
          <a:xfrm>
            <a:off x="1600200" y="1554480"/>
            <a:ext cx="0" cy="457200"/>
          </a:xfrm>
          <a:prstGeom prst="straightConnector1">
            <a:avLst/>
          </a:prstGeom>
          <a:noFill/>
          <a:ln cap="flat" cmpd="sng" w="25400">
            <a:solidFill>
              <a:srgbClr val="4A9EFF"/>
            </a:solidFill>
            <a:prstDash val="solid"/>
            <a:round/>
            <a:headEnd len="sm" w="sm" type="none"/>
            <a:tailEnd len="sm" w="sm" type="stealth"/>
          </a:ln>
        </p:spPr>
      </p:cxnSp>
      <p:sp>
        <p:nvSpPr>
          <p:cNvPr id="604" name="Google Shape;604;p27"/>
          <p:cNvSpPr/>
          <p:nvPr/>
        </p:nvSpPr>
        <p:spPr>
          <a:xfrm>
            <a:off x="457200" y="2011680"/>
            <a:ext cx="2286000" cy="640080"/>
          </a:xfrm>
          <a:prstGeom prst="rect">
            <a:avLst/>
          </a:prstGeom>
          <a:solidFill>
            <a:srgbClr val="4A5A8B"/>
          </a:solidFill>
          <a:ln>
            <a:noFill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27"/>
          <p:cNvSpPr/>
          <p:nvPr/>
        </p:nvSpPr>
        <p:spPr>
          <a:xfrm>
            <a:off x="457200" y="2011680"/>
            <a:ext cx="2286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Text &gt; 30 chars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per page?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06" name="Google Shape;606;p27"/>
          <p:cNvCxnSpPr/>
          <p:nvPr/>
        </p:nvCxnSpPr>
        <p:spPr>
          <a:xfrm>
            <a:off x="2743200" y="2331720"/>
            <a:ext cx="640080" cy="0"/>
          </a:xfrm>
          <a:prstGeom prst="straightConnector1">
            <a:avLst/>
          </a:prstGeom>
          <a:noFill/>
          <a:ln cap="flat" cmpd="sng" w="25400">
            <a:solidFill>
              <a:srgbClr val="3DD68C"/>
            </a:solidFill>
            <a:prstDash val="solid"/>
            <a:round/>
            <a:headEnd len="sm" w="sm" type="none"/>
            <a:tailEnd len="sm" w="sm" type="stealth"/>
          </a:ln>
        </p:spPr>
      </p:cxnSp>
      <p:sp>
        <p:nvSpPr>
          <p:cNvPr id="607" name="Google Shape;607;p27"/>
          <p:cNvSpPr/>
          <p:nvPr/>
        </p:nvSpPr>
        <p:spPr>
          <a:xfrm>
            <a:off x="2788920" y="214884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D68C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3DD68C"/>
                </a:solidFill>
                <a:latin typeface="Calibri"/>
                <a:ea typeface="Calibri"/>
                <a:cs typeface="Calibri"/>
                <a:sym typeface="Calibri"/>
              </a:rPr>
              <a:t>YES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27"/>
          <p:cNvSpPr/>
          <p:nvPr/>
        </p:nvSpPr>
        <p:spPr>
          <a:xfrm>
            <a:off x="3383280" y="2011680"/>
            <a:ext cx="2103120" cy="640080"/>
          </a:xfrm>
          <a:prstGeom prst="rect">
            <a:avLst/>
          </a:prstGeom>
          <a:solidFill>
            <a:srgbClr val="3A4A6B"/>
          </a:solidFill>
          <a:ln>
            <a:noFill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" name="Google Shape;609;p27"/>
          <p:cNvSpPr/>
          <p:nvPr/>
        </p:nvSpPr>
        <p:spPr>
          <a:xfrm>
            <a:off x="3383280" y="2011680"/>
            <a:ext cx="2103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✅  Use digital text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(PyMuPDF)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10" name="Google Shape;610;p27"/>
          <p:cNvCxnSpPr/>
          <p:nvPr/>
        </p:nvCxnSpPr>
        <p:spPr>
          <a:xfrm>
            <a:off x="1600200" y="2651760"/>
            <a:ext cx="0" cy="411480"/>
          </a:xfrm>
          <a:prstGeom prst="straightConnector1">
            <a:avLst/>
          </a:prstGeom>
          <a:noFill/>
          <a:ln cap="flat" cmpd="sng" w="25400">
            <a:solidFill>
              <a:srgbClr val="FF6B6B"/>
            </a:solidFill>
            <a:prstDash val="solid"/>
            <a:round/>
            <a:headEnd len="sm" w="sm" type="none"/>
            <a:tailEnd len="sm" w="sm" type="stealth"/>
          </a:ln>
        </p:spPr>
      </p:cxnSp>
      <p:sp>
        <p:nvSpPr>
          <p:cNvPr id="611" name="Google Shape;611;p27"/>
          <p:cNvSpPr/>
          <p:nvPr/>
        </p:nvSpPr>
        <p:spPr>
          <a:xfrm>
            <a:off x="1691640" y="2679192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NO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27"/>
          <p:cNvSpPr/>
          <p:nvPr/>
        </p:nvSpPr>
        <p:spPr>
          <a:xfrm>
            <a:off x="457200" y="3063240"/>
            <a:ext cx="2286000" cy="640080"/>
          </a:xfrm>
          <a:prstGeom prst="rect">
            <a:avLst/>
          </a:prstGeom>
          <a:solidFill>
            <a:srgbClr val="6B7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27"/>
          <p:cNvSpPr/>
          <p:nvPr/>
        </p:nvSpPr>
        <p:spPr>
          <a:xfrm>
            <a:off x="457200" y="3063240"/>
            <a:ext cx="2286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📸  Render page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at 300 DPI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14" name="Google Shape;614;p27"/>
          <p:cNvCxnSpPr/>
          <p:nvPr/>
        </p:nvCxnSpPr>
        <p:spPr>
          <a:xfrm>
            <a:off x="2743200" y="3383280"/>
            <a:ext cx="640080" cy="0"/>
          </a:xfrm>
          <a:prstGeom prst="straightConnector1">
            <a:avLst/>
          </a:prstGeom>
          <a:noFill/>
          <a:ln cap="flat" cmpd="sng" w="25400">
            <a:solidFill>
              <a:srgbClr val="6B7FFF"/>
            </a:solidFill>
            <a:prstDash val="solid"/>
            <a:round/>
            <a:headEnd len="sm" w="sm" type="none"/>
            <a:tailEnd len="sm" w="sm" type="stealth"/>
          </a:ln>
        </p:spPr>
      </p:cxnSp>
      <p:sp>
        <p:nvSpPr>
          <p:cNvPr id="615" name="Google Shape;615;p27"/>
          <p:cNvSpPr/>
          <p:nvPr/>
        </p:nvSpPr>
        <p:spPr>
          <a:xfrm>
            <a:off x="3383280" y="3063240"/>
            <a:ext cx="2103120" cy="640080"/>
          </a:xfrm>
          <a:prstGeom prst="rect">
            <a:avLst/>
          </a:prstGeom>
          <a:solidFill>
            <a:srgbClr val="6B7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p27"/>
          <p:cNvSpPr/>
          <p:nvPr/>
        </p:nvSpPr>
        <p:spPr>
          <a:xfrm>
            <a:off x="3383280" y="3063240"/>
            <a:ext cx="2103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🔤  Tesseract OCR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conf &gt; 60% only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17" name="Google Shape;617;p27"/>
          <p:cNvCxnSpPr>
            <a:stCxn id="609" idx="3"/>
            <a:endCxn id="618" idx="1"/>
          </p:cNvCxnSpPr>
          <p:nvPr/>
        </p:nvCxnSpPr>
        <p:spPr>
          <a:xfrm>
            <a:off x="5486400" y="2331720"/>
            <a:ext cx="640200" cy="525900"/>
          </a:xfrm>
          <a:prstGeom prst="straightConnector1">
            <a:avLst/>
          </a:prstGeom>
          <a:noFill/>
          <a:ln cap="flat" cmpd="sng" w="25400">
            <a:solidFill>
              <a:srgbClr val="4A9EFF"/>
            </a:solidFill>
            <a:prstDash val="solid"/>
            <a:round/>
            <a:headEnd len="sm" w="sm" type="none"/>
            <a:tailEnd len="sm" w="sm" type="stealth"/>
          </a:ln>
        </p:spPr>
      </p:cxnSp>
      <p:cxnSp>
        <p:nvCxnSpPr>
          <p:cNvPr id="619" name="Google Shape;619;p27"/>
          <p:cNvCxnSpPr>
            <a:stCxn id="616" idx="3"/>
            <a:endCxn id="618" idx="1"/>
          </p:cNvCxnSpPr>
          <p:nvPr/>
        </p:nvCxnSpPr>
        <p:spPr>
          <a:xfrm flipH="1" rot="10800000">
            <a:off x="5486400" y="2857380"/>
            <a:ext cx="640200" cy="525900"/>
          </a:xfrm>
          <a:prstGeom prst="straightConnector1">
            <a:avLst/>
          </a:prstGeom>
          <a:noFill/>
          <a:ln cap="flat" cmpd="sng" w="25400">
            <a:solidFill>
              <a:srgbClr val="6B7FFF"/>
            </a:solidFill>
            <a:prstDash val="solid"/>
            <a:round/>
            <a:headEnd len="sm" w="sm" type="none"/>
            <a:tailEnd len="sm" w="sm" type="stealth"/>
          </a:ln>
        </p:spPr>
      </p:cxnSp>
      <p:sp>
        <p:nvSpPr>
          <p:cNvPr id="620" name="Google Shape;620;p27"/>
          <p:cNvSpPr/>
          <p:nvPr/>
        </p:nvSpPr>
        <p:spPr>
          <a:xfrm>
            <a:off x="6126480" y="2356429"/>
            <a:ext cx="2469000" cy="1005900"/>
          </a:xfrm>
          <a:prstGeom prst="rect">
            <a:avLst/>
          </a:prstGeom>
          <a:solidFill>
            <a:srgbClr val="0A0A0F"/>
          </a:solidFill>
          <a:ln>
            <a:noFill/>
          </a:ln>
          <a:effectLst>
            <a:outerShdw blurRad="127000" rotWithShape="0" algn="bl" dir="81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27"/>
          <p:cNvSpPr/>
          <p:nvPr/>
        </p:nvSpPr>
        <p:spPr>
          <a:xfrm>
            <a:off x="6126480" y="2354578"/>
            <a:ext cx="24690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9EFF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4A9EFF"/>
                </a:solidFill>
                <a:latin typeface="Calibri"/>
                <a:ea typeface="Calibri"/>
                <a:cs typeface="Calibri"/>
                <a:sym typeface="Calibri"/>
              </a:rPr>
              <a:t>🧹  Clean text per page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27"/>
          <p:cNvSpPr/>
          <p:nvPr/>
        </p:nvSpPr>
        <p:spPr>
          <a:xfrm>
            <a:off x="3383280" y="3886200"/>
            <a:ext cx="5212080" cy="1005840"/>
          </a:xfrm>
          <a:prstGeom prst="rect">
            <a:avLst/>
          </a:prstGeom>
          <a:solidFill>
            <a:srgbClr val="F2F4F8"/>
          </a:solidFill>
          <a:ln cap="flat" cmpd="sng" w="12700">
            <a:solidFill>
              <a:srgbClr val="2E2E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p27"/>
          <p:cNvSpPr/>
          <p:nvPr/>
        </p:nvSpPr>
        <p:spPr>
          <a:xfrm>
            <a:off x="3383280" y="3886200"/>
            <a:ext cx="137160" cy="1005840"/>
          </a:xfrm>
          <a:prstGeom prst="rect">
            <a:avLst/>
          </a:prstGeom>
          <a:solidFill>
            <a:srgbClr val="FFB8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27"/>
          <p:cNvSpPr/>
          <p:nvPr/>
        </p:nvSpPr>
        <p:spPr>
          <a:xfrm>
            <a:off x="3657600" y="3959352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A0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0A0A0F"/>
                </a:solidFill>
                <a:latin typeface="Calibri"/>
                <a:ea typeface="Calibri"/>
                <a:cs typeface="Calibri"/>
                <a:sym typeface="Calibri"/>
              </a:rPr>
              <a:t>💡  Why 30 characters?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27"/>
          <p:cNvSpPr/>
          <p:nvPr/>
        </p:nvSpPr>
        <p:spPr>
          <a:xfrm>
            <a:off x="3657600" y="4251960"/>
            <a:ext cx="47548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A6B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3A4A6B"/>
                </a:solidFill>
                <a:latin typeface="Calibri"/>
                <a:ea typeface="Calibri"/>
                <a:cs typeface="Calibri"/>
                <a:sym typeface="Calibri"/>
              </a:rPr>
              <a:t>Page numbers, headers, and footers can fool a naive check. At &lt;30 chars, we're confident no meaningful content was embedded — only then do we invoke the (slower) OCR path.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28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28"/>
          <p:cNvSpPr/>
          <p:nvPr/>
        </p:nvSpPr>
        <p:spPr>
          <a:xfrm>
            <a:off x="0" y="0"/>
            <a:ext cx="201168" cy="749808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p28"/>
          <p:cNvSpPr/>
          <p:nvPr/>
        </p:nvSpPr>
        <p:spPr>
          <a:xfrm>
            <a:off x="384048" y="0"/>
            <a:ext cx="822960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STAGE 2</a:t>
            </a:r>
            <a:r>
              <a:rPr b="1" lang="en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b="1" i="0" lang="en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CHUNKING &amp; METADATA TAGGING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28"/>
          <p:cNvSpPr/>
          <p:nvPr/>
        </p:nvSpPr>
        <p:spPr>
          <a:xfrm>
            <a:off x="457200" y="896112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A0F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0A0A0F"/>
                </a:solidFill>
                <a:latin typeface="Calibri"/>
                <a:ea typeface="Calibri"/>
                <a:cs typeface="Calibri"/>
                <a:sym typeface="Calibri"/>
              </a:rPr>
              <a:t>How overlapping windows work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28"/>
          <p:cNvSpPr/>
          <p:nvPr/>
        </p:nvSpPr>
        <p:spPr>
          <a:xfrm>
            <a:off x="457200" y="1325880"/>
            <a:ext cx="8229600" cy="502920"/>
          </a:xfrm>
          <a:prstGeom prst="rect">
            <a:avLst/>
          </a:prstGeom>
          <a:solidFill>
            <a:srgbClr val="F2F4F8"/>
          </a:solidFill>
          <a:ln cap="flat" cmpd="sng" w="12700">
            <a:solidFill>
              <a:srgbClr val="2E2E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5" name="Google Shape;635;p28"/>
          <p:cNvSpPr/>
          <p:nvPr/>
        </p:nvSpPr>
        <p:spPr>
          <a:xfrm>
            <a:off x="502920" y="1353312"/>
            <a:ext cx="81381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A6B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3A4A6B"/>
                </a:solidFill>
                <a:latin typeface="Calibri"/>
                <a:ea typeface="Calibri"/>
                <a:cs typeface="Calibri"/>
                <a:sym typeface="Calibri"/>
              </a:rPr>
              <a:t>...clinical trial Phase II showed that 42% of patients experienced significant reduction in biomarker levels after 8 weeks of treatment at 20mg daily dose with no serious adverse...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28"/>
          <p:cNvSpPr/>
          <p:nvPr/>
        </p:nvSpPr>
        <p:spPr>
          <a:xfrm>
            <a:off x="457200" y="1920240"/>
            <a:ext cx="3474720" cy="411480"/>
          </a:xfrm>
          <a:prstGeom prst="rect">
            <a:avLst/>
          </a:prstGeom>
          <a:solidFill>
            <a:srgbClr val="4A9EFF">
              <a:alpha val="20000"/>
            </a:srgbClr>
          </a:solidFill>
          <a:ln cap="flat" cmpd="sng" w="25400">
            <a:solidFill>
              <a:srgbClr val="4A9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28"/>
          <p:cNvSpPr/>
          <p:nvPr/>
        </p:nvSpPr>
        <p:spPr>
          <a:xfrm>
            <a:off x="502920" y="1947672"/>
            <a:ext cx="3383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9EFF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4A9EFF"/>
                </a:solidFill>
                <a:latin typeface="Calibri"/>
                <a:ea typeface="Calibri"/>
                <a:cs typeface="Calibri"/>
                <a:sym typeface="Calibri"/>
              </a:rPr>
              <a:t>Chunk 1  (400 chars)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28"/>
          <p:cNvSpPr/>
          <p:nvPr/>
        </p:nvSpPr>
        <p:spPr>
          <a:xfrm>
            <a:off x="3204602" y="2657643"/>
            <a:ext cx="3474600" cy="411600"/>
          </a:xfrm>
          <a:prstGeom prst="rect">
            <a:avLst/>
          </a:prstGeom>
          <a:solidFill>
            <a:srgbClr val="6B7FFF">
              <a:alpha val="20000"/>
            </a:srgbClr>
          </a:solidFill>
          <a:ln cap="flat" cmpd="sng" w="25400">
            <a:solidFill>
              <a:srgbClr val="6B7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9" name="Google Shape;639;p28"/>
          <p:cNvSpPr/>
          <p:nvPr/>
        </p:nvSpPr>
        <p:spPr>
          <a:xfrm>
            <a:off x="3250322" y="2685075"/>
            <a:ext cx="33834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FFF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6B7FFF"/>
                </a:solidFill>
                <a:latin typeface="Calibri"/>
                <a:ea typeface="Calibri"/>
                <a:cs typeface="Calibri"/>
                <a:sym typeface="Calibri"/>
              </a:rPr>
              <a:t>Chunk 2  (400 chars, starts 80 chars back = overlap)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28"/>
          <p:cNvSpPr/>
          <p:nvPr/>
        </p:nvSpPr>
        <p:spPr>
          <a:xfrm>
            <a:off x="3204602" y="1920253"/>
            <a:ext cx="731400" cy="1149000"/>
          </a:xfrm>
          <a:prstGeom prst="rect">
            <a:avLst/>
          </a:prstGeom>
          <a:noFill/>
          <a:ln cap="flat" cmpd="sng" w="127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28"/>
          <p:cNvSpPr/>
          <p:nvPr/>
        </p:nvSpPr>
        <p:spPr>
          <a:xfrm>
            <a:off x="3213746" y="2254736"/>
            <a:ext cx="7131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B830"/>
              </a:buClr>
              <a:buSzPts val="750"/>
              <a:buFont typeface="Calibri"/>
              <a:buNone/>
            </a:pPr>
            <a:r>
              <a:rPr b="1" i="0" lang="en" sz="75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80c</a:t>
            </a:r>
            <a:endParaRPr b="0" i="0" sz="75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B830"/>
              </a:buClr>
              <a:buSzPts val="750"/>
              <a:buFont typeface="Calibri"/>
              <a:buNone/>
            </a:pPr>
            <a:r>
              <a:rPr b="1" i="0" lang="en" sz="75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overlap</a:t>
            </a:r>
            <a:endParaRPr b="0" i="0" sz="75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28"/>
          <p:cNvSpPr/>
          <p:nvPr/>
        </p:nvSpPr>
        <p:spPr>
          <a:xfrm>
            <a:off x="384050" y="3035800"/>
            <a:ext cx="8764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A0F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0A0A0F"/>
                </a:solidFill>
                <a:latin typeface="Calibri"/>
                <a:ea typeface="Calibri"/>
                <a:cs typeface="Calibri"/>
                <a:sym typeface="Calibri"/>
              </a:rPr>
              <a:t>Each chunk </a:t>
            </a:r>
            <a:r>
              <a:rPr b="1" lang="en" sz="1200">
                <a:solidFill>
                  <a:srgbClr val="0A0A0F"/>
                </a:solidFill>
                <a:latin typeface="Calibri"/>
                <a:ea typeface="Calibri"/>
                <a:cs typeface="Calibri"/>
                <a:sym typeface="Calibri"/>
              </a:rPr>
              <a:t>includes</a:t>
            </a:r>
            <a:r>
              <a:rPr b="1" i="0" lang="en" sz="1200" u="none" cap="none" strike="noStrike">
                <a:solidFill>
                  <a:srgbClr val="0A0A0F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28"/>
          <p:cNvSpPr/>
          <p:nvPr/>
        </p:nvSpPr>
        <p:spPr>
          <a:xfrm>
            <a:off x="457200" y="3429000"/>
            <a:ext cx="1325880" cy="256032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p28"/>
          <p:cNvSpPr/>
          <p:nvPr/>
        </p:nvSpPr>
        <p:spPr>
          <a:xfrm>
            <a:off x="457200" y="3429000"/>
            <a:ext cx="1325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9EFF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4A9EFF"/>
                </a:solidFill>
                <a:latin typeface="Calibri"/>
                <a:ea typeface="Calibri"/>
                <a:cs typeface="Calibri"/>
                <a:sym typeface="Calibri"/>
              </a:rPr>
              <a:t>source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28"/>
          <p:cNvSpPr/>
          <p:nvPr/>
        </p:nvSpPr>
        <p:spPr>
          <a:xfrm>
            <a:off x="1920240" y="3447288"/>
            <a:ext cx="69494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A6B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3A4A6B"/>
                </a:solidFill>
                <a:latin typeface="Calibri"/>
                <a:ea typeface="Calibri"/>
                <a:cs typeface="Calibri"/>
                <a:sym typeface="Calibri"/>
              </a:rPr>
              <a:t>clinical_trial_phase2.pdf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28"/>
          <p:cNvSpPr/>
          <p:nvPr/>
        </p:nvSpPr>
        <p:spPr>
          <a:xfrm>
            <a:off x="457200" y="3739896"/>
            <a:ext cx="1325880" cy="256032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7" name="Google Shape;647;p28"/>
          <p:cNvSpPr/>
          <p:nvPr/>
        </p:nvSpPr>
        <p:spPr>
          <a:xfrm>
            <a:off x="457200" y="3739896"/>
            <a:ext cx="1325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FFF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6B7FFF"/>
                </a:solidFill>
                <a:latin typeface="Calibri"/>
                <a:ea typeface="Calibri"/>
                <a:cs typeface="Calibri"/>
                <a:sym typeface="Calibri"/>
              </a:rPr>
              <a:t>page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28"/>
          <p:cNvSpPr/>
          <p:nvPr/>
        </p:nvSpPr>
        <p:spPr>
          <a:xfrm>
            <a:off x="1920240" y="3758184"/>
            <a:ext cx="69494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A6B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3A4A6B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28"/>
          <p:cNvSpPr/>
          <p:nvPr/>
        </p:nvSpPr>
        <p:spPr>
          <a:xfrm>
            <a:off x="457200" y="4050792"/>
            <a:ext cx="1325880" cy="256032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0" name="Google Shape;650;p28"/>
          <p:cNvSpPr/>
          <p:nvPr/>
        </p:nvSpPr>
        <p:spPr>
          <a:xfrm>
            <a:off x="457200" y="4050792"/>
            <a:ext cx="1325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doc_type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28"/>
          <p:cNvSpPr/>
          <p:nvPr/>
        </p:nvSpPr>
        <p:spPr>
          <a:xfrm>
            <a:off x="1920240" y="4069080"/>
            <a:ext cx="69494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A6B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3A4A6B"/>
                </a:solidFill>
                <a:latin typeface="Calibri"/>
                <a:ea typeface="Calibri"/>
                <a:cs typeface="Calibri"/>
                <a:sym typeface="Calibri"/>
              </a:rPr>
              <a:t>clinical  |  regulatory  |  label  |  research  |  general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28"/>
          <p:cNvSpPr/>
          <p:nvPr/>
        </p:nvSpPr>
        <p:spPr>
          <a:xfrm>
            <a:off x="457200" y="4361688"/>
            <a:ext cx="1325880" cy="256032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3" name="Google Shape;653;p28"/>
          <p:cNvSpPr/>
          <p:nvPr/>
        </p:nvSpPr>
        <p:spPr>
          <a:xfrm>
            <a:off x="457200" y="4361688"/>
            <a:ext cx="1325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D68C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3DD68C"/>
                </a:solidFill>
                <a:latin typeface="Calibri"/>
                <a:ea typeface="Calibri"/>
                <a:cs typeface="Calibri"/>
                <a:sym typeface="Calibri"/>
              </a:rPr>
              <a:t>method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28"/>
          <p:cNvSpPr/>
          <p:nvPr/>
        </p:nvSpPr>
        <p:spPr>
          <a:xfrm>
            <a:off x="1920240" y="4379976"/>
            <a:ext cx="69494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A6B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3A4A6B"/>
                </a:solidFill>
                <a:latin typeface="Calibri"/>
                <a:ea typeface="Calibri"/>
                <a:cs typeface="Calibri"/>
                <a:sym typeface="Calibri"/>
              </a:rPr>
              <a:t>"digital"  or  "ocr"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28"/>
          <p:cNvSpPr/>
          <p:nvPr/>
        </p:nvSpPr>
        <p:spPr>
          <a:xfrm>
            <a:off x="457200" y="4672584"/>
            <a:ext cx="1325880" cy="256032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6" name="Google Shape;656;p28"/>
          <p:cNvSpPr/>
          <p:nvPr/>
        </p:nvSpPr>
        <p:spPr>
          <a:xfrm>
            <a:off x="457200" y="4672584"/>
            <a:ext cx="1325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chunk_id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p28"/>
          <p:cNvSpPr/>
          <p:nvPr/>
        </p:nvSpPr>
        <p:spPr>
          <a:xfrm>
            <a:off x="1920240" y="4690872"/>
            <a:ext cx="69494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A6B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3A4A6B"/>
                </a:solidFill>
                <a:latin typeface="Calibri"/>
                <a:ea typeface="Calibri"/>
                <a:cs typeface="Calibri"/>
                <a:sym typeface="Calibri"/>
              </a:rPr>
              <a:t>0 … N  (sequential, for FAISS index alignment)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29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4" name="Google Shape;664;p29"/>
          <p:cNvSpPr/>
          <p:nvPr/>
        </p:nvSpPr>
        <p:spPr>
          <a:xfrm>
            <a:off x="0" y="0"/>
            <a:ext cx="201168" cy="749808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p29"/>
          <p:cNvSpPr/>
          <p:nvPr/>
        </p:nvSpPr>
        <p:spPr>
          <a:xfrm>
            <a:off x="384048" y="0"/>
            <a:ext cx="822960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STAGE 3</a:t>
            </a:r>
            <a:r>
              <a:rPr b="1" lang="en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b="1" i="0" lang="en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EMBEDDINGS &amp; FAISS INDEX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29"/>
          <p:cNvSpPr/>
          <p:nvPr/>
        </p:nvSpPr>
        <p:spPr>
          <a:xfrm>
            <a:off x="365760" y="914400"/>
            <a:ext cx="4023360" cy="3977640"/>
          </a:xfrm>
          <a:prstGeom prst="rect">
            <a:avLst/>
          </a:prstGeom>
          <a:solidFill>
            <a:srgbClr val="F2F4F8"/>
          </a:solidFill>
          <a:ln cap="flat" cmpd="sng" w="12700">
            <a:solidFill>
              <a:srgbClr val="2E2E4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29"/>
          <p:cNvSpPr/>
          <p:nvPr/>
        </p:nvSpPr>
        <p:spPr>
          <a:xfrm>
            <a:off x="365760" y="914400"/>
            <a:ext cx="4023360" cy="4572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29"/>
          <p:cNvSpPr/>
          <p:nvPr/>
        </p:nvSpPr>
        <p:spPr>
          <a:xfrm>
            <a:off x="548640" y="96012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9EFF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4A9EFF"/>
                </a:solidFill>
                <a:latin typeface="Calibri"/>
                <a:ea typeface="Calibri"/>
                <a:cs typeface="Calibri"/>
                <a:sym typeface="Calibri"/>
              </a:rPr>
              <a:t>🧠  all-MiniLM-L6-v2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29"/>
          <p:cNvSpPr/>
          <p:nvPr/>
        </p:nvSpPr>
        <p:spPr>
          <a:xfrm>
            <a:off x="594360" y="1508760"/>
            <a:ext cx="1554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A6B"/>
              </a:buClr>
              <a:buSzPts val="950"/>
              <a:buFont typeface="Calibri"/>
              <a:buNone/>
            </a:pPr>
            <a:r>
              <a:rPr b="1" i="0" lang="en" sz="950" u="none" cap="none" strike="noStrike">
                <a:solidFill>
                  <a:srgbClr val="3A4A6B"/>
                </a:solidFill>
                <a:latin typeface="Calibri"/>
                <a:ea typeface="Calibri"/>
                <a:cs typeface="Calibri"/>
                <a:sym typeface="Calibri"/>
              </a:rPr>
              <a:t>Parameters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29"/>
          <p:cNvSpPr/>
          <p:nvPr/>
        </p:nvSpPr>
        <p:spPr>
          <a:xfrm>
            <a:off x="2194560" y="1508760"/>
            <a:ext cx="2011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A0F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0A0A0F"/>
                </a:solidFill>
                <a:latin typeface="Calibri"/>
                <a:ea typeface="Calibri"/>
                <a:cs typeface="Calibri"/>
                <a:sym typeface="Calibri"/>
              </a:rPr>
              <a:t>22M  (lightweight)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71" name="Google Shape;671;p29"/>
          <p:cNvCxnSpPr/>
          <p:nvPr/>
        </p:nvCxnSpPr>
        <p:spPr>
          <a:xfrm>
            <a:off x="594360" y="1874520"/>
            <a:ext cx="3566160" cy="0"/>
          </a:xfrm>
          <a:prstGeom prst="straightConnector1">
            <a:avLst/>
          </a:prstGeom>
          <a:noFill/>
          <a:ln cap="flat" cmpd="sng" w="9525">
            <a:solidFill>
              <a:srgbClr val="2E2E4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72" name="Google Shape;672;p29"/>
          <p:cNvSpPr/>
          <p:nvPr/>
        </p:nvSpPr>
        <p:spPr>
          <a:xfrm>
            <a:off x="594360" y="2002536"/>
            <a:ext cx="1554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A6B"/>
              </a:buClr>
              <a:buSzPts val="950"/>
              <a:buFont typeface="Calibri"/>
              <a:buNone/>
            </a:pPr>
            <a:r>
              <a:rPr b="1" i="0" lang="en" sz="950" u="none" cap="none" strike="noStrike">
                <a:solidFill>
                  <a:srgbClr val="3A4A6B"/>
                </a:solidFill>
                <a:latin typeface="Calibri"/>
                <a:ea typeface="Calibri"/>
                <a:cs typeface="Calibri"/>
                <a:sym typeface="Calibri"/>
              </a:rPr>
              <a:t>Vector size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p29"/>
          <p:cNvSpPr/>
          <p:nvPr/>
        </p:nvSpPr>
        <p:spPr>
          <a:xfrm>
            <a:off x="2194560" y="2002536"/>
            <a:ext cx="2011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A0F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0A0A0F"/>
                </a:solidFill>
                <a:latin typeface="Calibri"/>
                <a:ea typeface="Calibri"/>
                <a:cs typeface="Calibri"/>
                <a:sym typeface="Calibri"/>
              </a:rPr>
              <a:t>384 dimensions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74" name="Google Shape;674;p29"/>
          <p:cNvCxnSpPr/>
          <p:nvPr/>
        </p:nvCxnSpPr>
        <p:spPr>
          <a:xfrm>
            <a:off x="594360" y="2368296"/>
            <a:ext cx="3566160" cy="0"/>
          </a:xfrm>
          <a:prstGeom prst="straightConnector1">
            <a:avLst/>
          </a:prstGeom>
          <a:noFill/>
          <a:ln cap="flat" cmpd="sng" w="9525">
            <a:solidFill>
              <a:srgbClr val="2E2E4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75" name="Google Shape;675;p29"/>
          <p:cNvSpPr/>
          <p:nvPr/>
        </p:nvSpPr>
        <p:spPr>
          <a:xfrm>
            <a:off x="594360" y="2496312"/>
            <a:ext cx="1554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A6B"/>
              </a:buClr>
              <a:buSzPts val="950"/>
              <a:buFont typeface="Calibri"/>
              <a:buNone/>
            </a:pPr>
            <a:r>
              <a:rPr b="1" i="0" lang="en" sz="950" u="none" cap="none" strike="noStrike">
                <a:solidFill>
                  <a:srgbClr val="3A4A6B"/>
                </a:solidFill>
                <a:latin typeface="Calibri"/>
                <a:ea typeface="Calibri"/>
                <a:cs typeface="Calibri"/>
                <a:sym typeface="Calibri"/>
              </a:rPr>
              <a:t>License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29"/>
          <p:cNvSpPr/>
          <p:nvPr/>
        </p:nvSpPr>
        <p:spPr>
          <a:xfrm>
            <a:off x="2194560" y="2496312"/>
            <a:ext cx="2011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A0F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0A0A0F"/>
                </a:solidFill>
                <a:latin typeface="Calibri"/>
                <a:ea typeface="Calibri"/>
                <a:cs typeface="Calibri"/>
                <a:sym typeface="Calibri"/>
              </a:rPr>
              <a:t>Open-source (Apache 2.0)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77" name="Google Shape;677;p29"/>
          <p:cNvCxnSpPr/>
          <p:nvPr/>
        </p:nvCxnSpPr>
        <p:spPr>
          <a:xfrm>
            <a:off x="594360" y="2862072"/>
            <a:ext cx="3566160" cy="0"/>
          </a:xfrm>
          <a:prstGeom prst="straightConnector1">
            <a:avLst/>
          </a:prstGeom>
          <a:noFill/>
          <a:ln cap="flat" cmpd="sng" w="9525">
            <a:solidFill>
              <a:srgbClr val="2E2E4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78" name="Google Shape;678;p29"/>
          <p:cNvSpPr/>
          <p:nvPr/>
        </p:nvSpPr>
        <p:spPr>
          <a:xfrm>
            <a:off x="594360" y="2990088"/>
            <a:ext cx="1554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A6B"/>
              </a:buClr>
              <a:buSzPts val="950"/>
              <a:buFont typeface="Calibri"/>
              <a:buNone/>
            </a:pPr>
            <a:r>
              <a:rPr b="1" i="0" lang="en" sz="950" u="none" cap="none" strike="noStrike">
                <a:solidFill>
                  <a:srgbClr val="3A4A6B"/>
                </a:solidFill>
                <a:latin typeface="Calibri"/>
                <a:ea typeface="Calibri"/>
                <a:cs typeface="Calibri"/>
                <a:sym typeface="Calibri"/>
              </a:rPr>
              <a:t>Speed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29"/>
          <p:cNvSpPr/>
          <p:nvPr/>
        </p:nvSpPr>
        <p:spPr>
          <a:xfrm>
            <a:off x="2194560" y="2990088"/>
            <a:ext cx="2011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A0F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0A0A0F"/>
                </a:solidFill>
                <a:latin typeface="Calibri"/>
                <a:ea typeface="Calibri"/>
                <a:cs typeface="Calibri"/>
                <a:sym typeface="Calibri"/>
              </a:rPr>
              <a:t>~2,000 chunks/min on CPU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80" name="Google Shape;680;p29"/>
          <p:cNvCxnSpPr/>
          <p:nvPr/>
        </p:nvCxnSpPr>
        <p:spPr>
          <a:xfrm>
            <a:off x="594360" y="3355848"/>
            <a:ext cx="3566160" cy="0"/>
          </a:xfrm>
          <a:prstGeom prst="straightConnector1">
            <a:avLst/>
          </a:prstGeom>
          <a:noFill/>
          <a:ln cap="flat" cmpd="sng" w="9525">
            <a:solidFill>
              <a:srgbClr val="2E2E4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81" name="Google Shape;681;p29"/>
          <p:cNvSpPr/>
          <p:nvPr/>
        </p:nvSpPr>
        <p:spPr>
          <a:xfrm>
            <a:off x="594360" y="3483864"/>
            <a:ext cx="1554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A6B"/>
              </a:buClr>
              <a:buSzPts val="950"/>
              <a:buFont typeface="Calibri"/>
              <a:buNone/>
            </a:pPr>
            <a:r>
              <a:rPr b="1" i="0" lang="en" sz="950" u="none" cap="none" strike="noStrike">
                <a:solidFill>
                  <a:srgbClr val="3A4A6B"/>
                </a:solidFill>
                <a:latin typeface="Calibri"/>
                <a:ea typeface="Calibri"/>
                <a:cs typeface="Calibri"/>
                <a:sym typeface="Calibri"/>
              </a:rPr>
              <a:t>Why not OpenAI?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29"/>
          <p:cNvSpPr/>
          <p:nvPr/>
        </p:nvSpPr>
        <p:spPr>
          <a:xfrm>
            <a:off x="2194560" y="3483864"/>
            <a:ext cx="2011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A0F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0A0A0F"/>
                </a:solidFill>
                <a:latin typeface="Calibri"/>
                <a:ea typeface="Calibri"/>
                <a:cs typeface="Calibri"/>
                <a:sym typeface="Calibri"/>
              </a:rPr>
              <a:t>No API key needed — fully local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83" name="Google Shape;683;p29"/>
          <p:cNvCxnSpPr/>
          <p:nvPr/>
        </p:nvCxnSpPr>
        <p:spPr>
          <a:xfrm>
            <a:off x="594360" y="3849624"/>
            <a:ext cx="3566160" cy="0"/>
          </a:xfrm>
          <a:prstGeom prst="straightConnector1">
            <a:avLst/>
          </a:prstGeom>
          <a:noFill/>
          <a:ln cap="flat" cmpd="sng" w="9525">
            <a:solidFill>
              <a:srgbClr val="2E2E4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84" name="Google Shape;684;p29"/>
          <p:cNvSpPr/>
          <p:nvPr/>
        </p:nvSpPr>
        <p:spPr>
          <a:xfrm>
            <a:off x="594360" y="3977640"/>
            <a:ext cx="1554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A6B"/>
              </a:buClr>
              <a:buSzPts val="950"/>
              <a:buFont typeface="Calibri"/>
              <a:buNone/>
            </a:pPr>
            <a:r>
              <a:rPr b="1" i="0" lang="en" sz="950" u="none" cap="none" strike="noStrike">
                <a:solidFill>
                  <a:srgbClr val="3A4A6B"/>
                </a:solidFill>
                <a:latin typeface="Calibri"/>
                <a:ea typeface="Calibri"/>
                <a:cs typeface="Calibri"/>
                <a:sym typeface="Calibri"/>
              </a:rPr>
              <a:t>Why not larger?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p29"/>
          <p:cNvSpPr/>
          <p:nvPr/>
        </p:nvSpPr>
        <p:spPr>
          <a:xfrm>
            <a:off x="2194560" y="3977640"/>
            <a:ext cx="2011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A0F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0A0A0F"/>
                </a:solidFill>
                <a:latin typeface="Calibri"/>
                <a:ea typeface="Calibri"/>
                <a:cs typeface="Calibri"/>
                <a:sym typeface="Calibri"/>
              </a:rPr>
              <a:t>Speed/quality tradeoff — MiniLM matches larger models on doc retrieval tasks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Google Shape;686;p29"/>
          <p:cNvSpPr/>
          <p:nvPr/>
        </p:nvSpPr>
        <p:spPr>
          <a:xfrm>
            <a:off x="4709160" y="914400"/>
            <a:ext cx="4069080" cy="3977640"/>
          </a:xfrm>
          <a:prstGeom prst="rect">
            <a:avLst/>
          </a:prstGeom>
          <a:solidFill>
            <a:srgbClr val="F2F4F8"/>
          </a:solidFill>
          <a:ln cap="flat" cmpd="sng" w="12700">
            <a:solidFill>
              <a:srgbClr val="2E2E4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29"/>
          <p:cNvSpPr/>
          <p:nvPr/>
        </p:nvSpPr>
        <p:spPr>
          <a:xfrm>
            <a:off x="4709160" y="914400"/>
            <a:ext cx="4069080" cy="4572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8" name="Google Shape;688;p29"/>
          <p:cNvSpPr/>
          <p:nvPr/>
        </p:nvSpPr>
        <p:spPr>
          <a:xfrm>
            <a:off x="4892040" y="96012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9EFF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4A9EFF"/>
                </a:solidFill>
                <a:latin typeface="Calibri"/>
                <a:ea typeface="Calibri"/>
                <a:cs typeface="Calibri"/>
                <a:sym typeface="Calibri"/>
              </a:rPr>
              <a:t>🗂️  FAISS IndexFlatL2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p29"/>
          <p:cNvSpPr/>
          <p:nvPr/>
        </p:nvSpPr>
        <p:spPr>
          <a:xfrm>
            <a:off x="4892040" y="1508760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A6B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3A4A6B"/>
                </a:solidFill>
                <a:latin typeface="Calibri"/>
                <a:ea typeface="Calibri"/>
                <a:cs typeface="Calibri"/>
                <a:sym typeface="Calibri"/>
              </a:rPr>
              <a:t>What FAISS does: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p29"/>
          <p:cNvSpPr/>
          <p:nvPr/>
        </p:nvSpPr>
        <p:spPr>
          <a:xfrm>
            <a:off x="4892040" y="1828800"/>
            <a:ext cx="3657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A0F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0A0A0F"/>
                </a:solidFill>
                <a:latin typeface="Calibri"/>
                <a:ea typeface="Calibri"/>
                <a:cs typeface="Calibri"/>
                <a:sym typeface="Calibri"/>
              </a:rPr>
              <a:t>Stores chunk vectors and finds the mathematically closest ones to your query vector in milliseconds — like a search engine, but for meaning rather than keywords.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p29"/>
          <p:cNvSpPr/>
          <p:nvPr/>
        </p:nvSpPr>
        <p:spPr>
          <a:xfrm>
            <a:off x="4892040" y="2697480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A6B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3A4A6B"/>
                </a:solidFill>
                <a:latin typeface="Calibri"/>
                <a:ea typeface="Calibri"/>
                <a:cs typeface="Calibri"/>
                <a:sym typeface="Calibri"/>
              </a:rPr>
              <a:t>Why FlatL2 (exact search)?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" name="Google Shape;692;p29"/>
          <p:cNvSpPr/>
          <p:nvPr/>
        </p:nvSpPr>
        <p:spPr>
          <a:xfrm>
            <a:off x="4892040" y="3017520"/>
            <a:ext cx="3657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A0F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0A0A0F"/>
                </a:solidFill>
                <a:latin typeface="Calibri"/>
                <a:ea typeface="Calibri"/>
                <a:cs typeface="Calibri"/>
                <a:sym typeface="Calibri"/>
              </a:rPr>
              <a:t>At our scale (hundreds of documents, ~10K chunks max), exact search is fast enough. Approximate methods like IVFFlat would add complexity without meaningful speed gains.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29"/>
          <p:cNvSpPr/>
          <p:nvPr/>
        </p:nvSpPr>
        <p:spPr>
          <a:xfrm>
            <a:off x="4892040" y="3886200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A6B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3A4A6B"/>
                </a:solidFill>
                <a:latin typeface="Calibri"/>
                <a:ea typeface="Calibri"/>
                <a:cs typeface="Calibri"/>
                <a:sym typeface="Calibri"/>
              </a:rPr>
              <a:t>Confidence score: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p29"/>
          <p:cNvSpPr/>
          <p:nvPr/>
        </p:nvSpPr>
        <p:spPr>
          <a:xfrm>
            <a:off x="4892040" y="4224528"/>
            <a:ext cx="3657600" cy="50292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29"/>
          <p:cNvSpPr/>
          <p:nvPr/>
        </p:nvSpPr>
        <p:spPr>
          <a:xfrm>
            <a:off x="4892040" y="4224528"/>
            <a:ext cx="3657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confidence = max(0,  1 − L2_distance ÷ 20)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p3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2" name="Google Shape;702;p30"/>
          <p:cNvSpPr/>
          <p:nvPr/>
        </p:nvSpPr>
        <p:spPr>
          <a:xfrm>
            <a:off x="0" y="0"/>
            <a:ext cx="201168" cy="749808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30"/>
          <p:cNvSpPr/>
          <p:nvPr/>
        </p:nvSpPr>
        <p:spPr>
          <a:xfrm>
            <a:off x="384048" y="0"/>
            <a:ext cx="822960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STAGE 4</a:t>
            </a:r>
            <a:r>
              <a:rPr b="1" lang="en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b="1" i="0" lang="en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RETRIEVAL &amp; PROMPT ENGINEERING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p30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A0F"/>
              </a:buClr>
              <a:buSzPts val="1150"/>
              <a:buFont typeface="Calibri"/>
              <a:buNone/>
            </a:pPr>
            <a:r>
              <a:rPr b="1" i="0" lang="en" sz="1150" u="none" cap="none" strike="noStrike">
                <a:solidFill>
                  <a:srgbClr val="0A0A0F"/>
                </a:solidFill>
                <a:latin typeface="Calibri"/>
                <a:ea typeface="Calibri"/>
                <a:cs typeface="Calibri"/>
                <a:sym typeface="Calibri"/>
              </a:rPr>
              <a:t>What happens when you ask a question: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" name="Google Shape;705;p30"/>
          <p:cNvSpPr/>
          <p:nvPr/>
        </p:nvSpPr>
        <p:spPr>
          <a:xfrm>
            <a:off x="365760" y="1389888"/>
            <a:ext cx="347472" cy="347472"/>
          </a:xfrm>
          <a:prstGeom prst="ellipse">
            <a:avLst/>
          </a:prstGeom>
          <a:solidFill>
            <a:srgbClr val="4A9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6" name="Google Shape;706;p30"/>
          <p:cNvSpPr/>
          <p:nvPr/>
        </p:nvSpPr>
        <p:spPr>
          <a:xfrm>
            <a:off x="365760" y="1389888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07" name="Google Shape;707;p30"/>
          <p:cNvCxnSpPr/>
          <p:nvPr/>
        </p:nvCxnSpPr>
        <p:spPr>
          <a:xfrm>
            <a:off x="539496" y="1746504"/>
            <a:ext cx="0" cy="128016"/>
          </a:xfrm>
          <a:prstGeom prst="straightConnector1">
            <a:avLst/>
          </a:prstGeom>
          <a:noFill/>
          <a:ln cap="flat" cmpd="sng" w="19050">
            <a:solidFill>
              <a:srgbClr val="2E2E4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08" name="Google Shape;708;p30"/>
          <p:cNvSpPr/>
          <p:nvPr/>
        </p:nvSpPr>
        <p:spPr>
          <a:xfrm>
            <a:off x="868680" y="1408176"/>
            <a:ext cx="21945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A0F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0A0A0F"/>
                </a:solidFill>
                <a:latin typeface="Calibri"/>
                <a:ea typeface="Calibri"/>
                <a:cs typeface="Calibri"/>
                <a:sym typeface="Calibri"/>
              </a:rPr>
              <a:t>Embed query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9" name="Google Shape;709;p30"/>
          <p:cNvSpPr/>
          <p:nvPr/>
        </p:nvSpPr>
        <p:spPr>
          <a:xfrm>
            <a:off x="3108960" y="1408176"/>
            <a:ext cx="5669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A6B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3A4A6B"/>
                </a:solidFill>
                <a:latin typeface="Calibri"/>
                <a:ea typeface="Calibri"/>
                <a:cs typeface="Calibri"/>
                <a:sym typeface="Calibri"/>
              </a:rPr>
              <a:t>Same MiniLM model → 384-dim vector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0" name="Google Shape;710;p30"/>
          <p:cNvSpPr/>
          <p:nvPr/>
        </p:nvSpPr>
        <p:spPr>
          <a:xfrm>
            <a:off x="365760" y="1883664"/>
            <a:ext cx="347472" cy="347472"/>
          </a:xfrm>
          <a:prstGeom prst="ellipse">
            <a:avLst/>
          </a:prstGeom>
          <a:solidFill>
            <a:srgbClr val="6B7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30"/>
          <p:cNvSpPr/>
          <p:nvPr/>
        </p:nvSpPr>
        <p:spPr>
          <a:xfrm>
            <a:off x="365760" y="1883664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12" name="Google Shape;712;p30"/>
          <p:cNvCxnSpPr/>
          <p:nvPr/>
        </p:nvCxnSpPr>
        <p:spPr>
          <a:xfrm>
            <a:off x="539496" y="2240280"/>
            <a:ext cx="0" cy="128016"/>
          </a:xfrm>
          <a:prstGeom prst="straightConnector1">
            <a:avLst/>
          </a:prstGeom>
          <a:noFill/>
          <a:ln cap="flat" cmpd="sng" w="19050">
            <a:solidFill>
              <a:srgbClr val="2E2E4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13" name="Google Shape;713;p30"/>
          <p:cNvSpPr/>
          <p:nvPr/>
        </p:nvSpPr>
        <p:spPr>
          <a:xfrm>
            <a:off x="868680" y="1901952"/>
            <a:ext cx="21945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A0F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0A0A0F"/>
                </a:solidFill>
                <a:latin typeface="Calibri"/>
                <a:ea typeface="Calibri"/>
                <a:cs typeface="Calibri"/>
                <a:sym typeface="Calibri"/>
              </a:rPr>
              <a:t>FAISS search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30"/>
          <p:cNvSpPr/>
          <p:nvPr/>
        </p:nvSpPr>
        <p:spPr>
          <a:xfrm>
            <a:off x="3108960" y="1901952"/>
            <a:ext cx="5669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A6B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3A4A6B"/>
                </a:solidFill>
                <a:latin typeface="Calibri"/>
                <a:ea typeface="Calibri"/>
                <a:cs typeface="Calibri"/>
                <a:sym typeface="Calibri"/>
              </a:rPr>
              <a:t>Top-4 nearest chunk vectors returned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5" name="Google Shape;715;p30"/>
          <p:cNvSpPr/>
          <p:nvPr/>
        </p:nvSpPr>
        <p:spPr>
          <a:xfrm>
            <a:off x="365760" y="2377440"/>
            <a:ext cx="347472" cy="347472"/>
          </a:xfrm>
          <a:prstGeom prst="ellipse">
            <a:avLst/>
          </a:prstGeom>
          <a:solidFill>
            <a:srgbClr val="4A5A8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6" name="Google Shape;716;p30"/>
          <p:cNvSpPr/>
          <p:nvPr/>
        </p:nvSpPr>
        <p:spPr>
          <a:xfrm>
            <a:off x="365760" y="237744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17" name="Google Shape;717;p30"/>
          <p:cNvCxnSpPr/>
          <p:nvPr/>
        </p:nvCxnSpPr>
        <p:spPr>
          <a:xfrm>
            <a:off x="539496" y="2734056"/>
            <a:ext cx="0" cy="128016"/>
          </a:xfrm>
          <a:prstGeom prst="straightConnector1">
            <a:avLst/>
          </a:prstGeom>
          <a:noFill/>
          <a:ln cap="flat" cmpd="sng" w="19050">
            <a:solidFill>
              <a:srgbClr val="2E2E4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18" name="Google Shape;718;p30"/>
          <p:cNvSpPr/>
          <p:nvPr/>
        </p:nvSpPr>
        <p:spPr>
          <a:xfrm>
            <a:off x="868680" y="2395728"/>
            <a:ext cx="21945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A0F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0A0A0F"/>
                </a:solidFill>
                <a:latin typeface="Calibri"/>
                <a:ea typeface="Calibri"/>
                <a:cs typeface="Calibri"/>
                <a:sym typeface="Calibri"/>
              </a:rPr>
              <a:t>Filter (optional)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p30"/>
          <p:cNvSpPr/>
          <p:nvPr/>
        </p:nvSpPr>
        <p:spPr>
          <a:xfrm>
            <a:off x="3108960" y="2395728"/>
            <a:ext cx="5669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A6B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3A4A6B"/>
                </a:solidFill>
                <a:latin typeface="Calibri"/>
                <a:ea typeface="Calibri"/>
                <a:cs typeface="Calibri"/>
                <a:sym typeface="Calibri"/>
              </a:rPr>
              <a:t>doc_type filter applied — e.g. only 'clinical' chunks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" name="Google Shape;720;p30"/>
          <p:cNvSpPr/>
          <p:nvPr/>
        </p:nvSpPr>
        <p:spPr>
          <a:xfrm>
            <a:off x="365760" y="2871216"/>
            <a:ext cx="347472" cy="347472"/>
          </a:xfrm>
          <a:prstGeom prst="ellipse">
            <a:avLst/>
          </a:prstGeom>
          <a:solidFill>
            <a:srgbClr val="6B7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1" name="Google Shape;721;p30"/>
          <p:cNvSpPr/>
          <p:nvPr/>
        </p:nvSpPr>
        <p:spPr>
          <a:xfrm>
            <a:off x="365760" y="2871216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22" name="Google Shape;722;p30"/>
          <p:cNvCxnSpPr/>
          <p:nvPr/>
        </p:nvCxnSpPr>
        <p:spPr>
          <a:xfrm>
            <a:off x="539496" y="3227832"/>
            <a:ext cx="0" cy="128016"/>
          </a:xfrm>
          <a:prstGeom prst="straightConnector1">
            <a:avLst/>
          </a:prstGeom>
          <a:noFill/>
          <a:ln cap="flat" cmpd="sng" w="19050">
            <a:solidFill>
              <a:srgbClr val="2E2E4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23" name="Google Shape;723;p30"/>
          <p:cNvSpPr/>
          <p:nvPr/>
        </p:nvSpPr>
        <p:spPr>
          <a:xfrm>
            <a:off x="868680" y="2889504"/>
            <a:ext cx="21945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A0F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0A0A0F"/>
                </a:solidFill>
                <a:latin typeface="Calibri"/>
                <a:ea typeface="Calibri"/>
                <a:cs typeface="Calibri"/>
                <a:sym typeface="Calibri"/>
              </a:rPr>
              <a:t>Build prompt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4" name="Google Shape;724;p30"/>
          <p:cNvSpPr/>
          <p:nvPr/>
        </p:nvSpPr>
        <p:spPr>
          <a:xfrm>
            <a:off x="3108960" y="2889504"/>
            <a:ext cx="5669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A6B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3A4A6B"/>
                </a:solidFill>
                <a:latin typeface="Calibri"/>
                <a:ea typeface="Calibri"/>
                <a:cs typeface="Calibri"/>
                <a:sym typeface="Calibri"/>
              </a:rPr>
              <a:t>Chunks + instructions assembled into a structured prompt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5" name="Google Shape;725;p30"/>
          <p:cNvSpPr/>
          <p:nvPr/>
        </p:nvSpPr>
        <p:spPr>
          <a:xfrm>
            <a:off x="365760" y="3364992"/>
            <a:ext cx="347472" cy="347472"/>
          </a:xfrm>
          <a:prstGeom prst="ellipse">
            <a:avLst/>
          </a:prstGeom>
          <a:solidFill>
            <a:srgbClr val="3DD6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6" name="Google Shape;726;p30"/>
          <p:cNvSpPr/>
          <p:nvPr/>
        </p:nvSpPr>
        <p:spPr>
          <a:xfrm>
            <a:off x="365760" y="3364992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7" name="Google Shape;727;p30"/>
          <p:cNvSpPr/>
          <p:nvPr/>
        </p:nvSpPr>
        <p:spPr>
          <a:xfrm>
            <a:off x="868680" y="3383280"/>
            <a:ext cx="21945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A0F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0A0A0F"/>
                </a:solidFill>
                <a:latin typeface="Calibri"/>
                <a:ea typeface="Calibri"/>
                <a:cs typeface="Calibri"/>
                <a:sym typeface="Calibri"/>
              </a:rPr>
              <a:t>Flan-T5 generates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8" name="Google Shape;728;p30"/>
          <p:cNvSpPr/>
          <p:nvPr/>
        </p:nvSpPr>
        <p:spPr>
          <a:xfrm>
            <a:off x="3108960" y="3383280"/>
            <a:ext cx="5669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A6B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3A4A6B"/>
                </a:solidFill>
                <a:latin typeface="Calibri"/>
                <a:ea typeface="Calibri"/>
                <a:cs typeface="Calibri"/>
                <a:sym typeface="Calibri"/>
              </a:rPr>
              <a:t>Answer grounded to context only, with source citations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9" name="Google Shape;729;p30"/>
          <p:cNvSpPr/>
          <p:nvPr/>
        </p:nvSpPr>
        <p:spPr>
          <a:xfrm>
            <a:off x="365760" y="3931920"/>
            <a:ext cx="8412480" cy="1005840"/>
          </a:xfrm>
          <a:prstGeom prst="rect">
            <a:avLst/>
          </a:prstGeom>
          <a:solidFill>
            <a:srgbClr val="0A0A0F"/>
          </a:solidFill>
          <a:ln>
            <a:noFill/>
          </a:ln>
          <a:effectLst>
            <a:outerShdw blurRad="127000" rotWithShape="0" algn="bl" dir="81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0" name="Google Shape;730;p30"/>
          <p:cNvSpPr/>
          <p:nvPr/>
        </p:nvSpPr>
        <p:spPr>
          <a:xfrm>
            <a:off x="640080" y="4005072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9EFF"/>
              </a:buClr>
              <a:buSzPts val="950"/>
              <a:buFont typeface="Calibri"/>
              <a:buNone/>
            </a:pPr>
            <a:r>
              <a:rPr b="1" i="0" lang="en" sz="950" u="none" cap="none" strike="noStrike">
                <a:solidFill>
                  <a:srgbClr val="4A9EFF"/>
                </a:solidFill>
                <a:latin typeface="Calibri"/>
                <a:ea typeface="Calibri"/>
                <a:cs typeface="Calibri"/>
                <a:sym typeface="Calibri"/>
              </a:rPr>
              <a:t>Prompt anatomy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30"/>
          <p:cNvSpPr/>
          <p:nvPr/>
        </p:nvSpPr>
        <p:spPr>
          <a:xfrm>
            <a:off x="640080" y="4315968"/>
            <a:ext cx="7955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[System instruction: answer from context only, cite source + page, say "not found" if unsure]  →  [Context 1: clinical_trial.pdf p.3 — ...]  →  [Context 2: ...]  →  [Question: ...]  →  Answer: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31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8" name="Google Shape;738;p31"/>
          <p:cNvSpPr/>
          <p:nvPr/>
        </p:nvSpPr>
        <p:spPr>
          <a:xfrm>
            <a:off x="0" y="0"/>
            <a:ext cx="201168" cy="749808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9" name="Google Shape;739;p31"/>
          <p:cNvSpPr/>
          <p:nvPr/>
        </p:nvSpPr>
        <p:spPr>
          <a:xfrm>
            <a:off x="384048" y="0"/>
            <a:ext cx="822960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STAGE 5</a:t>
            </a:r>
            <a:r>
              <a:rPr b="1" lang="en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b="1" i="0" lang="en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LLM: WHY FLAN-T5?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0" name="Google Shape;740;p3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A0F"/>
              </a:buClr>
              <a:buSzPts val="1150"/>
              <a:buFont typeface="Calibri"/>
              <a:buNone/>
            </a:pPr>
            <a:r>
              <a:rPr b="1" i="0" lang="en" sz="1150" u="none" cap="none" strike="noStrike">
                <a:solidFill>
                  <a:srgbClr val="0A0A0F"/>
                </a:solidFill>
                <a:latin typeface="Calibri"/>
                <a:ea typeface="Calibri"/>
                <a:cs typeface="Calibri"/>
                <a:sym typeface="Calibri"/>
              </a:rPr>
              <a:t>Choosing the right open-source LLM for this project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1" name="Google Shape;741;p31"/>
          <p:cNvSpPr/>
          <p:nvPr/>
        </p:nvSpPr>
        <p:spPr>
          <a:xfrm>
            <a:off x="365760" y="1353312"/>
            <a:ext cx="1920240" cy="4572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2" name="Google Shape;742;p31"/>
          <p:cNvSpPr/>
          <p:nvPr/>
        </p:nvSpPr>
        <p:spPr>
          <a:xfrm>
            <a:off x="438912" y="1353312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9EFF"/>
              </a:buClr>
              <a:buSzPts val="950"/>
              <a:buFont typeface="Calibri"/>
              <a:buNone/>
            </a:pPr>
            <a:r>
              <a:rPr b="1" i="0" lang="en" sz="950" u="none" cap="none" strike="noStrike">
                <a:solidFill>
                  <a:srgbClr val="4A9EFF"/>
                </a:solidFill>
                <a:latin typeface="Calibri"/>
                <a:ea typeface="Calibri"/>
                <a:cs typeface="Calibri"/>
                <a:sym typeface="Calibri"/>
              </a:rPr>
              <a:t>Model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3" name="Google Shape;743;p31"/>
          <p:cNvSpPr/>
          <p:nvPr/>
        </p:nvSpPr>
        <p:spPr>
          <a:xfrm>
            <a:off x="2286000" y="1353312"/>
            <a:ext cx="777240" cy="4572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4" name="Google Shape;744;p31"/>
          <p:cNvSpPr/>
          <p:nvPr/>
        </p:nvSpPr>
        <p:spPr>
          <a:xfrm>
            <a:off x="2359152" y="1353312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9EFF"/>
              </a:buClr>
              <a:buSzPts val="950"/>
              <a:buFont typeface="Calibri"/>
              <a:buNone/>
            </a:pPr>
            <a:r>
              <a:rPr b="1" i="0" lang="en" sz="950" u="none" cap="none" strike="noStrike">
                <a:solidFill>
                  <a:srgbClr val="4A9EFF"/>
                </a:solidFill>
                <a:latin typeface="Calibri"/>
                <a:ea typeface="Calibri"/>
                <a:cs typeface="Calibri"/>
                <a:sym typeface="Calibri"/>
              </a:rPr>
              <a:t>Size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5" name="Google Shape;745;p31"/>
          <p:cNvSpPr/>
          <p:nvPr/>
        </p:nvSpPr>
        <p:spPr>
          <a:xfrm>
            <a:off x="3063240" y="1353312"/>
            <a:ext cx="1143000" cy="4572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6" name="Google Shape;746;p31"/>
          <p:cNvSpPr/>
          <p:nvPr/>
        </p:nvSpPr>
        <p:spPr>
          <a:xfrm>
            <a:off x="3136392" y="1353312"/>
            <a:ext cx="1051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9EFF"/>
              </a:buClr>
              <a:buSzPts val="950"/>
              <a:buFont typeface="Calibri"/>
              <a:buNone/>
            </a:pPr>
            <a:r>
              <a:rPr b="1" i="0" lang="en" sz="950" u="none" cap="none" strike="noStrike">
                <a:solidFill>
                  <a:srgbClr val="4A9EFF"/>
                </a:solidFill>
                <a:latin typeface="Calibri"/>
                <a:ea typeface="Calibri"/>
                <a:cs typeface="Calibri"/>
                <a:sym typeface="Calibri"/>
              </a:rPr>
              <a:t>Needs GPU?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31"/>
          <p:cNvSpPr/>
          <p:nvPr/>
        </p:nvSpPr>
        <p:spPr>
          <a:xfrm>
            <a:off x="4206240" y="1353312"/>
            <a:ext cx="1600200" cy="4572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8" name="Google Shape;748;p31"/>
          <p:cNvSpPr/>
          <p:nvPr/>
        </p:nvSpPr>
        <p:spPr>
          <a:xfrm>
            <a:off x="4279392" y="1353312"/>
            <a:ext cx="1508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9EFF"/>
              </a:buClr>
              <a:buSzPts val="950"/>
              <a:buFont typeface="Calibri"/>
              <a:buNone/>
            </a:pPr>
            <a:r>
              <a:rPr b="1" i="0" lang="en" sz="950" u="none" cap="none" strike="noStrike">
                <a:solidFill>
                  <a:srgbClr val="4A9EFF"/>
                </a:solidFill>
                <a:latin typeface="Calibri"/>
                <a:ea typeface="Calibri"/>
                <a:cs typeface="Calibri"/>
                <a:sym typeface="Calibri"/>
              </a:rPr>
              <a:t>Instruction-tuned?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9" name="Google Shape;749;p31"/>
          <p:cNvSpPr/>
          <p:nvPr/>
        </p:nvSpPr>
        <p:spPr>
          <a:xfrm>
            <a:off x="5806440" y="1353312"/>
            <a:ext cx="1371600" cy="4572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0" name="Google Shape;750;p31"/>
          <p:cNvSpPr/>
          <p:nvPr/>
        </p:nvSpPr>
        <p:spPr>
          <a:xfrm>
            <a:off x="5879592" y="1353312"/>
            <a:ext cx="1280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9EFF"/>
              </a:buClr>
              <a:buSzPts val="950"/>
              <a:buFont typeface="Calibri"/>
              <a:buNone/>
            </a:pPr>
            <a:r>
              <a:rPr b="1" i="0" lang="en" sz="950" u="none" cap="none" strike="noStrike">
                <a:solidFill>
                  <a:srgbClr val="4A9EFF"/>
                </a:solidFill>
                <a:latin typeface="Calibri"/>
                <a:ea typeface="Calibri"/>
                <a:cs typeface="Calibri"/>
                <a:sym typeface="Calibri"/>
              </a:rPr>
              <a:t>Good for Q&amp;A?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1" name="Google Shape;751;p31"/>
          <p:cNvSpPr/>
          <p:nvPr/>
        </p:nvSpPr>
        <p:spPr>
          <a:xfrm>
            <a:off x="7178040" y="1353312"/>
            <a:ext cx="1920240" cy="4572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2" name="Google Shape;752;p31"/>
          <p:cNvSpPr/>
          <p:nvPr/>
        </p:nvSpPr>
        <p:spPr>
          <a:xfrm>
            <a:off x="7251192" y="1353312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9EFF"/>
              </a:buClr>
              <a:buSzPts val="950"/>
              <a:buFont typeface="Calibri"/>
              <a:buNone/>
            </a:pPr>
            <a:r>
              <a:rPr b="1" i="0" lang="en" sz="950" u="none" cap="none" strike="noStrike">
                <a:solidFill>
                  <a:srgbClr val="4A9EFF"/>
                </a:solidFill>
                <a:latin typeface="Calibri"/>
                <a:ea typeface="Calibri"/>
                <a:cs typeface="Calibri"/>
                <a:sym typeface="Calibri"/>
              </a:rPr>
              <a:t>Chosen?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3" name="Google Shape;753;p31"/>
          <p:cNvSpPr/>
          <p:nvPr/>
        </p:nvSpPr>
        <p:spPr>
          <a:xfrm>
            <a:off x="365760" y="1810512"/>
            <a:ext cx="1920240" cy="457200"/>
          </a:xfrm>
          <a:prstGeom prst="rect">
            <a:avLst/>
          </a:prstGeom>
          <a:solidFill>
            <a:srgbClr val="4A9EFF"/>
          </a:solidFill>
          <a:ln cap="flat" cmpd="sng" w="9525">
            <a:solidFill>
              <a:srgbClr val="2E2E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4" name="Google Shape;754;p31"/>
          <p:cNvSpPr/>
          <p:nvPr/>
        </p:nvSpPr>
        <p:spPr>
          <a:xfrm>
            <a:off x="438912" y="1810512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Flan-T5-base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5" name="Google Shape;755;p31"/>
          <p:cNvSpPr/>
          <p:nvPr/>
        </p:nvSpPr>
        <p:spPr>
          <a:xfrm>
            <a:off x="2286000" y="1810512"/>
            <a:ext cx="777240" cy="457200"/>
          </a:xfrm>
          <a:prstGeom prst="rect">
            <a:avLst/>
          </a:prstGeom>
          <a:solidFill>
            <a:srgbClr val="4A5A8B"/>
          </a:solidFill>
          <a:ln cap="flat" cmpd="sng" w="9525">
            <a:solidFill>
              <a:srgbClr val="2E2E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6" name="Google Shape;756;p31"/>
          <p:cNvSpPr/>
          <p:nvPr/>
        </p:nvSpPr>
        <p:spPr>
          <a:xfrm>
            <a:off x="2359152" y="1810512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250M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p31"/>
          <p:cNvSpPr/>
          <p:nvPr/>
        </p:nvSpPr>
        <p:spPr>
          <a:xfrm>
            <a:off x="3063240" y="1810512"/>
            <a:ext cx="1143000" cy="457200"/>
          </a:xfrm>
          <a:prstGeom prst="rect">
            <a:avLst/>
          </a:prstGeom>
          <a:solidFill>
            <a:srgbClr val="4A5A8B"/>
          </a:solidFill>
          <a:ln cap="flat" cmpd="sng" w="9525">
            <a:solidFill>
              <a:srgbClr val="2E2E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8" name="Google Shape;758;p31"/>
          <p:cNvSpPr/>
          <p:nvPr/>
        </p:nvSpPr>
        <p:spPr>
          <a:xfrm>
            <a:off x="3136392" y="1810512"/>
            <a:ext cx="1051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 (CPU ✅)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9" name="Google Shape;759;p31"/>
          <p:cNvSpPr/>
          <p:nvPr/>
        </p:nvSpPr>
        <p:spPr>
          <a:xfrm>
            <a:off x="4206240" y="1810512"/>
            <a:ext cx="1600200" cy="457200"/>
          </a:xfrm>
          <a:prstGeom prst="rect">
            <a:avLst/>
          </a:prstGeom>
          <a:solidFill>
            <a:srgbClr val="4A5A8B"/>
          </a:solidFill>
          <a:ln cap="flat" cmpd="sng" w="9525">
            <a:solidFill>
              <a:srgbClr val="2E2E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0" name="Google Shape;760;p31"/>
          <p:cNvSpPr/>
          <p:nvPr/>
        </p:nvSpPr>
        <p:spPr>
          <a:xfrm>
            <a:off x="4279392" y="1810512"/>
            <a:ext cx="1508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Yes ✅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1" name="Google Shape;761;p31"/>
          <p:cNvSpPr/>
          <p:nvPr/>
        </p:nvSpPr>
        <p:spPr>
          <a:xfrm>
            <a:off x="5806440" y="1810512"/>
            <a:ext cx="1371600" cy="457200"/>
          </a:xfrm>
          <a:prstGeom prst="rect">
            <a:avLst/>
          </a:prstGeom>
          <a:solidFill>
            <a:srgbClr val="4A5A8B"/>
          </a:solidFill>
          <a:ln cap="flat" cmpd="sng" w="9525">
            <a:solidFill>
              <a:srgbClr val="2E2E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2" name="Google Shape;762;p31"/>
          <p:cNvSpPr/>
          <p:nvPr/>
        </p:nvSpPr>
        <p:spPr>
          <a:xfrm>
            <a:off x="5879592" y="1810512"/>
            <a:ext cx="1280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Yes ✅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3" name="Google Shape;763;p31"/>
          <p:cNvSpPr/>
          <p:nvPr/>
        </p:nvSpPr>
        <p:spPr>
          <a:xfrm>
            <a:off x="7178040" y="1810512"/>
            <a:ext cx="1920240" cy="457200"/>
          </a:xfrm>
          <a:prstGeom prst="rect">
            <a:avLst/>
          </a:prstGeom>
          <a:solidFill>
            <a:srgbClr val="4A5A8B"/>
          </a:solidFill>
          <a:ln cap="flat" cmpd="sng" w="9525">
            <a:solidFill>
              <a:srgbClr val="2E2E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4" name="Google Shape;764;p31"/>
          <p:cNvSpPr/>
          <p:nvPr/>
        </p:nvSpPr>
        <p:spPr>
          <a:xfrm>
            <a:off x="7251192" y="1810512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✅ YES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5" name="Google Shape;765;p31"/>
          <p:cNvSpPr/>
          <p:nvPr/>
        </p:nvSpPr>
        <p:spPr>
          <a:xfrm>
            <a:off x="365760" y="2267712"/>
            <a:ext cx="19202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2E2E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6" name="Google Shape;766;p31"/>
          <p:cNvSpPr/>
          <p:nvPr/>
        </p:nvSpPr>
        <p:spPr>
          <a:xfrm>
            <a:off x="438912" y="2267712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A0F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0A0A0F"/>
                </a:solidFill>
                <a:latin typeface="Calibri"/>
                <a:ea typeface="Calibri"/>
                <a:cs typeface="Calibri"/>
                <a:sym typeface="Calibri"/>
              </a:rPr>
              <a:t>GPT-2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7" name="Google Shape;767;p31"/>
          <p:cNvSpPr/>
          <p:nvPr/>
        </p:nvSpPr>
        <p:spPr>
          <a:xfrm>
            <a:off x="2286000" y="2267712"/>
            <a:ext cx="7772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2E2E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8" name="Google Shape;768;p31"/>
          <p:cNvSpPr/>
          <p:nvPr/>
        </p:nvSpPr>
        <p:spPr>
          <a:xfrm>
            <a:off x="2359152" y="2267712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A0F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0A0A0F"/>
                </a:solidFill>
                <a:latin typeface="Calibri"/>
                <a:ea typeface="Calibri"/>
                <a:cs typeface="Calibri"/>
                <a:sym typeface="Calibri"/>
              </a:rPr>
              <a:t>117M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9" name="Google Shape;769;p31"/>
          <p:cNvSpPr/>
          <p:nvPr/>
        </p:nvSpPr>
        <p:spPr>
          <a:xfrm>
            <a:off x="3063240" y="2267712"/>
            <a:ext cx="114300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2E2E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0" name="Google Shape;770;p31"/>
          <p:cNvSpPr/>
          <p:nvPr/>
        </p:nvSpPr>
        <p:spPr>
          <a:xfrm>
            <a:off x="3136392" y="2267712"/>
            <a:ext cx="1051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A0F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0A0A0F"/>
                </a:solidFill>
                <a:latin typeface="Calibri"/>
                <a:ea typeface="Calibri"/>
                <a:cs typeface="Calibri"/>
                <a:sym typeface="Calibri"/>
              </a:rPr>
              <a:t>No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1" name="Google Shape;771;p31"/>
          <p:cNvSpPr/>
          <p:nvPr/>
        </p:nvSpPr>
        <p:spPr>
          <a:xfrm>
            <a:off x="4206240" y="2267712"/>
            <a:ext cx="160020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2E2E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2" name="Google Shape;772;p31"/>
          <p:cNvSpPr/>
          <p:nvPr/>
        </p:nvSpPr>
        <p:spPr>
          <a:xfrm>
            <a:off x="4279392" y="2267712"/>
            <a:ext cx="1508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No ❌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Google Shape;773;p31"/>
          <p:cNvSpPr/>
          <p:nvPr/>
        </p:nvSpPr>
        <p:spPr>
          <a:xfrm>
            <a:off x="5806440" y="2267712"/>
            <a:ext cx="137160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2E2E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4" name="Google Shape;774;p31"/>
          <p:cNvSpPr/>
          <p:nvPr/>
        </p:nvSpPr>
        <p:spPr>
          <a:xfrm>
            <a:off x="5879592" y="2267712"/>
            <a:ext cx="1280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Weak ❌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5" name="Google Shape;775;p31"/>
          <p:cNvSpPr/>
          <p:nvPr/>
        </p:nvSpPr>
        <p:spPr>
          <a:xfrm>
            <a:off x="7178040" y="2267712"/>
            <a:ext cx="19202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2E2E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6" name="Google Shape;776;p31"/>
          <p:cNvSpPr/>
          <p:nvPr/>
        </p:nvSpPr>
        <p:spPr>
          <a:xfrm>
            <a:off x="7251192" y="2267712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7" name="Google Shape;777;p31"/>
          <p:cNvSpPr/>
          <p:nvPr/>
        </p:nvSpPr>
        <p:spPr>
          <a:xfrm>
            <a:off x="365760" y="2724912"/>
            <a:ext cx="1920240" cy="457200"/>
          </a:xfrm>
          <a:prstGeom prst="rect">
            <a:avLst/>
          </a:prstGeom>
          <a:solidFill>
            <a:srgbClr val="F2F4F8"/>
          </a:solidFill>
          <a:ln cap="flat" cmpd="sng" w="9525">
            <a:solidFill>
              <a:srgbClr val="2E2E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8" name="Google Shape;778;p31"/>
          <p:cNvSpPr/>
          <p:nvPr/>
        </p:nvSpPr>
        <p:spPr>
          <a:xfrm>
            <a:off x="438912" y="2724912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A0F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0A0A0F"/>
                </a:solidFill>
                <a:latin typeface="Calibri"/>
                <a:ea typeface="Calibri"/>
                <a:cs typeface="Calibri"/>
                <a:sym typeface="Calibri"/>
              </a:rPr>
              <a:t>Mistral-7B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9" name="Google Shape;779;p31"/>
          <p:cNvSpPr/>
          <p:nvPr/>
        </p:nvSpPr>
        <p:spPr>
          <a:xfrm>
            <a:off x="2286000" y="2724912"/>
            <a:ext cx="777240" cy="457200"/>
          </a:xfrm>
          <a:prstGeom prst="rect">
            <a:avLst/>
          </a:prstGeom>
          <a:solidFill>
            <a:srgbClr val="F2F4F8"/>
          </a:solidFill>
          <a:ln cap="flat" cmpd="sng" w="9525">
            <a:solidFill>
              <a:srgbClr val="2E2E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0" name="Google Shape;780;p31"/>
          <p:cNvSpPr/>
          <p:nvPr/>
        </p:nvSpPr>
        <p:spPr>
          <a:xfrm>
            <a:off x="2359152" y="2724912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A0F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0A0A0F"/>
                </a:solidFill>
                <a:latin typeface="Calibri"/>
                <a:ea typeface="Calibri"/>
                <a:cs typeface="Calibri"/>
                <a:sym typeface="Calibri"/>
              </a:rPr>
              <a:t>7B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1" name="Google Shape;781;p31"/>
          <p:cNvSpPr/>
          <p:nvPr/>
        </p:nvSpPr>
        <p:spPr>
          <a:xfrm>
            <a:off x="3063240" y="2724912"/>
            <a:ext cx="1143000" cy="457200"/>
          </a:xfrm>
          <a:prstGeom prst="rect">
            <a:avLst/>
          </a:prstGeom>
          <a:solidFill>
            <a:srgbClr val="F2F4F8"/>
          </a:solidFill>
          <a:ln cap="flat" cmpd="sng" w="9525">
            <a:solidFill>
              <a:srgbClr val="2E2E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2" name="Google Shape;782;p31"/>
          <p:cNvSpPr/>
          <p:nvPr/>
        </p:nvSpPr>
        <p:spPr>
          <a:xfrm>
            <a:off x="3136392" y="2724912"/>
            <a:ext cx="1051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A0F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0A0A0F"/>
                </a:solidFill>
                <a:latin typeface="Calibri"/>
                <a:ea typeface="Calibri"/>
                <a:cs typeface="Calibri"/>
                <a:sym typeface="Calibri"/>
              </a:rPr>
              <a:t>Strongly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3" name="Google Shape;783;p31"/>
          <p:cNvSpPr/>
          <p:nvPr/>
        </p:nvSpPr>
        <p:spPr>
          <a:xfrm>
            <a:off x="4206240" y="2724912"/>
            <a:ext cx="1600200" cy="457200"/>
          </a:xfrm>
          <a:prstGeom prst="rect">
            <a:avLst/>
          </a:prstGeom>
          <a:solidFill>
            <a:srgbClr val="F2F4F8"/>
          </a:solidFill>
          <a:ln cap="flat" cmpd="sng" w="9525">
            <a:solidFill>
              <a:srgbClr val="2E2E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4" name="Google Shape;784;p31"/>
          <p:cNvSpPr/>
          <p:nvPr/>
        </p:nvSpPr>
        <p:spPr>
          <a:xfrm>
            <a:off x="4279392" y="2724912"/>
            <a:ext cx="1508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D68C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3DD68C"/>
                </a:solidFill>
                <a:latin typeface="Calibri"/>
                <a:ea typeface="Calibri"/>
                <a:cs typeface="Calibri"/>
                <a:sym typeface="Calibri"/>
              </a:rPr>
              <a:t>Yes ✅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5" name="Google Shape;785;p31"/>
          <p:cNvSpPr/>
          <p:nvPr/>
        </p:nvSpPr>
        <p:spPr>
          <a:xfrm>
            <a:off x="5806440" y="2724912"/>
            <a:ext cx="1371600" cy="457200"/>
          </a:xfrm>
          <a:prstGeom prst="rect">
            <a:avLst/>
          </a:prstGeom>
          <a:solidFill>
            <a:srgbClr val="F2F4F8"/>
          </a:solidFill>
          <a:ln cap="flat" cmpd="sng" w="9525">
            <a:solidFill>
              <a:srgbClr val="2E2E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6" name="Google Shape;786;p31"/>
          <p:cNvSpPr/>
          <p:nvPr/>
        </p:nvSpPr>
        <p:spPr>
          <a:xfrm>
            <a:off x="5879592" y="2724912"/>
            <a:ext cx="1280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D68C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3DD68C"/>
                </a:solidFill>
                <a:latin typeface="Calibri"/>
                <a:ea typeface="Calibri"/>
                <a:cs typeface="Calibri"/>
                <a:sym typeface="Calibri"/>
              </a:rPr>
              <a:t>Excellent ✅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7" name="Google Shape;787;p31"/>
          <p:cNvSpPr/>
          <p:nvPr/>
        </p:nvSpPr>
        <p:spPr>
          <a:xfrm>
            <a:off x="7178040" y="2724912"/>
            <a:ext cx="1920240" cy="457200"/>
          </a:xfrm>
          <a:prstGeom prst="rect">
            <a:avLst/>
          </a:prstGeom>
          <a:solidFill>
            <a:srgbClr val="F2F4F8"/>
          </a:solidFill>
          <a:ln cap="flat" cmpd="sng" w="9525">
            <a:solidFill>
              <a:srgbClr val="2E2E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8" name="Google Shape;788;p31"/>
          <p:cNvSpPr/>
          <p:nvPr/>
        </p:nvSpPr>
        <p:spPr>
          <a:xfrm>
            <a:off x="7251192" y="2724912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A0F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0A0A0F"/>
                </a:solidFill>
                <a:latin typeface="Calibri"/>
                <a:ea typeface="Calibri"/>
                <a:cs typeface="Calibri"/>
                <a:sym typeface="Calibri"/>
              </a:rPr>
              <a:t>Too heavy for demo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9" name="Google Shape;789;p31"/>
          <p:cNvSpPr/>
          <p:nvPr/>
        </p:nvSpPr>
        <p:spPr>
          <a:xfrm>
            <a:off x="365760" y="3182112"/>
            <a:ext cx="19202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2E2E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0" name="Google Shape;790;p31"/>
          <p:cNvSpPr/>
          <p:nvPr/>
        </p:nvSpPr>
        <p:spPr>
          <a:xfrm>
            <a:off x="438912" y="3182112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A0F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0A0A0F"/>
                </a:solidFill>
                <a:latin typeface="Calibri"/>
                <a:ea typeface="Calibri"/>
                <a:cs typeface="Calibri"/>
                <a:sym typeface="Calibri"/>
              </a:rPr>
              <a:t>LLaMA-3-8B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1" name="Google Shape;791;p31"/>
          <p:cNvSpPr/>
          <p:nvPr/>
        </p:nvSpPr>
        <p:spPr>
          <a:xfrm>
            <a:off x="2286000" y="3182112"/>
            <a:ext cx="7772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2E2E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2" name="Google Shape;792;p31"/>
          <p:cNvSpPr/>
          <p:nvPr/>
        </p:nvSpPr>
        <p:spPr>
          <a:xfrm>
            <a:off x="2359152" y="3182112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A0F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0A0A0F"/>
                </a:solidFill>
                <a:latin typeface="Calibri"/>
                <a:ea typeface="Calibri"/>
                <a:cs typeface="Calibri"/>
                <a:sym typeface="Calibri"/>
              </a:rPr>
              <a:t>8B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3" name="Google Shape;793;p31"/>
          <p:cNvSpPr/>
          <p:nvPr/>
        </p:nvSpPr>
        <p:spPr>
          <a:xfrm>
            <a:off x="3063240" y="3182112"/>
            <a:ext cx="114300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2E2E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4" name="Google Shape;794;p31"/>
          <p:cNvSpPr/>
          <p:nvPr/>
        </p:nvSpPr>
        <p:spPr>
          <a:xfrm>
            <a:off x="3136392" y="3182112"/>
            <a:ext cx="1051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A0F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0A0A0F"/>
                </a:solidFill>
                <a:latin typeface="Calibri"/>
                <a:ea typeface="Calibri"/>
                <a:cs typeface="Calibri"/>
                <a:sym typeface="Calibri"/>
              </a:rPr>
              <a:t>Yes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5" name="Google Shape;795;p31"/>
          <p:cNvSpPr/>
          <p:nvPr/>
        </p:nvSpPr>
        <p:spPr>
          <a:xfrm>
            <a:off x="4206240" y="3182112"/>
            <a:ext cx="160020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2E2E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6" name="Google Shape;796;p31"/>
          <p:cNvSpPr/>
          <p:nvPr/>
        </p:nvSpPr>
        <p:spPr>
          <a:xfrm>
            <a:off x="4279392" y="3182112"/>
            <a:ext cx="1508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D68C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3DD68C"/>
                </a:solidFill>
                <a:latin typeface="Calibri"/>
                <a:ea typeface="Calibri"/>
                <a:cs typeface="Calibri"/>
                <a:sym typeface="Calibri"/>
              </a:rPr>
              <a:t>Yes ✅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7" name="Google Shape;797;p31"/>
          <p:cNvSpPr/>
          <p:nvPr/>
        </p:nvSpPr>
        <p:spPr>
          <a:xfrm>
            <a:off x="5806440" y="3182112"/>
            <a:ext cx="137160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2E2E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8" name="Google Shape;798;p31"/>
          <p:cNvSpPr/>
          <p:nvPr/>
        </p:nvSpPr>
        <p:spPr>
          <a:xfrm>
            <a:off x="5879592" y="3182112"/>
            <a:ext cx="1280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D68C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3DD68C"/>
                </a:solidFill>
                <a:latin typeface="Calibri"/>
                <a:ea typeface="Calibri"/>
                <a:cs typeface="Calibri"/>
                <a:sym typeface="Calibri"/>
              </a:rPr>
              <a:t>Excellent ✅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9" name="Google Shape;799;p31"/>
          <p:cNvSpPr/>
          <p:nvPr/>
        </p:nvSpPr>
        <p:spPr>
          <a:xfrm>
            <a:off x="7178040" y="3182112"/>
            <a:ext cx="19202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2E2E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0" name="Google Shape;800;p31"/>
          <p:cNvSpPr/>
          <p:nvPr/>
        </p:nvSpPr>
        <p:spPr>
          <a:xfrm>
            <a:off x="7251192" y="3182112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A0F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0A0A0F"/>
                </a:solidFill>
                <a:latin typeface="Calibri"/>
                <a:ea typeface="Calibri"/>
                <a:cs typeface="Calibri"/>
                <a:sym typeface="Calibri"/>
              </a:rPr>
              <a:t>Requires Ollama setup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1" name="Google Shape;801;p31"/>
          <p:cNvSpPr/>
          <p:nvPr/>
        </p:nvSpPr>
        <p:spPr>
          <a:xfrm>
            <a:off x="365760" y="3639312"/>
            <a:ext cx="1920240" cy="457200"/>
          </a:xfrm>
          <a:prstGeom prst="rect">
            <a:avLst/>
          </a:prstGeom>
          <a:solidFill>
            <a:srgbClr val="F2F4F8"/>
          </a:solidFill>
          <a:ln cap="flat" cmpd="sng" w="9525">
            <a:solidFill>
              <a:srgbClr val="2E2E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2" name="Google Shape;802;p31"/>
          <p:cNvSpPr/>
          <p:nvPr/>
        </p:nvSpPr>
        <p:spPr>
          <a:xfrm>
            <a:off x="438912" y="3639312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A0F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0A0A0F"/>
                </a:solidFill>
                <a:latin typeface="Calibri"/>
                <a:ea typeface="Calibri"/>
                <a:cs typeface="Calibri"/>
                <a:sym typeface="Calibri"/>
              </a:rPr>
              <a:t>OpenAI GPT-4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3" name="Google Shape;803;p31"/>
          <p:cNvSpPr/>
          <p:nvPr/>
        </p:nvSpPr>
        <p:spPr>
          <a:xfrm>
            <a:off x="2286000" y="3639312"/>
            <a:ext cx="777240" cy="457200"/>
          </a:xfrm>
          <a:prstGeom prst="rect">
            <a:avLst/>
          </a:prstGeom>
          <a:solidFill>
            <a:srgbClr val="F2F4F8"/>
          </a:solidFill>
          <a:ln cap="flat" cmpd="sng" w="9525">
            <a:solidFill>
              <a:srgbClr val="2E2E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4" name="Google Shape;804;p31"/>
          <p:cNvSpPr/>
          <p:nvPr/>
        </p:nvSpPr>
        <p:spPr>
          <a:xfrm>
            <a:off x="2359152" y="3639312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A0F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0A0A0F"/>
                </a:solidFill>
                <a:latin typeface="Calibri"/>
                <a:ea typeface="Calibri"/>
                <a:cs typeface="Calibri"/>
                <a:sym typeface="Calibri"/>
              </a:rPr>
              <a:t>–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5" name="Google Shape;805;p31"/>
          <p:cNvSpPr/>
          <p:nvPr/>
        </p:nvSpPr>
        <p:spPr>
          <a:xfrm>
            <a:off x="3063240" y="3639312"/>
            <a:ext cx="1143000" cy="457200"/>
          </a:xfrm>
          <a:prstGeom prst="rect">
            <a:avLst/>
          </a:prstGeom>
          <a:solidFill>
            <a:srgbClr val="F2F4F8"/>
          </a:solidFill>
          <a:ln cap="flat" cmpd="sng" w="9525">
            <a:solidFill>
              <a:srgbClr val="2E2E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6" name="Google Shape;806;p31"/>
          <p:cNvSpPr/>
          <p:nvPr/>
        </p:nvSpPr>
        <p:spPr>
          <a:xfrm>
            <a:off x="3136392" y="3639312"/>
            <a:ext cx="1051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A0F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0A0A0F"/>
                </a:solidFill>
                <a:latin typeface="Calibri"/>
                <a:ea typeface="Calibri"/>
                <a:cs typeface="Calibri"/>
                <a:sym typeface="Calibri"/>
              </a:rPr>
              <a:t>API only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7" name="Google Shape;807;p31"/>
          <p:cNvSpPr/>
          <p:nvPr/>
        </p:nvSpPr>
        <p:spPr>
          <a:xfrm>
            <a:off x="4206240" y="3639312"/>
            <a:ext cx="1600200" cy="457200"/>
          </a:xfrm>
          <a:prstGeom prst="rect">
            <a:avLst/>
          </a:prstGeom>
          <a:solidFill>
            <a:srgbClr val="F2F4F8"/>
          </a:solidFill>
          <a:ln cap="flat" cmpd="sng" w="9525">
            <a:solidFill>
              <a:srgbClr val="2E2E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8" name="Google Shape;808;p31"/>
          <p:cNvSpPr/>
          <p:nvPr/>
        </p:nvSpPr>
        <p:spPr>
          <a:xfrm>
            <a:off x="4279392" y="3639312"/>
            <a:ext cx="1508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D68C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3DD68C"/>
                </a:solidFill>
                <a:latin typeface="Calibri"/>
                <a:ea typeface="Calibri"/>
                <a:cs typeface="Calibri"/>
                <a:sym typeface="Calibri"/>
              </a:rPr>
              <a:t>Yes ✅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9" name="Google Shape;809;p31"/>
          <p:cNvSpPr/>
          <p:nvPr/>
        </p:nvSpPr>
        <p:spPr>
          <a:xfrm>
            <a:off x="5806440" y="3639312"/>
            <a:ext cx="1371600" cy="457200"/>
          </a:xfrm>
          <a:prstGeom prst="rect">
            <a:avLst/>
          </a:prstGeom>
          <a:solidFill>
            <a:srgbClr val="F2F4F8"/>
          </a:solidFill>
          <a:ln cap="flat" cmpd="sng" w="9525">
            <a:solidFill>
              <a:srgbClr val="2E2E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0" name="Google Shape;810;p31"/>
          <p:cNvSpPr/>
          <p:nvPr/>
        </p:nvSpPr>
        <p:spPr>
          <a:xfrm>
            <a:off x="5879592" y="3639312"/>
            <a:ext cx="1280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D68C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3DD68C"/>
                </a:solidFill>
                <a:latin typeface="Calibri"/>
                <a:ea typeface="Calibri"/>
                <a:cs typeface="Calibri"/>
                <a:sym typeface="Calibri"/>
              </a:rPr>
              <a:t>Best ✅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1" name="Google Shape;811;p31"/>
          <p:cNvSpPr/>
          <p:nvPr/>
        </p:nvSpPr>
        <p:spPr>
          <a:xfrm>
            <a:off x="7178040" y="3639312"/>
            <a:ext cx="1920240" cy="457200"/>
          </a:xfrm>
          <a:prstGeom prst="rect">
            <a:avLst/>
          </a:prstGeom>
          <a:solidFill>
            <a:srgbClr val="F2F4F8"/>
          </a:solidFill>
          <a:ln cap="flat" cmpd="sng" w="9525">
            <a:solidFill>
              <a:srgbClr val="2E2E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2" name="Google Shape;812;p31"/>
          <p:cNvSpPr/>
          <p:nvPr/>
        </p:nvSpPr>
        <p:spPr>
          <a:xfrm>
            <a:off x="7251192" y="3639312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A0F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0A0A0F"/>
                </a:solidFill>
                <a:latin typeface="Calibri"/>
                <a:ea typeface="Calibri"/>
                <a:cs typeface="Calibri"/>
                <a:sym typeface="Calibri"/>
              </a:rPr>
              <a:t>No API key allowed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3" name="Google Shape;813;p31"/>
          <p:cNvSpPr/>
          <p:nvPr/>
        </p:nvSpPr>
        <p:spPr>
          <a:xfrm>
            <a:off x="365760" y="4114800"/>
            <a:ext cx="8412480" cy="777240"/>
          </a:xfrm>
          <a:prstGeom prst="rect">
            <a:avLst/>
          </a:prstGeom>
          <a:solidFill>
            <a:srgbClr val="F2F4F8"/>
          </a:solidFill>
          <a:ln cap="flat" cmpd="sng" w="12700">
            <a:solidFill>
              <a:srgbClr val="2E2E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4" name="Google Shape;814;p31"/>
          <p:cNvSpPr/>
          <p:nvPr/>
        </p:nvSpPr>
        <p:spPr>
          <a:xfrm>
            <a:off x="365760" y="4114800"/>
            <a:ext cx="137160" cy="77724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5" name="Google Shape;815;p31"/>
          <p:cNvSpPr/>
          <p:nvPr/>
        </p:nvSpPr>
        <p:spPr>
          <a:xfrm>
            <a:off x="640080" y="4206240"/>
            <a:ext cx="7955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A6B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3A4A6B"/>
                </a:solidFill>
                <a:latin typeface="Calibri"/>
                <a:ea typeface="Calibri"/>
                <a:cs typeface="Calibri"/>
                <a:sym typeface="Calibri"/>
              </a:rPr>
              <a:t>Flan-T5 is instruction-tuned (unlike vanilla GPT-2), runs on CPU without a GPU, and follows prompts like "cite the source" reliably — making it the right fit for a constrained, local deployment.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p32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2" name="Google Shape;822;p32"/>
          <p:cNvSpPr/>
          <p:nvPr/>
        </p:nvSpPr>
        <p:spPr>
          <a:xfrm>
            <a:off x="0" y="0"/>
            <a:ext cx="201168" cy="749808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3" name="Google Shape;823;p32"/>
          <p:cNvSpPr/>
          <p:nvPr/>
        </p:nvSpPr>
        <p:spPr>
          <a:xfrm>
            <a:off x="384048" y="0"/>
            <a:ext cx="822960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STAGE 6: </a:t>
            </a:r>
            <a:r>
              <a:rPr b="1" i="0" lang="en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GRADIO UI — USER </a:t>
            </a:r>
            <a:r>
              <a:rPr b="1" lang="en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INTERFACE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4" name="Google Shape;824;p32"/>
          <p:cNvSpPr/>
          <p:nvPr/>
        </p:nvSpPr>
        <p:spPr>
          <a:xfrm>
            <a:off x="320040" y="868680"/>
            <a:ext cx="8503920" cy="4069080"/>
          </a:xfrm>
          <a:prstGeom prst="rect">
            <a:avLst/>
          </a:prstGeom>
          <a:solidFill>
            <a:srgbClr val="141420"/>
          </a:solidFill>
          <a:ln>
            <a:noFill/>
          </a:ln>
          <a:effectLst>
            <a:outerShdw blurRad="127000" rotWithShape="0" algn="bl" dir="81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5" name="Google Shape;825;p32"/>
          <p:cNvSpPr/>
          <p:nvPr/>
        </p:nvSpPr>
        <p:spPr>
          <a:xfrm>
            <a:off x="320040" y="868680"/>
            <a:ext cx="8503920" cy="2743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6" name="Google Shape;826;p32"/>
          <p:cNvSpPr/>
          <p:nvPr/>
        </p:nvSpPr>
        <p:spPr>
          <a:xfrm>
            <a:off x="457200" y="932688"/>
            <a:ext cx="118872" cy="118872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7" name="Google Shape;827;p32"/>
          <p:cNvSpPr/>
          <p:nvPr/>
        </p:nvSpPr>
        <p:spPr>
          <a:xfrm>
            <a:off x="612648" y="932688"/>
            <a:ext cx="118872" cy="118872"/>
          </a:xfrm>
          <a:prstGeom prst="ellipse">
            <a:avLst/>
          </a:prstGeom>
          <a:solidFill>
            <a:srgbClr val="FEBC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8" name="Google Shape;828;p32"/>
          <p:cNvSpPr/>
          <p:nvPr/>
        </p:nvSpPr>
        <p:spPr>
          <a:xfrm>
            <a:off x="768096" y="932688"/>
            <a:ext cx="118872" cy="118872"/>
          </a:xfrm>
          <a:prstGeom prst="ellipse">
            <a:avLst/>
          </a:prstGeom>
          <a:solidFill>
            <a:srgbClr val="28C8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9" name="Google Shape;829;p32"/>
          <p:cNvSpPr/>
          <p:nvPr/>
        </p:nvSpPr>
        <p:spPr>
          <a:xfrm>
            <a:off x="1097280" y="923544"/>
            <a:ext cx="5029200" cy="164592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0" name="Google Shape;830;p32"/>
          <p:cNvSpPr/>
          <p:nvPr/>
        </p:nvSpPr>
        <p:spPr>
          <a:xfrm>
            <a:off x="1097280" y="914400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localhost:7860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1" name="Google Shape;831;p32"/>
          <p:cNvSpPr/>
          <p:nvPr/>
        </p:nvSpPr>
        <p:spPr>
          <a:xfrm>
            <a:off x="320040" y="1143000"/>
            <a:ext cx="8503920" cy="457200"/>
          </a:xfrm>
          <a:prstGeom prst="rect">
            <a:avLst/>
          </a:prstGeom>
          <a:solidFill>
            <a:srgbClr val="0D1B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2" name="Google Shape;832;p32"/>
          <p:cNvSpPr/>
          <p:nvPr/>
        </p:nvSpPr>
        <p:spPr>
          <a:xfrm>
            <a:off x="502920" y="1188720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🧬 Pfizer Document Intelligence  —  RAG-powered Q&amp;A over pharmaceutical documents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3" name="Google Shape;833;p32"/>
          <p:cNvSpPr/>
          <p:nvPr/>
        </p:nvSpPr>
        <p:spPr>
          <a:xfrm>
            <a:off x="320040" y="1600200"/>
            <a:ext cx="2377440" cy="288036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4" name="Google Shape;834;p32"/>
          <p:cNvSpPr/>
          <p:nvPr/>
        </p:nvSpPr>
        <p:spPr>
          <a:xfrm>
            <a:off x="475488" y="1664208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BFFF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7BBFFF"/>
                </a:solidFill>
                <a:latin typeface="Calibri"/>
                <a:ea typeface="Calibri"/>
                <a:cs typeface="Calibri"/>
                <a:sym typeface="Calibri"/>
              </a:rPr>
              <a:t>📁 Document Upload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5" name="Google Shape;835;p32"/>
          <p:cNvSpPr/>
          <p:nvPr/>
        </p:nvSpPr>
        <p:spPr>
          <a:xfrm>
            <a:off x="475488" y="1965960"/>
            <a:ext cx="2011680" cy="566928"/>
          </a:xfrm>
          <a:prstGeom prst="rect">
            <a:avLst/>
          </a:prstGeom>
          <a:solidFill>
            <a:srgbClr val="0A0A0F"/>
          </a:solidFill>
          <a:ln cap="flat" cmpd="sng" w="12700">
            <a:solidFill>
              <a:srgbClr val="4A5A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6" name="Google Shape;836;p32"/>
          <p:cNvSpPr/>
          <p:nvPr/>
        </p:nvSpPr>
        <p:spPr>
          <a:xfrm>
            <a:off x="475488" y="1965960"/>
            <a:ext cx="20116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Drop PDF here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7" name="Google Shape;837;p32"/>
          <p:cNvSpPr/>
          <p:nvPr/>
        </p:nvSpPr>
        <p:spPr>
          <a:xfrm>
            <a:off x="475488" y="2633472"/>
            <a:ext cx="2011680" cy="256032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8" name="Google Shape;838;p32"/>
          <p:cNvSpPr/>
          <p:nvPr/>
        </p:nvSpPr>
        <p:spPr>
          <a:xfrm>
            <a:off x="475488" y="2633472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📤 Index Document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9" name="Google Shape;839;p32"/>
          <p:cNvSpPr/>
          <p:nvPr/>
        </p:nvSpPr>
        <p:spPr>
          <a:xfrm>
            <a:off x="475488" y="2971800"/>
            <a:ext cx="2011680" cy="475488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0" name="Google Shape;840;p32"/>
          <p:cNvSpPr/>
          <p:nvPr/>
        </p:nvSpPr>
        <p:spPr>
          <a:xfrm>
            <a:off x="502920" y="2999232"/>
            <a:ext cx="1965960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D68C"/>
              </a:buClr>
              <a:buSzPts val="750"/>
              <a:buFont typeface="Calibri"/>
              <a:buNone/>
            </a:pPr>
            <a:r>
              <a:rPr b="0" i="0" lang="en" sz="750" u="none" cap="none" strike="noStrike">
                <a:solidFill>
                  <a:srgbClr val="3DD68C"/>
                </a:solidFill>
                <a:latin typeface="Calibri"/>
                <a:ea typeface="Calibri"/>
                <a:cs typeface="Calibri"/>
                <a:sym typeface="Calibri"/>
              </a:rPr>
              <a:t>✅ clinical_trial.pdf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D68C"/>
              </a:buClr>
              <a:buSzPts val="750"/>
              <a:buFont typeface="Calibri"/>
              <a:buNone/>
            </a:pPr>
            <a:r>
              <a:rPr b="0" i="0" lang="en" sz="750" u="none" cap="none" strike="noStrike">
                <a:solidFill>
                  <a:srgbClr val="3DD68C"/>
                </a:solidFill>
                <a:latin typeface="Calibri"/>
                <a:ea typeface="Calibri"/>
                <a:cs typeface="Calibri"/>
                <a:sym typeface="Calibri"/>
              </a:rPr>
              <a:t>89 chunks | conf: 87%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1" name="Google Shape;841;p32"/>
          <p:cNvSpPr/>
          <p:nvPr/>
        </p:nvSpPr>
        <p:spPr>
          <a:xfrm>
            <a:off x="475488" y="3547872"/>
            <a:ext cx="210312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BFFF"/>
              </a:buClr>
              <a:buSzPts val="750"/>
              <a:buFont typeface="Calibri"/>
              <a:buNone/>
            </a:pPr>
            <a:r>
              <a:rPr b="0" i="0" lang="en" sz="750" u="none" cap="none" strike="noStrike">
                <a:solidFill>
                  <a:srgbClr val="7BBFFF"/>
                </a:solidFill>
                <a:latin typeface="Calibri"/>
                <a:ea typeface="Calibri"/>
                <a:cs typeface="Calibri"/>
                <a:sym typeface="Calibri"/>
              </a:rPr>
              <a:t>🔍 Filter: All Documents ▼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BFFF"/>
              </a:buClr>
              <a:buSzPts val="750"/>
              <a:buFont typeface="Calibri"/>
              <a:buNone/>
            </a:pPr>
            <a:r>
              <a:rPr b="0" i="0" lang="en" sz="750" u="none" cap="none" strike="noStrike">
                <a:solidFill>
                  <a:srgbClr val="7BBFFF"/>
                </a:solidFill>
                <a:latin typeface="Calibri"/>
                <a:ea typeface="Calibri"/>
                <a:cs typeface="Calibri"/>
                <a:sym typeface="Calibri"/>
              </a:rPr>
              <a:t>📌 clinical_trial.pdf p.3 — 91%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BFFF"/>
              </a:buClr>
              <a:buSzPts val="750"/>
              <a:buFont typeface="Calibri"/>
              <a:buNone/>
            </a:pPr>
            <a:r>
              <a:rPr b="0" i="0" lang="en" sz="750" u="none" cap="none" strike="noStrike">
                <a:solidFill>
                  <a:srgbClr val="7BBFFF"/>
                </a:solidFill>
                <a:latin typeface="Calibri"/>
                <a:ea typeface="Calibri"/>
                <a:cs typeface="Calibri"/>
                <a:sym typeface="Calibri"/>
              </a:rPr>
              <a:t>    prescribing_info.pdf p.7 — 78%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2" name="Google Shape;842;p32"/>
          <p:cNvSpPr/>
          <p:nvPr/>
        </p:nvSpPr>
        <p:spPr>
          <a:xfrm>
            <a:off x="2834640" y="1600200"/>
            <a:ext cx="5943600" cy="288036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3" name="Google Shape;843;p32"/>
          <p:cNvSpPr/>
          <p:nvPr/>
        </p:nvSpPr>
        <p:spPr>
          <a:xfrm>
            <a:off x="4754880" y="1737360"/>
            <a:ext cx="3840480" cy="502920"/>
          </a:xfrm>
          <a:prstGeom prst="rect">
            <a:avLst/>
          </a:prstGeom>
          <a:solidFill>
            <a:srgbClr val="4A5A8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4" name="Google Shape;844;p32"/>
          <p:cNvSpPr/>
          <p:nvPr/>
        </p:nvSpPr>
        <p:spPr>
          <a:xfrm>
            <a:off x="4800600" y="1764792"/>
            <a:ext cx="3749040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are the contraindications for this drug?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5" name="Google Shape;845;p32"/>
          <p:cNvSpPr/>
          <p:nvPr/>
        </p:nvSpPr>
        <p:spPr>
          <a:xfrm>
            <a:off x="2926080" y="2359152"/>
            <a:ext cx="5120640" cy="868680"/>
          </a:xfrm>
          <a:prstGeom prst="rect">
            <a:avLst/>
          </a:prstGeom>
          <a:solidFill>
            <a:srgbClr val="2525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6" name="Google Shape;846;p32"/>
          <p:cNvSpPr/>
          <p:nvPr/>
        </p:nvSpPr>
        <p:spPr>
          <a:xfrm>
            <a:off x="2999232" y="2395728"/>
            <a:ext cx="4983480" cy="7863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0" i="0" lang="en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Based on clinical_trial.pdf (page 3), contraindications include hypersensitivity to the active ingredient, concurrent MAOI use, and severe hepatic impairment. See prescribing_info.pdf (page 7) for full details.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0" i="0" lang="en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📊 4 chunks  |  Avg. confidence: 87%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7" name="Google Shape;847;p32"/>
          <p:cNvSpPr/>
          <p:nvPr/>
        </p:nvSpPr>
        <p:spPr>
          <a:xfrm>
            <a:off x="2926080" y="3337560"/>
            <a:ext cx="4572000" cy="246888"/>
          </a:xfrm>
          <a:prstGeom prst="rect">
            <a:avLst/>
          </a:prstGeom>
          <a:solidFill>
            <a:srgbClr val="0A0A0F"/>
          </a:solidFill>
          <a:ln cap="flat" cmpd="sng" w="12700">
            <a:solidFill>
              <a:srgbClr val="4A5A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8" name="Google Shape;848;p32"/>
          <p:cNvSpPr/>
          <p:nvPr/>
        </p:nvSpPr>
        <p:spPr>
          <a:xfrm>
            <a:off x="2999232" y="3355848"/>
            <a:ext cx="429768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750"/>
              <a:buFont typeface="Calibri"/>
              <a:buNone/>
            </a:pPr>
            <a:r>
              <a:rPr b="0" i="0" lang="en" sz="75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Ask about your documents…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9" name="Google Shape;849;p32"/>
          <p:cNvSpPr/>
          <p:nvPr/>
        </p:nvSpPr>
        <p:spPr>
          <a:xfrm>
            <a:off x="7543800" y="3337560"/>
            <a:ext cx="1170432" cy="246888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0" name="Google Shape;850;p32"/>
          <p:cNvSpPr/>
          <p:nvPr/>
        </p:nvSpPr>
        <p:spPr>
          <a:xfrm>
            <a:off x="7543800" y="3337560"/>
            <a:ext cx="1170432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Send ➤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1" name="Google Shape;851;p32"/>
          <p:cNvSpPr/>
          <p:nvPr/>
        </p:nvSpPr>
        <p:spPr>
          <a:xfrm>
            <a:off x="320040" y="4526280"/>
            <a:ext cx="2377440" cy="274320"/>
          </a:xfrm>
          <a:prstGeom prst="rect">
            <a:avLst/>
          </a:prstGeom>
          <a:solidFill>
            <a:srgbClr val="F2F4F8"/>
          </a:solidFill>
          <a:ln cap="flat" cmpd="sng" w="12700">
            <a:solidFill>
              <a:srgbClr val="4A9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2" name="Google Shape;852;p32"/>
          <p:cNvSpPr/>
          <p:nvPr/>
        </p:nvSpPr>
        <p:spPr>
          <a:xfrm>
            <a:off x="411480" y="4535424"/>
            <a:ext cx="2240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9EFF"/>
              </a:buClr>
              <a:buSzPts val="850"/>
              <a:buFont typeface="Calibri"/>
              <a:buNone/>
            </a:pPr>
            <a:r>
              <a:rPr b="1" i="0" lang="en" sz="850" u="none" cap="none" strike="noStrike">
                <a:solidFill>
                  <a:srgbClr val="4A9EFF"/>
                </a:solidFill>
                <a:latin typeface="Calibri"/>
                <a:ea typeface="Calibri"/>
                <a:cs typeface="Calibri"/>
                <a:sym typeface="Calibri"/>
              </a:rPr>
              <a:t>↑  Upload &amp; index any PDF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3" name="Google Shape;853;p32"/>
          <p:cNvSpPr/>
          <p:nvPr/>
        </p:nvSpPr>
        <p:spPr>
          <a:xfrm>
            <a:off x="2834640" y="4526280"/>
            <a:ext cx="3200400" cy="274320"/>
          </a:xfrm>
          <a:prstGeom prst="rect">
            <a:avLst/>
          </a:prstGeom>
          <a:solidFill>
            <a:srgbClr val="F2F4F8"/>
          </a:solidFill>
          <a:ln cap="flat" cmpd="sng" w="12700">
            <a:solidFill>
              <a:srgbClr val="4A9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4" name="Google Shape;854;p32"/>
          <p:cNvSpPr/>
          <p:nvPr/>
        </p:nvSpPr>
        <p:spPr>
          <a:xfrm>
            <a:off x="2926080" y="4535424"/>
            <a:ext cx="3063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9EFF"/>
              </a:buClr>
              <a:buSzPts val="850"/>
              <a:buFont typeface="Calibri"/>
              <a:buNone/>
            </a:pPr>
            <a:r>
              <a:rPr b="1" i="0" lang="en" sz="850" u="none" cap="none" strike="noStrike">
                <a:solidFill>
                  <a:srgbClr val="4A9EFF"/>
                </a:solidFill>
                <a:latin typeface="Calibri"/>
                <a:ea typeface="Calibri"/>
                <a:cs typeface="Calibri"/>
                <a:sym typeface="Calibri"/>
              </a:rPr>
              <a:t>↑  Chat with cited answers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5" name="Google Shape;855;p32"/>
          <p:cNvSpPr/>
          <p:nvPr/>
        </p:nvSpPr>
        <p:spPr>
          <a:xfrm>
            <a:off x="5486400" y="4526280"/>
            <a:ext cx="3291840" cy="274320"/>
          </a:xfrm>
          <a:prstGeom prst="rect">
            <a:avLst/>
          </a:prstGeom>
          <a:solidFill>
            <a:srgbClr val="F2F4F8"/>
          </a:solidFill>
          <a:ln cap="flat" cmpd="sng" w="12700">
            <a:solidFill>
              <a:srgbClr val="4A9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6" name="Google Shape;856;p32"/>
          <p:cNvSpPr/>
          <p:nvPr/>
        </p:nvSpPr>
        <p:spPr>
          <a:xfrm>
            <a:off x="5577840" y="4535424"/>
            <a:ext cx="3154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9EFF"/>
              </a:buClr>
              <a:buSzPts val="850"/>
              <a:buFont typeface="Calibri"/>
              <a:buNone/>
            </a:pPr>
            <a:r>
              <a:rPr b="1" i="0" lang="en" sz="850" u="none" cap="none" strike="noStrike">
                <a:solidFill>
                  <a:srgbClr val="4A9EFF"/>
                </a:solidFill>
                <a:latin typeface="Calibri"/>
                <a:ea typeface="Calibri"/>
                <a:cs typeface="Calibri"/>
                <a:sym typeface="Calibri"/>
              </a:rPr>
              <a:t>↑  Confidence + chunk stats per reply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6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p33"/>
          <p:cNvSpPr/>
          <p:nvPr/>
        </p:nvSpPr>
        <p:spPr>
          <a:xfrm>
            <a:off x="0" y="0"/>
            <a:ext cx="9144000" cy="7497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3" name="Google Shape;863;p33"/>
          <p:cNvSpPr/>
          <p:nvPr/>
        </p:nvSpPr>
        <p:spPr>
          <a:xfrm>
            <a:off x="0" y="0"/>
            <a:ext cx="201300" cy="74970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4" name="Google Shape;864;p33"/>
          <p:cNvSpPr/>
          <p:nvPr/>
        </p:nvSpPr>
        <p:spPr>
          <a:xfrm>
            <a:off x="384048" y="0"/>
            <a:ext cx="82296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b="1" lang="en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CHATBOT</a:t>
            </a:r>
            <a:r>
              <a:rPr b="1" i="0" lang="en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— </a:t>
            </a:r>
            <a:r>
              <a:rPr b="1" lang="en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DEMO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5" name="Google Shape;865;p33"/>
          <p:cNvSpPr/>
          <p:nvPr/>
        </p:nvSpPr>
        <p:spPr>
          <a:xfrm>
            <a:off x="0" y="672850"/>
            <a:ext cx="9144000" cy="46221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6" name="Google Shape;866;p33"/>
          <p:cNvSpPr/>
          <p:nvPr/>
        </p:nvSpPr>
        <p:spPr>
          <a:xfrm>
            <a:off x="0" y="672850"/>
            <a:ext cx="201300" cy="465750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p34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3" name="Google Shape;873;p34"/>
          <p:cNvSpPr/>
          <p:nvPr/>
        </p:nvSpPr>
        <p:spPr>
          <a:xfrm>
            <a:off x="0" y="0"/>
            <a:ext cx="201168" cy="749808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4" name="Google Shape;874;p34"/>
          <p:cNvSpPr/>
          <p:nvPr/>
        </p:nvSpPr>
        <p:spPr>
          <a:xfrm>
            <a:off x="384048" y="0"/>
            <a:ext cx="822960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 DESIGN DECISIONS &amp; TRADEOFFS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5" name="Google Shape;875;p34"/>
          <p:cNvSpPr/>
          <p:nvPr/>
        </p:nvSpPr>
        <p:spPr>
          <a:xfrm>
            <a:off x="365760" y="914400"/>
            <a:ext cx="4160520" cy="1234440"/>
          </a:xfrm>
          <a:prstGeom prst="rect">
            <a:avLst/>
          </a:prstGeom>
          <a:solidFill>
            <a:srgbClr val="F2F4F8"/>
          </a:solidFill>
          <a:ln cap="flat" cmpd="sng" w="12700">
            <a:solidFill>
              <a:srgbClr val="2E2E4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6" name="Google Shape;876;p34"/>
          <p:cNvSpPr/>
          <p:nvPr/>
        </p:nvSpPr>
        <p:spPr>
          <a:xfrm>
            <a:off x="365760" y="914400"/>
            <a:ext cx="137160" cy="123444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7" name="Google Shape;877;p34"/>
          <p:cNvSpPr/>
          <p:nvPr/>
        </p:nvSpPr>
        <p:spPr>
          <a:xfrm>
            <a:off x="640080" y="1005840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A0F"/>
              </a:buClr>
              <a:buSzPts val="1050"/>
              <a:buFont typeface="Calibri"/>
              <a:buNone/>
            </a:pPr>
            <a:r>
              <a:rPr b="1" i="0" lang="en" sz="1050" u="none" cap="none" strike="noStrike">
                <a:solidFill>
                  <a:srgbClr val="0A0A0F"/>
                </a:solidFill>
                <a:latin typeface="Calibri"/>
                <a:ea typeface="Calibri"/>
                <a:cs typeface="Calibri"/>
                <a:sym typeface="Calibri"/>
              </a:rPr>
              <a:t>Why 400-char chunks?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8" name="Google Shape;878;p34"/>
          <p:cNvSpPr/>
          <p:nvPr/>
        </p:nvSpPr>
        <p:spPr>
          <a:xfrm>
            <a:off x="640080" y="1353312"/>
            <a:ext cx="37490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A6B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3A4A6B"/>
                </a:solidFill>
                <a:latin typeface="Calibri"/>
                <a:ea typeface="Calibri"/>
                <a:cs typeface="Calibri"/>
                <a:sym typeface="Calibri"/>
              </a:rPr>
              <a:t>Small enough for precise retrieval, large enough to hold a complete sentence or two. Too small = no context; too large = irrelevant noise.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9" name="Google Shape;879;p34"/>
          <p:cNvSpPr/>
          <p:nvPr/>
        </p:nvSpPr>
        <p:spPr>
          <a:xfrm>
            <a:off x="4754880" y="914400"/>
            <a:ext cx="4160520" cy="1234440"/>
          </a:xfrm>
          <a:prstGeom prst="rect">
            <a:avLst/>
          </a:prstGeom>
          <a:solidFill>
            <a:srgbClr val="F2F4F8"/>
          </a:solidFill>
          <a:ln cap="flat" cmpd="sng" w="12700">
            <a:solidFill>
              <a:srgbClr val="2E2E4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0" name="Google Shape;880;p34"/>
          <p:cNvSpPr/>
          <p:nvPr/>
        </p:nvSpPr>
        <p:spPr>
          <a:xfrm>
            <a:off x="4754880" y="914400"/>
            <a:ext cx="137160" cy="1234440"/>
          </a:xfrm>
          <a:prstGeom prst="rect">
            <a:avLst/>
          </a:prstGeom>
          <a:solidFill>
            <a:srgbClr val="6B7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1" name="Google Shape;881;p34"/>
          <p:cNvSpPr/>
          <p:nvPr/>
        </p:nvSpPr>
        <p:spPr>
          <a:xfrm>
            <a:off x="5029200" y="1005840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A0F"/>
              </a:buClr>
              <a:buSzPts val="1050"/>
              <a:buFont typeface="Calibri"/>
              <a:buNone/>
            </a:pPr>
            <a:r>
              <a:rPr b="1" i="0" lang="en" sz="1050" u="none" cap="none" strike="noStrike">
                <a:solidFill>
                  <a:srgbClr val="0A0A0F"/>
                </a:solidFill>
                <a:latin typeface="Calibri"/>
                <a:ea typeface="Calibri"/>
                <a:cs typeface="Calibri"/>
                <a:sym typeface="Calibri"/>
              </a:rPr>
              <a:t>Why 80-char overlap?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2" name="Google Shape;882;p34"/>
          <p:cNvSpPr/>
          <p:nvPr/>
        </p:nvSpPr>
        <p:spPr>
          <a:xfrm>
            <a:off x="5029200" y="1353312"/>
            <a:ext cx="37490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A6B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3A4A6B"/>
                </a:solidFill>
                <a:latin typeface="Calibri"/>
                <a:ea typeface="Calibri"/>
                <a:cs typeface="Calibri"/>
                <a:sym typeface="Calibri"/>
              </a:rPr>
              <a:t>Sentences near a boundary are split in half with zero overlap. The 80-char window guarantees every key phrase appears fully in at least one chunk.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3" name="Google Shape;883;p34"/>
          <p:cNvSpPr/>
          <p:nvPr/>
        </p:nvSpPr>
        <p:spPr>
          <a:xfrm>
            <a:off x="365760" y="2304288"/>
            <a:ext cx="4160520" cy="1234440"/>
          </a:xfrm>
          <a:prstGeom prst="rect">
            <a:avLst/>
          </a:prstGeom>
          <a:solidFill>
            <a:srgbClr val="F2F4F8"/>
          </a:solidFill>
          <a:ln cap="flat" cmpd="sng" w="12700">
            <a:solidFill>
              <a:srgbClr val="2E2E4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4" name="Google Shape;884;p34"/>
          <p:cNvSpPr/>
          <p:nvPr/>
        </p:nvSpPr>
        <p:spPr>
          <a:xfrm>
            <a:off x="365760" y="2304288"/>
            <a:ext cx="137160" cy="1234440"/>
          </a:xfrm>
          <a:prstGeom prst="rect">
            <a:avLst/>
          </a:prstGeom>
          <a:solidFill>
            <a:srgbClr val="4A5A8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5" name="Google Shape;885;p34"/>
          <p:cNvSpPr/>
          <p:nvPr/>
        </p:nvSpPr>
        <p:spPr>
          <a:xfrm>
            <a:off x="640080" y="2395728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A0F"/>
              </a:buClr>
              <a:buSzPts val="1050"/>
              <a:buFont typeface="Calibri"/>
              <a:buNone/>
            </a:pPr>
            <a:r>
              <a:rPr b="1" i="0" lang="en" sz="1050" u="none" cap="none" strike="noStrike">
                <a:solidFill>
                  <a:srgbClr val="0A0A0F"/>
                </a:solidFill>
                <a:latin typeface="Calibri"/>
                <a:ea typeface="Calibri"/>
                <a:cs typeface="Calibri"/>
                <a:sym typeface="Calibri"/>
              </a:rPr>
              <a:t>Why Top-4 retrieval?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6" name="Google Shape;886;p34"/>
          <p:cNvSpPr/>
          <p:nvPr/>
        </p:nvSpPr>
        <p:spPr>
          <a:xfrm>
            <a:off x="640080" y="2743200"/>
            <a:ext cx="37490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A6B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3A4A6B"/>
                </a:solidFill>
                <a:latin typeface="Calibri"/>
                <a:ea typeface="Calibri"/>
                <a:cs typeface="Calibri"/>
                <a:sym typeface="Calibri"/>
              </a:rPr>
              <a:t>Tested Top-2 through Top-8. Top-4 gave the best balance: enough context for multi-part answers without bloating the prompt past T5's token limit.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7" name="Google Shape;887;p34"/>
          <p:cNvSpPr/>
          <p:nvPr/>
        </p:nvSpPr>
        <p:spPr>
          <a:xfrm>
            <a:off x="4754880" y="2304288"/>
            <a:ext cx="4160520" cy="1234440"/>
          </a:xfrm>
          <a:prstGeom prst="rect">
            <a:avLst/>
          </a:prstGeom>
          <a:solidFill>
            <a:srgbClr val="F2F4F8"/>
          </a:solidFill>
          <a:ln cap="flat" cmpd="sng" w="12700">
            <a:solidFill>
              <a:srgbClr val="2E2E4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8" name="Google Shape;888;p34"/>
          <p:cNvSpPr/>
          <p:nvPr/>
        </p:nvSpPr>
        <p:spPr>
          <a:xfrm>
            <a:off x="4754880" y="2304288"/>
            <a:ext cx="137160" cy="123444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9" name="Google Shape;889;p34"/>
          <p:cNvSpPr/>
          <p:nvPr/>
        </p:nvSpPr>
        <p:spPr>
          <a:xfrm>
            <a:off x="5029200" y="2395728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A0F"/>
              </a:buClr>
              <a:buSzPts val="1050"/>
              <a:buFont typeface="Calibri"/>
              <a:buNone/>
            </a:pPr>
            <a:r>
              <a:rPr b="1" i="0" lang="en" sz="1050" u="none" cap="none" strike="noStrike">
                <a:solidFill>
                  <a:srgbClr val="0A0A0F"/>
                </a:solidFill>
                <a:latin typeface="Calibri"/>
                <a:ea typeface="Calibri"/>
                <a:cs typeface="Calibri"/>
                <a:sym typeface="Calibri"/>
              </a:rPr>
              <a:t>Why grounding prompts?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0" name="Google Shape;890;p34"/>
          <p:cNvSpPr/>
          <p:nvPr/>
        </p:nvSpPr>
        <p:spPr>
          <a:xfrm>
            <a:off x="5029200" y="2743200"/>
            <a:ext cx="37490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A6B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3A4A6B"/>
                </a:solidFill>
                <a:latin typeface="Calibri"/>
                <a:ea typeface="Calibri"/>
                <a:cs typeface="Calibri"/>
                <a:sym typeface="Calibri"/>
              </a:rPr>
              <a:t>Without explicit instruction, Flan-T5 occasionally answered from pre-training rather than the retrieved context. Grounding instruction cut hallucinations significantly.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1" name="Google Shape;891;p34"/>
          <p:cNvSpPr/>
          <p:nvPr/>
        </p:nvSpPr>
        <p:spPr>
          <a:xfrm>
            <a:off x="365760" y="3694176"/>
            <a:ext cx="4160520" cy="1234440"/>
          </a:xfrm>
          <a:prstGeom prst="rect">
            <a:avLst/>
          </a:prstGeom>
          <a:solidFill>
            <a:srgbClr val="F2F4F8"/>
          </a:solidFill>
          <a:ln cap="flat" cmpd="sng" w="12700">
            <a:solidFill>
              <a:srgbClr val="2E2E4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2" name="Google Shape;892;p34"/>
          <p:cNvSpPr/>
          <p:nvPr/>
        </p:nvSpPr>
        <p:spPr>
          <a:xfrm>
            <a:off x="365760" y="3694176"/>
            <a:ext cx="137160" cy="1234440"/>
          </a:xfrm>
          <a:prstGeom prst="rect">
            <a:avLst/>
          </a:prstGeom>
          <a:solidFill>
            <a:srgbClr val="6B7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3" name="Google Shape;893;p34"/>
          <p:cNvSpPr/>
          <p:nvPr/>
        </p:nvSpPr>
        <p:spPr>
          <a:xfrm>
            <a:off x="640080" y="3785616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A0F"/>
              </a:buClr>
              <a:buSzPts val="1050"/>
              <a:buFont typeface="Calibri"/>
              <a:buNone/>
            </a:pPr>
            <a:r>
              <a:rPr b="1" i="0" lang="en" sz="1050" u="none" cap="none" strike="noStrike">
                <a:solidFill>
                  <a:srgbClr val="0A0A0F"/>
                </a:solidFill>
                <a:latin typeface="Calibri"/>
                <a:ea typeface="Calibri"/>
                <a:cs typeface="Calibri"/>
                <a:sym typeface="Calibri"/>
              </a:rPr>
              <a:t>Why no GPU required?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4" name="Google Shape;894;p34"/>
          <p:cNvSpPr/>
          <p:nvPr/>
        </p:nvSpPr>
        <p:spPr>
          <a:xfrm>
            <a:off x="640080" y="4133088"/>
            <a:ext cx="37490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A6B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3A4A6B"/>
                </a:solidFill>
                <a:latin typeface="Calibri"/>
                <a:ea typeface="Calibri"/>
                <a:cs typeface="Calibri"/>
                <a:sym typeface="Calibri"/>
              </a:rPr>
              <a:t>The system was built for local, air-gapped deployment on standard hardware. MiniLM + Flan-T5-base run in acceptable time on CPU — the right constraint for this use case.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5" name="Google Shape;895;p34"/>
          <p:cNvSpPr/>
          <p:nvPr/>
        </p:nvSpPr>
        <p:spPr>
          <a:xfrm>
            <a:off x="4754880" y="3694176"/>
            <a:ext cx="4160520" cy="1234440"/>
          </a:xfrm>
          <a:prstGeom prst="rect">
            <a:avLst/>
          </a:prstGeom>
          <a:solidFill>
            <a:srgbClr val="F2F4F8"/>
          </a:solidFill>
          <a:ln cap="flat" cmpd="sng" w="12700">
            <a:solidFill>
              <a:srgbClr val="2E2E4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6" name="Google Shape;896;p34"/>
          <p:cNvSpPr/>
          <p:nvPr/>
        </p:nvSpPr>
        <p:spPr>
          <a:xfrm>
            <a:off x="4754880" y="3694176"/>
            <a:ext cx="137160" cy="1234440"/>
          </a:xfrm>
          <a:prstGeom prst="rect">
            <a:avLst/>
          </a:prstGeom>
          <a:solidFill>
            <a:srgbClr val="4A5A8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7" name="Google Shape;897;p34"/>
          <p:cNvSpPr/>
          <p:nvPr/>
        </p:nvSpPr>
        <p:spPr>
          <a:xfrm>
            <a:off x="5029200" y="3785616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A0F"/>
              </a:buClr>
              <a:buSzPts val="1050"/>
              <a:buFont typeface="Calibri"/>
              <a:buNone/>
            </a:pPr>
            <a:r>
              <a:rPr b="1" i="0" lang="en" sz="1050" u="none" cap="none" strike="noStrike">
                <a:solidFill>
                  <a:srgbClr val="0A0A0F"/>
                </a:solidFill>
                <a:latin typeface="Calibri"/>
                <a:ea typeface="Calibri"/>
                <a:cs typeface="Calibri"/>
                <a:sym typeface="Calibri"/>
              </a:rPr>
              <a:t>Why Gradio (not Flask)?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8" name="Google Shape;898;p34"/>
          <p:cNvSpPr/>
          <p:nvPr/>
        </p:nvSpPr>
        <p:spPr>
          <a:xfrm>
            <a:off x="5029200" y="4133088"/>
            <a:ext cx="37490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A6B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3A4A6B"/>
                </a:solidFill>
                <a:latin typeface="Calibri"/>
                <a:ea typeface="Calibri"/>
                <a:cs typeface="Calibri"/>
                <a:sym typeface="Calibri"/>
              </a:rPr>
              <a:t>Gradio ships a working chat UI in ~20 lines. For a proof-of-concept demo, this is the right tradeoff over a custom web app.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03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p35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5" name="Google Shape;905;p35"/>
          <p:cNvSpPr/>
          <p:nvPr/>
        </p:nvSpPr>
        <p:spPr>
          <a:xfrm>
            <a:off x="0" y="0"/>
            <a:ext cx="201168" cy="749808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6" name="Google Shape;906;p35"/>
          <p:cNvSpPr/>
          <p:nvPr/>
        </p:nvSpPr>
        <p:spPr>
          <a:xfrm>
            <a:off x="384048" y="0"/>
            <a:ext cx="822960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BROKE &amp; HOW </a:t>
            </a:r>
            <a:r>
              <a:rPr b="1" lang="en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</a:t>
            </a:r>
            <a:r>
              <a:rPr b="1" i="0" lang="en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FIXED IT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7" name="Google Shape;907;p35"/>
          <p:cNvSpPr/>
          <p:nvPr/>
        </p:nvSpPr>
        <p:spPr>
          <a:xfrm>
            <a:off x="365760" y="914400"/>
            <a:ext cx="4160520" cy="1874520"/>
          </a:xfrm>
          <a:prstGeom prst="rect">
            <a:avLst/>
          </a:prstGeom>
          <a:solidFill>
            <a:srgbClr val="F2F4F8"/>
          </a:solidFill>
          <a:ln cap="flat" cmpd="sng" w="12700">
            <a:solidFill>
              <a:srgbClr val="2E2E4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8" name="Google Shape;908;p35"/>
          <p:cNvSpPr/>
          <p:nvPr/>
        </p:nvSpPr>
        <p:spPr>
          <a:xfrm>
            <a:off x="365760" y="914400"/>
            <a:ext cx="4160520" cy="41148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9" name="Google Shape;909;p35"/>
          <p:cNvSpPr/>
          <p:nvPr/>
        </p:nvSpPr>
        <p:spPr>
          <a:xfrm>
            <a:off x="502920" y="969264"/>
            <a:ext cx="3886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💥  transformers KeyError on pipeline task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0" name="Google Shape;910;p35"/>
          <p:cNvSpPr/>
          <p:nvPr/>
        </p:nvSpPr>
        <p:spPr>
          <a:xfrm>
            <a:off x="502920" y="1417320"/>
            <a:ext cx="38862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A6B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3A4A6B"/>
                </a:solidFill>
                <a:latin typeface="Calibri"/>
                <a:ea typeface="Calibri"/>
                <a:cs typeface="Calibri"/>
                <a:sym typeface="Calibri"/>
              </a:rPr>
              <a:t>Problem: text2text-generation was removed as a named task alias in newer transformers versions.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11" name="Google Shape;911;p35"/>
          <p:cNvCxnSpPr/>
          <p:nvPr/>
        </p:nvCxnSpPr>
        <p:spPr>
          <a:xfrm>
            <a:off x="502920" y="2029968"/>
            <a:ext cx="3749040" cy="0"/>
          </a:xfrm>
          <a:prstGeom prst="straightConnector1">
            <a:avLst/>
          </a:prstGeom>
          <a:noFill/>
          <a:ln cap="flat" cmpd="sng" w="9525">
            <a:solidFill>
              <a:srgbClr val="2E2E4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12" name="Google Shape;912;p35"/>
          <p:cNvSpPr/>
          <p:nvPr/>
        </p:nvSpPr>
        <p:spPr>
          <a:xfrm>
            <a:off x="502920" y="2103120"/>
            <a:ext cx="38862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A0F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0A0A0F"/>
                </a:solidFill>
                <a:latin typeface="Calibri"/>
                <a:ea typeface="Calibri"/>
                <a:cs typeface="Calibri"/>
                <a:sym typeface="Calibri"/>
              </a:rPr>
              <a:t>Fix: Dropped hf_pipeline() entirely. Loaded AutoTokenizer + AutoModelForSeq2SeqLM directly — more explicit, version-stable, and gives full control over decoding.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3" name="Google Shape;913;p35"/>
          <p:cNvSpPr/>
          <p:nvPr/>
        </p:nvSpPr>
        <p:spPr>
          <a:xfrm>
            <a:off x="4754880" y="914400"/>
            <a:ext cx="4160520" cy="1874520"/>
          </a:xfrm>
          <a:prstGeom prst="rect">
            <a:avLst/>
          </a:prstGeom>
          <a:solidFill>
            <a:srgbClr val="F2F4F8"/>
          </a:solidFill>
          <a:ln cap="flat" cmpd="sng" w="12700">
            <a:solidFill>
              <a:srgbClr val="2E2E4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4" name="Google Shape;914;p35"/>
          <p:cNvSpPr/>
          <p:nvPr/>
        </p:nvSpPr>
        <p:spPr>
          <a:xfrm>
            <a:off x="4754880" y="914400"/>
            <a:ext cx="4160520" cy="41148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5" name="Google Shape;915;p35"/>
          <p:cNvSpPr/>
          <p:nvPr/>
        </p:nvSpPr>
        <p:spPr>
          <a:xfrm>
            <a:off x="4892040" y="969264"/>
            <a:ext cx="3886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📄  Scanned PDFs returned empty strings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6" name="Google Shape;916;p35"/>
          <p:cNvSpPr/>
          <p:nvPr/>
        </p:nvSpPr>
        <p:spPr>
          <a:xfrm>
            <a:off x="4892040" y="1417320"/>
            <a:ext cx="38862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A6B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3A4A6B"/>
                </a:solidFill>
                <a:latin typeface="Calibri"/>
                <a:ea typeface="Calibri"/>
                <a:cs typeface="Calibri"/>
                <a:sym typeface="Calibri"/>
              </a:rPr>
              <a:t>Problem: PyMuPDF found no embedded text layer on image-based pages — returned '' silently.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17" name="Google Shape;917;p35"/>
          <p:cNvCxnSpPr/>
          <p:nvPr/>
        </p:nvCxnSpPr>
        <p:spPr>
          <a:xfrm>
            <a:off x="4892040" y="2029968"/>
            <a:ext cx="3749040" cy="0"/>
          </a:xfrm>
          <a:prstGeom prst="straightConnector1">
            <a:avLst/>
          </a:prstGeom>
          <a:noFill/>
          <a:ln cap="flat" cmpd="sng" w="9525">
            <a:solidFill>
              <a:srgbClr val="2E2E4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18" name="Google Shape;918;p35"/>
          <p:cNvSpPr/>
          <p:nvPr/>
        </p:nvSpPr>
        <p:spPr>
          <a:xfrm>
            <a:off x="4892040" y="2103120"/>
            <a:ext cx="38862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A0F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0A0A0F"/>
                </a:solidFill>
                <a:latin typeface="Calibri"/>
                <a:ea typeface="Calibri"/>
                <a:cs typeface="Calibri"/>
                <a:sym typeface="Calibri"/>
              </a:rPr>
              <a:t>Fix: Added a 30-char threshold check. Pages below it are re-processed at 300 DPI through Tesseract, filtering words below 60% OCR confidence.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9" name="Google Shape;919;p35"/>
          <p:cNvSpPr/>
          <p:nvPr/>
        </p:nvSpPr>
        <p:spPr>
          <a:xfrm>
            <a:off x="365760" y="2971800"/>
            <a:ext cx="4160520" cy="1874520"/>
          </a:xfrm>
          <a:prstGeom prst="rect">
            <a:avLst/>
          </a:prstGeom>
          <a:solidFill>
            <a:srgbClr val="F2F4F8"/>
          </a:solidFill>
          <a:ln cap="flat" cmpd="sng" w="12700">
            <a:solidFill>
              <a:srgbClr val="2E2E4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0" name="Google Shape;920;p35"/>
          <p:cNvSpPr/>
          <p:nvPr/>
        </p:nvSpPr>
        <p:spPr>
          <a:xfrm>
            <a:off x="365760" y="2971800"/>
            <a:ext cx="4160520" cy="41148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1" name="Google Shape;921;p35"/>
          <p:cNvSpPr/>
          <p:nvPr/>
        </p:nvSpPr>
        <p:spPr>
          <a:xfrm>
            <a:off x="502920" y="3026664"/>
            <a:ext cx="3886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✂️  Chunking split key sentences mid-word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2" name="Google Shape;922;p35"/>
          <p:cNvSpPr/>
          <p:nvPr/>
        </p:nvSpPr>
        <p:spPr>
          <a:xfrm>
            <a:off x="502920" y="3474720"/>
            <a:ext cx="38862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A6B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3A4A6B"/>
                </a:solidFill>
                <a:latin typeface="Calibri"/>
                <a:ea typeface="Calibri"/>
                <a:cs typeface="Calibri"/>
                <a:sym typeface="Calibri"/>
              </a:rPr>
              <a:t>Problem: Fixed-width windows with no overlap caused retrieval to miss critical phrases that spanned a boundary.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23" name="Google Shape;923;p35"/>
          <p:cNvCxnSpPr/>
          <p:nvPr/>
        </p:nvCxnSpPr>
        <p:spPr>
          <a:xfrm>
            <a:off x="502920" y="4087368"/>
            <a:ext cx="3749040" cy="0"/>
          </a:xfrm>
          <a:prstGeom prst="straightConnector1">
            <a:avLst/>
          </a:prstGeom>
          <a:noFill/>
          <a:ln cap="flat" cmpd="sng" w="9525">
            <a:solidFill>
              <a:srgbClr val="2E2E4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24" name="Google Shape;924;p35"/>
          <p:cNvSpPr/>
          <p:nvPr/>
        </p:nvSpPr>
        <p:spPr>
          <a:xfrm>
            <a:off x="502920" y="4160520"/>
            <a:ext cx="38862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A0F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0A0A0F"/>
                </a:solidFill>
                <a:latin typeface="Calibri"/>
                <a:ea typeface="Calibri"/>
                <a:cs typeface="Calibri"/>
                <a:sym typeface="Calibri"/>
              </a:rPr>
              <a:t>Fix: Introduced 80-character overlap so every chunk shares context with its neighbors. Every sentence now appears fully in at least one chunk.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5" name="Google Shape;925;p35"/>
          <p:cNvSpPr/>
          <p:nvPr/>
        </p:nvSpPr>
        <p:spPr>
          <a:xfrm>
            <a:off x="4754880" y="2971800"/>
            <a:ext cx="4160520" cy="1874520"/>
          </a:xfrm>
          <a:prstGeom prst="rect">
            <a:avLst/>
          </a:prstGeom>
          <a:solidFill>
            <a:srgbClr val="F2F4F8"/>
          </a:solidFill>
          <a:ln cap="flat" cmpd="sng" w="12700">
            <a:solidFill>
              <a:srgbClr val="2E2E4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6" name="Google Shape;926;p35"/>
          <p:cNvSpPr/>
          <p:nvPr/>
        </p:nvSpPr>
        <p:spPr>
          <a:xfrm>
            <a:off x="4754880" y="2971800"/>
            <a:ext cx="4160520" cy="41148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7" name="Google Shape;927;p35"/>
          <p:cNvSpPr/>
          <p:nvPr/>
        </p:nvSpPr>
        <p:spPr>
          <a:xfrm>
            <a:off x="4892040" y="3026664"/>
            <a:ext cx="3886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🎯  Confidence scores weren't intuitive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8" name="Google Shape;928;p35"/>
          <p:cNvSpPr/>
          <p:nvPr/>
        </p:nvSpPr>
        <p:spPr>
          <a:xfrm>
            <a:off x="4892040" y="3474720"/>
            <a:ext cx="38862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A6B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3A4A6B"/>
                </a:solidFill>
                <a:latin typeface="Calibri"/>
                <a:ea typeface="Calibri"/>
                <a:cs typeface="Calibri"/>
                <a:sym typeface="Calibri"/>
              </a:rPr>
              <a:t>Problem: Raw FAISS L2 distances are unbounded — a distance of 14 means nothing to a user.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29" name="Google Shape;929;p35"/>
          <p:cNvCxnSpPr/>
          <p:nvPr/>
        </p:nvCxnSpPr>
        <p:spPr>
          <a:xfrm>
            <a:off x="4892040" y="4087368"/>
            <a:ext cx="3749040" cy="0"/>
          </a:xfrm>
          <a:prstGeom prst="straightConnector1">
            <a:avLst/>
          </a:prstGeom>
          <a:noFill/>
          <a:ln cap="flat" cmpd="sng" w="9525">
            <a:solidFill>
              <a:srgbClr val="2E2E4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30" name="Google Shape;930;p35"/>
          <p:cNvSpPr/>
          <p:nvPr/>
        </p:nvSpPr>
        <p:spPr>
          <a:xfrm>
            <a:off x="4892040" y="4160520"/>
            <a:ext cx="38862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A0F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0A0A0F"/>
                </a:solidFill>
                <a:latin typeface="Calibri"/>
                <a:ea typeface="Calibri"/>
                <a:cs typeface="Calibri"/>
                <a:sym typeface="Calibri"/>
              </a:rPr>
              <a:t>Fix: Mapped to 0–1 via: max(0, 1 − dist/20). Scaling constant 20 was tuned so that a 'good match' shows as ~85%+, matching user intuition.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35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p36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7" name="Google Shape;937;p36"/>
          <p:cNvSpPr/>
          <p:nvPr/>
        </p:nvSpPr>
        <p:spPr>
          <a:xfrm>
            <a:off x="0" y="0"/>
            <a:ext cx="201168" cy="749808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8" name="Google Shape;938;p36"/>
          <p:cNvSpPr/>
          <p:nvPr/>
        </p:nvSpPr>
        <p:spPr>
          <a:xfrm>
            <a:off x="384048" y="0"/>
            <a:ext cx="822960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="1" i="0" lang="en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CALING AND</a:t>
            </a:r>
            <a:r>
              <a:rPr b="1" lang="en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FUTURE</a:t>
            </a:r>
            <a:r>
              <a:rPr b="1" i="0" lang="en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IMPROVEMENTS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9" name="Google Shape;939;p36"/>
          <p:cNvSpPr/>
          <p:nvPr/>
        </p:nvSpPr>
        <p:spPr>
          <a:xfrm>
            <a:off x="365760" y="914400"/>
            <a:ext cx="4160520" cy="1234440"/>
          </a:xfrm>
          <a:prstGeom prst="rect">
            <a:avLst/>
          </a:prstGeom>
          <a:solidFill>
            <a:srgbClr val="F2F4F8"/>
          </a:solidFill>
          <a:ln cap="flat" cmpd="sng" w="12700">
            <a:solidFill>
              <a:srgbClr val="2E2E4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0" name="Google Shape;940;p36"/>
          <p:cNvSpPr/>
          <p:nvPr/>
        </p:nvSpPr>
        <p:spPr>
          <a:xfrm>
            <a:off x="502920" y="1005840"/>
            <a:ext cx="1691640" cy="9601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2E2E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1" name="Google Shape;941;p36"/>
          <p:cNvSpPr/>
          <p:nvPr/>
        </p:nvSpPr>
        <p:spPr>
          <a:xfrm>
            <a:off x="502920" y="1005840"/>
            <a:ext cx="16916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70"/>
              </a:buClr>
              <a:buSzPts val="750"/>
              <a:buFont typeface="Calibri"/>
              <a:buNone/>
            </a:pPr>
            <a:r>
              <a:rPr b="1" i="0" lang="en" sz="750" u="none" cap="none" strike="noStrike">
                <a:solidFill>
                  <a:srgbClr val="555570"/>
                </a:solidFill>
                <a:latin typeface="Calibri"/>
                <a:ea typeface="Calibri"/>
                <a:cs typeface="Calibri"/>
                <a:sym typeface="Calibri"/>
              </a:rPr>
              <a:t>NOW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2" name="Google Shape;942;p36"/>
          <p:cNvSpPr/>
          <p:nvPr/>
        </p:nvSpPr>
        <p:spPr>
          <a:xfrm>
            <a:off x="548640" y="1243584"/>
            <a:ext cx="16002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A6B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3A4A6B"/>
                </a:solidFill>
                <a:latin typeface="Calibri"/>
                <a:ea typeface="Calibri"/>
                <a:cs typeface="Calibri"/>
                <a:sym typeface="Calibri"/>
              </a:rPr>
              <a:t>FAISS IndexFlatL2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A6B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3A4A6B"/>
                </a:solidFill>
                <a:latin typeface="Calibri"/>
                <a:ea typeface="Calibri"/>
                <a:cs typeface="Calibri"/>
                <a:sym typeface="Calibri"/>
              </a:rPr>
              <a:t>(exact, in-memory)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3" name="Google Shape;943;p36"/>
          <p:cNvSpPr/>
          <p:nvPr/>
        </p:nvSpPr>
        <p:spPr>
          <a:xfrm>
            <a:off x="2240280" y="1371600"/>
            <a:ext cx="320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9EFF"/>
              </a:buClr>
              <a:buSzPts val="1600"/>
              <a:buFont typeface="Calibri"/>
              <a:buNone/>
            </a:pPr>
            <a:r>
              <a:rPr b="1" i="0" lang="en" sz="1600" u="none" cap="none" strike="noStrike">
                <a:solidFill>
                  <a:srgbClr val="4A9EF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4" name="Google Shape;944;p36"/>
          <p:cNvSpPr/>
          <p:nvPr/>
        </p:nvSpPr>
        <p:spPr>
          <a:xfrm>
            <a:off x="2578608" y="1005840"/>
            <a:ext cx="1810512" cy="96012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5" name="Google Shape;945;p36"/>
          <p:cNvSpPr/>
          <p:nvPr/>
        </p:nvSpPr>
        <p:spPr>
          <a:xfrm>
            <a:off x="2578608" y="1005840"/>
            <a:ext cx="18105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9EFF"/>
              </a:buClr>
              <a:buSzPts val="750"/>
              <a:buFont typeface="Calibri"/>
              <a:buNone/>
            </a:pPr>
            <a:r>
              <a:rPr b="1" i="0" lang="en" sz="750" u="none" cap="none" strike="noStrike">
                <a:solidFill>
                  <a:srgbClr val="4A9EFF"/>
                </a:solidFill>
                <a:latin typeface="Calibri"/>
                <a:ea typeface="Calibri"/>
                <a:cs typeface="Calibri"/>
                <a:sym typeface="Calibri"/>
              </a:rPr>
              <a:t>NEXT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6" name="Google Shape;946;p36"/>
          <p:cNvSpPr/>
          <p:nvPr/>
        </p:nvSpPr>
        <p:spPr>
          <a:xfrm>
            <a:off x="2624328" y="1243584"/>
            <a:ext cx="1719072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FAISS IVFFlat + disk persistence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(~50× faster at 100K+ chunks)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7" name="Google Shape;947;p36"/>
          <p:cNvSpPr/>
          <p:nvPr/>
        </p:nvSpPr>
        <p:spPr>
          <a:xfrm>
            <a:off x="4754880" y="914400"/>
            <a:ext cx="4160520" cy="1234440"/>
          </a:xfrm>
          <a:prstGeom prst="rect">
            <a:avLst/>
          </a:prstGeom>
          <a:solidFill>
            <a:srgbClr val="F2F4F8"/>
          </a:solidFill>
          <a:ln cap="flat" cmpd="sng" w="12700">
            <a:solidFill>
              <a:srgbClr val="2E2E4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8" name="Google Shape;948;p36"/>
          <p:cNvSpPr/>
          <p:nvPr/>
        </p:nvSpPr>
        <p:spPr>
          <a:xfrm>
            <a:off x="4892040" y="1005840"/>
            <a:ext cx="1691640" cy="9601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2E2E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9" name="Google Shape;949;p36"/>
          <p:cNvSpPr/>
          <p:nvPr/>
        </p:nvSpPr>
        <p:spPr>
          <a:xfrm>
            <a:off x="4892040" y="1005840"/>
            <a:ext cx="16916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70"/>
              </a:buClr>
              <a:buSzPts val="750"/>
              <a:buFont typeface="Calibri"/>
              <a:buNone/>
            </a:pPr>
            <a:r>
              <a:rPr b="1" i="0" lang="en" sz="750" u="none" cap="none" strike="noStrike">
                <a:solidFill>
                  <a:srgbClr val="555570"/>
                </a:solidFill>
                <a:latin typeface="Calibri"/>
                <a:ea typeface="Calibri"/>
                <a:cs typeface="Calibri"/>
                <a:sym typeface="Calibri"/>
              </a:rPr>
              <a:t>NOW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0" name="Google Shape;950;p36"/>
          <p:cNvSpPr/>
          <p:nvPr/>
        </p:nvSpPr>
        <p:spPr>
          <a:xfrm>
            <a:off x="4937760" y="1243584"/>
            <a:ext cx="16002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A6B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3A4A6B"/>
                </a:solidFill>
                <a:latin typeface="Calibri"/>
                <a:ea typeface="Calibri"/>
                <a:cs typeface="Calibri"/>
                <a:sym typeface="Calibri"/>
              </a:rPr>
              <a:t>Flan-T5-base (250M params)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1" name="Google Shape;951;p36"/>
          <p:cNvSpPr/>
          <p:nvPr/>
        </p:nvSpPr>
        <p:spPr>
          <a:xfrm>
            <a:off x="6629400" y="1371600"/>
            <a:ext cx="320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9EFF"/>
              </a:buClr>
              <a:buSzPts val="1600"/>
              <a:buFont typeface="Calibri"/>
              <a:buNone/>
            </a:pPr>
            <a:r>
              <a:rPr b="1" i="0" lang="en" sz="1600" u="none" cap="none" strike="noStrike">
                <a:solidFill>
                  <a:srgbClr val="4A9EF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2" name="Google Shape;952;p36"/>
          <p:cNvSpPr/>
          <p:nvPr/>
        </p:nvSpPr>
        <p:spPr>
          <a:xfrm>
            <a:off x="6967728" y="1005840"/>
            <a:ext cx="1810512" cy="96012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3" name="Google Shape;953;p36"/>
          <p:cNvSpPr/>
          <p:nvPr/>
        </p:nvSpPr>
        <p:spPr>
          <a:xfrm>
            <a:off x="6967728" y="1005840"/>
            <a:ext cx="18105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9EFF"/>
              </a:buClr>
              <a:buSzPts val="750"/>
              <a:buFont typeface="Calibri"/>
              <a:buNone/>
            </a:pPr>
            <a:r>
              <a:rPr b="1" i="0" lang="en" sz="750" u="none" cap="none" strike="noStrike">
                <a:solidFill>
                  <a:srgbClr val="4A9EFF"/>
                </a:solidFill>
                <a:latin typeface="Calibri"/>
                <a:ea typeface="Calibri"/>
                <a:cs typeface="Calibri"/>
                <a:sym typeface="Calibri"/>
              </a:rPr>
              <a:t>NEXT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4" name="Google Shape;954;p36"/>
          <p:cNvSpPr/>
          <p:nvPr/>
        </p:nvSpPr>
        <p:spPr>
          <a:xfrm>
            <a:off x="7013448" y="1243584"/>
            <a:ext cx="1719072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Mistral-7B via Ollama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(better reasoning, same local deployment)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5" name="Google Shape;955;p36"/>
          <p:cNvSpPr/>
          <p:nvPr/>
        </p:nvSpPr>
        <p:spPr>
          <a:xfrm>
            <a:off x="365760" y="2304288"/>
            <a:ext cx="4160520" cy="1234440"/>
          </a:xfrm>
          <a:prstGeom prst="rect">
            <a:avLst/>
          </a:prstGeom>
          <a:solidFill>
            <a:srgbClr val="F2F4F8"/>
          </a:solidFill>
          <a:ln cap="flat" cmpd="sng" w="12700">
            <a:solidFill>
              <a:srgbClr val="2E2E4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6" name="Google Shape;956;p36"/>
          <p:cNvSpPr/>
          <p:nvPr/>
        </p:nvSpPr>
        <p:spPr>
          <a:xfrm>
            <a:off x="502920" y="2395728"/>
            <a:ext cx="1691640" cy="9601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2E2E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7" name="Google Shape;957;p36"/>
          <p:cNvSpPr/>
          <p:nvPr/>
        </p:nvSpPr>
        <p:spPr>
          <a:xfrm>
            <a:off x="502920" y="2395728"/>
            <a:ext cx="16916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70"/>
              </a:buClr>
              <a:buSzPts val="750"/>
              <a:buFont typeface="Calibri"/>
              <a:buNone/>
            </a:pPr>
            <a:r>
              <a:rPr b="1" i="0" lang="en" sz="750" u="none" cap="none" strike="noStrike">
                <a:solidFill>
                  <a:srgbClr val="555570"/>
                </a:solidFill>
                <a:latin typeface="Calibri"/>
                <a:ea typeface="Calibri"/>
                <a:cs typeface="Calibri"/>
                <a:sym typeface="Calibri"/>
              </a:rPr>
              <a:t>NOW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8" name="Google Shape;958;p36"/>
          <p:cNvSpPr/>
          <p:nvPr/>
        </p:nvSpPr>
        <p:spPr>
          <a:xfrm>
            <a:off x="548640" y="2633472"/>
            <a:ext cx="16002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A6B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3A4A6B"/>
                </a:solidFill>
                <a:latin typeface="Calibri"/>
                <a:ea typeface="Calibri"/>
                <a:cs typeface="Calibri"/>
                <a:sym typeface="Calibri"/>
              </a:rPr>
              <a:t>Simple keyword doc_type inference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9" name="Google Shape;959;p36"/>
          <p:cNvSpPr/>
          <p:nvPr/>
        </p:nvSpPr>
        <p:spPr>
          <a:xfrm>
            <a:off x="2240280" y="2761488"/>
            <a:ext cx="320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9EFF"/>
              </a:buClr>
              <a:buSzPts val="1600"/>
              <a:buFont typeface="Calibri"/>
              <a:buNone/>
            </a:pPr>
            <a:r>
              <a:rPr b="1" i="0" lang="en" sz="1600" u="none" cap="none" strike="noStrike">
                <a:solidFill>
                  <a:srgbClr val="4A9EF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0" name="Google Shape;960;p36"/>
          <p:cNvSpPr/>
          <p:nvPr/>
        </p:nvSpPr>
        <p:spPr>
          <a:xfrm>
            <a:off x="2578608" y="2395728"/>
            <a:ext cx="1810512" cy="96012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1" name="Google Shape;961;p36"/>
          <p:cNvSpPr/>
          <p:nvPr/>
        </p:nvSpPr>
        <p:spPr>
          <a:xfrm>
            <a:off x="2578608" y="2395728"/>
            <a:ext cx="18105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9EFF"/>
              </a:buClr>
              <a:buSzPts val="750"/>
              <a:buFont typeface="Calibri"/>
              <a:buNone/>
            </a:pPr>
            <a:r>
              <a:rPr b="1" i="0" lang="en" sz="750" u="none" cap="none" strike="noStrike">
                <a:solidFill>
                  <a:srgbClr val="4A9EFF"/>
                </a:solidFill>
                <a:latin typeface="Calibri"/>
                <a:ea typeface="Calibri"/>
                <a:cs typeface="Calibri"/>
                <a:sym typeface="Calibri"/>
              </a:rPr>
              <a:t>NEXT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2" name="Google Shape;962;p36"/>
          <p:cNvSpPr/>
          <p:nvPr/>
        </p:nvSpPr>
        <p:spPr>
          <a:xfrm>
            <a:off x="2624328" y="2633472"/>
            <a:ext cx="1719072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ML classifier on chunk content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(more accurate tagging)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3" name="Google Shape;963;p36"/>
          <p:cNvSpPr/>
          <p:nvPr/>
        </p:nvSpPr>
        <p:spPr>
          <a:xfrm>
            <a:off x="4754880" y="2304288"/>
            <a:ext cx="4160520" cy="1234440"/>
          </a:xfrm>
          <a:prstGeom prst="rect">
            <a:avLst/>
          </a:prstGeom>
          <a:solidFill>
            <a:srgbClr val="F2F4F8"/>
          </a:solidFill>
          <a:ln cap="flat" cmpd="sng" w="12700">
            <a:solidFill>
              <a:srgbClr val="2E2E4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4" name="Google Shape;964;p36"/>
          <p:cNvSpPr/>
          <p:nvPr/>
        </p:nvSpPr>
        <p:spPr>
          <a:xfrm>
            <a:off x="4892040" y="2395728"/>
            <a:ext cx="1691640" cy="9601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2E2E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5" name="Google Shape;965;p36"/>
          <p:cNvSpPr/>
          <p:nvPr/>
        </p:nvSpPr>
        <p:spPr>
          <a:xfrm>
            <a:off x="4892040" y="2395728"/>
            <a:ext cx="16916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70"/>
              </a:buClr>
              <a:buSzPts val="750"/>
              <a:buFont typeface="Calibri"/>
              <a:buNone/>
            </a:pPr>
            <a:r>
              <a:rPr b="1" i="0" lang="en" sz="750" u="none" cap="none" strike="noStrike">
                <a:solidFill>
                  <a:srgbClr val="555570"/>
                </a:solidFill>
                <a:latin typeface="Calibri"/>
                <a:ea typeface="Calibri"/>
                <a:cs typeface="Calibri"/>
                <a:sym typeface="Calibri"/>
              </a:rPr>
              <a:t>NOW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6" name="Google Shape;966;p36"/>
          <p:cNvSpPr/>
          <p:nvPr/>
        </p:nvSpPr>
        <p:spPr>
          <a:xfrm>
            <a:off x="4937760" y="2633472"/>
            <a:ext cx="16002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A6B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3A4A6B"/>
                </a:solidFill>
                <a:latin typeface="Calibri"/>
                <a:ea typeface="Calibri"/>
                <a:cs typeface="Calibri"/>
                <a:sym typeface="Calibri"/>
              </a:rPr>
              <a:t>Single-turn Q&amp;A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7" name="Google Shape;967;p36"/>
          <p:cNvSpPr/>
          <p:nvPr/>
        </p:nvSpPr>
        <p:spPr>
          <a:xfrm>
            <a:off x="6629400" y="2761488"/>
            <a:ext cx="320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9EFF"/>
              </a:buClr>
              <a:buSzPts val="1600"/>
              <a:buFont typeface="Calibri"/>
              <a:buNone/>
            </a:pPr>
            <a:r>
              <a:rPr b="1" i="0" lang="en" sz="1600" u="none" cap="none" strike="noStrike">
                <a:solidFill>
                  <a:srgbClr val="4A9EF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8" name="Google Shape;968;p36"/>
          <p:cNvSpPr/>
          <p:nvPr/>
        </p:nvSpPr>
        <p:spPr>
          <a:xfrm>
            <a:off x="6967728" y="2395728"/>
            <a:ext cx="1810512" cy="96012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9" name="Google Shape;969;p36"/>
          <p:cNvSpPr/>
          <p:nvPr/>
        </p:nvSpPr>
        <p:spPr>
          <a:xfrm>
            <a:off x="6967728" y="2395728"/>
            <a:ext cx="18105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9EFF"/>
              </a:buClr>
              <a:buSzPts val="750"/>
              <a:buFont typeface="Calibri"/>
              <a:buNone/>
            </a:pPr>
            <a:r>
              <a:rPr b="1" i="0" lang="en" sz="750" u="none" cap="none" strike="noStrike">
                <a:solidFill>
                  <a:srgbClr val="4A9EFF"/>
                </a:solidFill>
                <a:latin typeface="Calibri"/>
                <a:ea typeface="Calibri"/>
                <a:cs typeface="Calibri"/>
                <a:sym typeface="Calibri"/>
              </a:rPr>
              <a:t>NEXT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0" name="Google Shape;970;p36"/>
          <p:cNvSpPr/>
          <p:nvPr/>
        </p:nvSpPr>
        <p:spPr>
          <a:xfrm>
            <a:off x="7013448" y="2633472"/>
            <a:ext cx="1719072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Conversational memory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(follow-up questions reference prior context)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1" name="Google Shape;971;p36"/>
          <p:cNvSpPr/>
          <p:nvPr/>
        </p:nvSpPr>
        <p:spPr>
          <a:xfrm>
            <a:off x="365760" y="3694176"/>
            <a:ext cx="4160520" cy="1234440"/>
          </a:xfrm>
          <a:prstGeom prst="rect">
            <a:avLst/>
          </a:prstGeom>
          <a:solidFill>
            <a:srgbClr val="F2F4F8"/>
          </a:solidFill>
          <a:ln cap="flat" cmpd="sng" w="12700">
            <a:solidFill>
              <a:srgbClr val="2E2E4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2" name="Google Shape;972;p36"/>
          <p:cNvSpPr/>
          <p:nvPr/>
        </p:nvSpPr>
        <p:spPr>
          <a:xfrm>
            <a:off x="502920" y="3785616"/>
            <a:ext cx="1691640" cy="9601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2E2E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3" name="Google Shape;973;p36"/>
          <p:cNvSpPr/>
          <p:nvPr/>
        </p:nvSpPr>
        <p:spPr>
          <a:xfrm>
            <a:off x="502920" y="3785616"/>
            <a:ext cx="16916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70"/>
              </a:buClr>
              <a:buSzPts val="750"/>
              <a:buFont typeface="Calibri"/>
              <a:buNone/>
            </a:pPr>
            <a:r>
              <a:rPr b="1" i="0" lang="en" sz="750" u="none" cap="none" strike="noStrike">
                <a:solidFill>
                  <a:srgbClr val="555570"/>
                </a:solidFill>
                <a:latin typeface="Calibri"/>
                <a:ea typeface="Calibri"/>
                <a:cs typeface="Calibri"/>
                <a:sym typeface="Calibri"/>
              </a:rPr>
              <a:t>NOW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4" name="Google Shape;974;p36"/>
          <p:cNvSpPr/>
          <p:nvPr/>
        </p:nvSpPr>
        <p:spPr>
          <a:xfrm>
            <a:off x="548640" y="4023360"/>
            <a:ext cx="16002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A6B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3A4A6B"/>
                </a:solidFill>
                <a:latin typeface="Calibri"/>
                <a:ea typeface="Calibri"/>
                <a:cs typeface="Calibri"/>
                <a:sym typeface="Calibri"/>
              </a:rPr>
              <a:t>Fixed 400-char chunk size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5" name="Google Shape;975;p36"/>
          <p:cNvSpPr/>
          <p:nvPr/>
        </p:nvSpPr>
        <p:spPr>
          <a:xfrm>
            <a:off x="2240280" y="4151376"/>
            <a:ext cx="320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9EFF"/>
              </a:buClr>
              <a:buSzPts val="1600"/>
              <a:buFont typeface="Calibri"/>
              <a:buNone/>
            </a:pPr>
            <a:r>
              <a:rPr b="1" i="0" lang="en" sz="1600" u="none" cap="none" strike="noStrike">
                <a:solidFill>
                  <a:srgbClr val="4A9EF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6" name="Google Shape;976;p36"/>
          <p:cNvSpPr/>
          <p:nvPr/>
        </p:nvSpPr>
        <p:spPr>
          <a:xfrm>
            <a:off x="2578608" y="3785616"/>
            <a:ext cx="1810512" cy="96012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7" name="Google Shape;977;p36"/>
          <p:cNvSpPr/>
          <p:nvPr/>
        </p:nvSpPr>
        <p:spPr>
          <a:xfrm>
            <a:off x="2578608" y="3785616"/>
            <a:ext cx="18105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9EFF"/>
              </a:buClr>
              <a:buSzPts val="750"/>
              <a:buFont typeface="Calibri"/>
              <a:buNone/>
            </a:pPr>
            <a:r>
              <a:rPr b="1" i="0" lang="en" sz="750" u="none" cap="none" strike="noStrike">
                <a:solidFill>
                  <a:srgbClr val="4A9EFF"/>
                </a:solidFill>
                <a:latin typeface="Calibri"/>
                <a:ea typeface="Calibri"/>
                <a:cs typeface="Calibri"/>
                <a:sym typeface="Calibri"/>
              </a:rPr>
              <a:t>NEXT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8" name="Google Shape;978;p36"/>
          <p:cNvSpPr/>
          <p:nvPr/>
        </p:nvSpPr>
        <p:spPr>
          <a:xfrm>
            <a:off x="2624328" y="4023360"/>
            <a:ext cx="1719072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Semantic chunking (split on sentence boundaries)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+ query expansion via HyDE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9" name="Google Shape;979;p36"/>
          <p:cNvSpPr/>
          <p:nvPr/>
        </p:nvSpPr>
        <p:spPr>
          <a:xfrm>
            <a:off x="4754880" y="3694176"/>
            <a:ext cx="4160520" cy="1234440"/>
          </a:xfrm>
          <a:prstGeom prst="rect">
            <a:avLst/>
          </a:prstGeom>
          <a:solidFill>
            <a:srgbClr val="F2F4F8"/>
          </a:solidFill>
          <a:ln cap="flat" cmpd="sng" w="12700">
            <a:solidFill>
              <a:srgbClr val="2E2E4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0" name="Google Shape;980;p36"/>
          <p:cNvSpPr/>
          <p:nvPr/>
        </p:nvSpPr>
        <p:spPr>
          <a:xfrm>
            <a:off x="4892040" y="3785616"/>
            <a:ext cx="1691640" cy="9601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2E2E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1" name="Google Shape;981;p36"/>
          <p:cNvSpPr/>
          <p:nvPr/>
        </p:nvSpPr>
        <p:spPr>
          <a:xfrm>
            <a:off x="4892040" y="3785616"/>
            <a:ext cx="16916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70"/>
              </a:buClr>
              <a:buSzPts val="750"/>
              <a:buFont typeface="Calibri"/>
              <a:buNone/>
            </a:pPr>
            <a:r>
              <a:rPr b="1" i="0" lang="en" sz="750" u="none" cap="none" strike="noStrike">
                <a:solidFill>
                  <a:srgbClr val="555570"/>
                </a:solidFill>
                <a:latin typeface="Calibri"/>
                <a:ea typeface="Calibri"/>
                <a:cs typeface="Calibri"/>
                <a:sym typeface="Calibri"/>
              </a:rPr>
              <a:t>NOW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2" name="Google Shape;982;p36"/>
          <p:cNvSpPr/>
          <p:nvPr/>
        </p:nvSpPr>
        <p:spPr>
          <a:xfrm>
            <a:off x="4937760" y="4023360"/>
            <a:ext cx="16002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A6B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3A4A6B"/>
                </a:solidFill>
                <a:latin typeface="Calibri"/>
                <a:ea typeface="Calibri"/>
                <a:cs typeface="Calibri"/>
                <a:sym typeface="Calibri"/>
              </a:rPr>
              <a:t>Gradio demo UI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3" name="Google Shape;983;p36"/>
          <p:cNvSpPr/>
          <p:nvPr/>
        </p:nvSpPr>
        <p:spPr>
          <a:xfrm>
            <a:off x="6629400" y="4151376"/>
            <a:ext cx="320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9EFF"/>
              </a:buClr>
              <a:buSzPts val="1600"/>
              <a:buFont typeface="Calibri"/>
              <a:buNone/>
            </a:pPr>
            <a:r>
              <a:rPr b="1" i="0" lang="en" sz="1600" u="none" cap="none" strike="noStrike">
                <a:solidFill>
                  <a:srgbClr val="4A9EF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4" name="Google Shape;984;p36"/>
          <p:cNvSpPr/>
          <p:nvPr/>
        </p:nvSpPr>
        <p:spPr>
          <a:xfrm>
            <a:off x="6967728" y="3785616"/>
            <a:ext cx="1810512" cy="96012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5" name="Google Shape;985;p36"/>
          <p:cNvSpPr/>
          <p:nvPr/>
        </p:nvSpPr>
        <p:spPr>
          <a:xfrm>
            <a:off x="6967728" y="3785616"/>
            <a:ext cx="18105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9EFF"/>
              </a:buClr>
              <a:buSzPts val="750"/>
              <a:buFont typeface="Calibri"/>
              <a:buNone/>
            </a:pPr>
            <a:r>
              <a:rPr b="1" i="0" lang="en" sz="750" u="none" cap="none" strike="noStrike">
                <a:solidFill>
                  <a:srgbClr val="4A9EFF"/>
                </a:solidFill>
                <a:latin typeface="Calibri"/>
                <a:ea typeface="Calibri"/>
                <a:cs typeface="Calibri"/>
                <a:sym typeface="Calibri"/>
              </a:rPr>
              <a:t>NEXT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6" name="Google Shape;986;p36"/>
          <p:cNvSpPr/>
          <p:nvPr/>
        </p:nvSpPr>
        <p:spPr>
          <a:xfrm>
            <a:off x="7013448" y="4023360"/>
            <a:ext cx="1719072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REST API + React frontend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for internal Pfizer tool integration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F"/>
        </a:solidFill>
      </p:bgPr>
    </p:bg>
    <p:spTree>
      <p:nvGrpSpPr>
        <p:cNvPr id="991" name="Shape 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92" name="Google Shape;992;p37"/>
          <p:cNvCxnSpPr/>
          <p:nvPr/>
        </p:nvCxnSpPr>
        <p:spPr>
          <a:xfrm>
            <a:off x="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5882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93" name="Google Shape;993;p37"/>
          <p:cNvCxnSpPr/>
          <p:nvPr/>
        </p:nvCxnSpPr>
        <p:spPr>
          <a:xfrm>
            <a:off x="50292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5882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94" name="Google Shape;994;p37"/>
          <p:cNvCxnSpPr/>
          <p:nvPr/>
        </p:nvCxnSpPr>
        <p:spPr>
          <a:xfrm>
            <a:off x="100584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5882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95" name="Google Shape;995;p37"/>
          <p:cNvCxnSpPr/>
          <p:nvPr/>
        </p:nvCxnSpPr>
        <p:spPr>
          <a:xfrm>
            <a:off x="150876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5882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96" name="Google Shape;996;p37"/>
          <p:cNvCxnSpPr/>
          <p:nvPr/>
        </p:nvCxnSpPr>
        <p:spPr>
          <a:xfrm>
            <a:off x="201168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5882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97" name="Google Shape;997;p37"/>
          <p:cNvCxnSpPr/>
          <p:nvPr/>
        </p:nvCxnSpPr>
        <p:spPr>
          <a:xfrm>
            <a:off x="25146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5882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98" name="Google Shape;998;p37"/>
          <p:cNvCxnSpPr/>
          <p:nvPr/>
        </p:nvCxnSpPr>
        <p:spPr>
          <a:xfrm>
            <a:off x="301752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5882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99" name="Google Shape;999;p37"/>
          <p:cNvCxnSpPr/>
          <p:nvPr/>
        </p:nvCxnSpPr>
        <p:spPr>
          <a:xfrm>
            <a:off x="352044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5882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0" name="Google Shape;1000;p37"/>
          <p:cNvCxnSpPr/>
          <p:nvPr/>
        </p:nvCxnSpPr>
        <p:spPr>
          <a:xfrm>
            <a:off x="402336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5882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1" name="Google Shape;1001;p37"/>
          <p:cNvCxnSpPr/>
          <p:nvPr/>
        </p:nvCxnSpPr>
        <p:spPr>
          <a:xfrm>
            <a:off x="452628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5882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2" name="Google Shape;1002;p37"/>
          <p:cNvCxnSpPr/>
          <p:nvPr/>
        </p:nvCxnSpPr>
        <p:spPr>
          <a:xfrm>
            <a:off x="50292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5882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3" name="Google Shape;1003;p37"/>
          <p:cNvCxnSpPr/>
          <p:nvPr/>
        </p:nvCxnSpPr>
        <p:spPr>
          <a:xfrm>
            <a:off x="553212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5882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4" name="Google Shape;1004;p37"/>
          <p:cNvCxnSpPr/>
          <p:nvPr/>
        </p:nvCxnSpPr>
        <p:spPr>
          <a:xfrm>
            <a:off x="603504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5882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5" name="Google Shape;1005;p37"/>
          <p:cNvCxnSpPr/>
          <p:nvPr/>
        </p:nvCxnSpPr>
        <p:spPr>
          <a:xfrm>
            <a:off x="653796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5882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6" name="Google Shape;1006;p37"/>
          <p:cNvCxnSpPr/>
          <p:nvPr/>
        </p:nvCxnSpPr>
        <p:spPr>
          <a:xfrm>
            <a:off x="704088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5882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7" name="Google Shape;1007;p37"/>
          <p:cNvCxnSpPr/>
          <p:nvPr/>
        </p:nvCxnSpPr>
        <p:spPr>
          <a:xfrm>
            <a:off x="75438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5882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8" name="Google Shape;1008;p37"/>
          <p:cNvCxnSpPr/>
          <p:nvPr/>
        </p:nvCxnSpPr>
        <p:spPr>
          <a:xfrm>
            <a:off x="804672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5882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9" name="Google Shape;1009;p37"/>
          <p:cNvCxnSpPr/>
          <p:nvPr/>
        </p:nvCxnSpPr>
        <p:spPr>
          <a:xfrm>
            <a:off x="854964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5882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0" name="Google Shape;1010;p37"/>
          <p:cNvCxnSpPr/>
          <p:nvPr/>
        </p:nvCxnSpPr>
        <p:spPr>
          <a:xfrm>
            <a:off x="905256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5882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1" name="Google Shape;1011;p37"/>
          <p:cNvCxnSpPr/>
          <p:nvPr/>
        </p:nvCxnSpPr>
        <p:spPr>
          <a:xfrm>
            <a:off x="955548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5882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2" name="Google Shape;1012;p37"/>
          <p:cNvCxnSpPr/>
          <p:nvPr/>
        </p:nvCxnSpPr>
        <p:spPr>
          <a:xfrm>
            <a:off x="0" y="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5882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3" name="Google Shape;1013;p37"/>
          <p:cNvCxnSpPr/>
          <p:nvPr/>
        </p:nvCxnSpPr>
        <p:spPr>
          <a:xfrm>
            <a:off x="0" y="4572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5882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4" name="Google Shape;1014;p37"/>
          <p:cNvCxnSpPr/>
          <p:nvPr/>
        </p:nvCxnSpPr>
        <p:spPr>
          <a:xfrm>
            <a:off x="0" y="9144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5882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5" name="Google Shape;1015;p37"/>
          <p:cNvCxnSpPr/>
          <p:nvPr/>
        </p:nvCxnSpPr>
        <p:spPr>
          <a:xfrm>
            <a:off x="0" y="13716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5882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6" name="Google Shape;1016;p37"/>
          <p:cNvCxnSpPr/>
          <p:nvPr/>
        </p:nvCxnSpPr>
        <p:spPr>
          <a:xfrm>
            <a:off x="0" y="18288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5882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7" name="Google Shape;1017;p37"/>
          <p:cNvCxnSpPr/>
          <p:nvPr/>
        </p:nvCxnSpPr>
        <p:spPr>
          <a:xfrm>
            <a:off x="0" y="22860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5882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8" name="Google Shape;1018;p37"/>
          <p:cNvCxnSpPr/>
          <p:nvPr/>
        </p:nvCxnSpPr>
        <p:spPr>
          <a:xfrm>
            <a:off x="0" y="27432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5882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9" name="Google Shape;1019;p37"/>
          <p:cNvCxnSpPr/>
          <p:nvPr/>
        </p:nvCxnSpPr>
        <p:spPr>
          <a:xfrm>
            <a:off x="0" y="32004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5882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0" name="Google Shape;1020;p37"/>
          <p:cNvCxnSpPr/>
          <p:nvPr/>
        </p:nvCxnSpPr>
        <p:spPr>
          <a:xfrm>
            <a:off x="0" y="36576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5882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1" name="Google Shape;1021;p37"/>
          <p:cNvCxnSpPr/>
          <p:nvPr/>
        </p:nvCxnSpPr>
        <p:spPr>
          <a:xfrm>
            <a:off x="0" y="41148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5882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2" name="Google Shape;1022;p37"/>
          <p:cNvCxnSpPr/>
          <p:nvPr/>
        </p:nvCxnSpPr>
        <p:spPr>
          <a:xfrm>
            <a:off x="0" y="45720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5882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3" name="Google Shape;1023;p37"/>
          <p:cNvCxnSpPr/>
          <p:nvPr/>
        </p:nvCxnSpPr>
        <p:spPr>
          <a:xfrm>
            <a:off x="0" y="50292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5882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24" name="Google Shape;1024;p37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5" name="Google Shape;1025;p37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1400"/>
              <a:buFont typeface="Calibri"/>
              <a:buNone/>
            </a:pPr>
            <a:r>
              <a:rPr b="0" i="1" lang="en" sz="140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Three things to take away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6" name="Google Shape;1026;p37"/>
          <p:cNvSpPr/>
          <p:nvPr/>
        </p:nvSpPr>
        <p:spPr>
          <a:xfrm>
            <a:off x="457200" y="77724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Georgia"/>
              <a:buNone/>
            </a:pPr>
            <a:r>
              <a:rPr b="1" i="0" lang="en" sz="4000" u="none" cap="none" strike="noStrik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RAG is not magic —</a:t>
            </a:r>
            <a:endParaRPr i="0" sz="40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Georgia"/>
              <a:buNone/>
            </a:pPr>
            <a:r>
              <a:rPr b="1" i="0" lang="en" sz="4000" u="none" cap="none" strike="noStrik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it's a series of deliberate choices.</a:t>
            </a:r>
            <a:endParaRPr i="0" sz="40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27" name="Google Shape;1027;p37"/>
          <p:cNvSpPr/>
          <p:nvPr/>
        </p:nvSpPr>
        <p:spPr>
          <a:xfrm>
            <a:off x="457200" y="2377440"/>
            <a:ext cx="457200" cy="713232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8" name="Google Shape;1028;p37"/>
          <p:cNvSpPr/>
          <p:nvPr/>
        </p:nvSpPr>
        <p:spPr>
          <a:xfrm>
            <a:off x="457200" y="2377440"/>
            <a:ext cx="45720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Georgia"/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01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9" name="Google Shape;1029;p37"/>
          <p:cNvSpPr/>
          <p:nvPr/>
        </p:nvSpPr>
        <p:spPr>
          <a:xfrm>
            <a:off x="1051560" y="2432304"/>
            <a:ext cx="7589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Every parameter is a tradeoff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0" name="Google Shape;1030;p37"/>
          <p:cNvSpPr/>
          <p:nvPr/>
        </p:nvSpPr>
        <p:spPr>
          <a:xfrm>
            <a:off x="1051560" y="2743200"/>
            <a:ext cx="7589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Chunk size, overlap, top-K, confidence scaling — each one was set for a reason. Understanding why beats copy-pasting defaults.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1" name="Google Shape;1031;p37"/>
          <p:cNvSpPr/>
          <p:nvPr/>
        </p:nvSpPr>
        <p:spPr>
          <a:xfrm>
            <a:off x="457200" y="3255264"/>
            <a:ext cx="457200" cy="713232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2" name="Google Shape;1032;p37"/>
          <p:cNvSpPr/>
          <p:nvPr/>
        </p:nvSpPr>
        <p:spPr>
          <a:xfrm>
            <a:off x="457200" y="3255264"/>
            <a:ext cx="45720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Georgia"/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02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3" name="Google Shape;1033;p37"/>
          <p:cNvSpPr/>
          <p:nvPr/>
        </p:nvSpPr>
        <p:spPr>
          <a:xfrm>
            <a:off x="1051560" y="3310128"/>
            <a:ext cx="7589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prompt matters as much as retrieval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4" name="Google Shape;1034;p37"/>
          <p:cNvSpPr/>
          <p:nvPr/>
        </p:nvSpPr>
        <p:spPr>
          <a:xfrm>
            <a:off x="1051560" y="3621024"/>
            <a:ext cx="7589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Grounding instructions — 'answer from context only, cite sources, say not found if unsure' — had a bigger impact on answer quality than any model swap.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5" name="Google Shape;1035;p37"/>
          <p:cNvSpPr/>
          <p:nvPr/>
        </p:nvSpPr>
        <p:spPr>
          <a:xfrm>
            <a:off x="457200" y="4133088"/>
            <a:ext cx="457200" cy="713232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6" name="Google Shape;1036;p37"/>
          <p:cNvSpPr/>
          <p:nvPr/>
        </p:nvSpPr>
        <p:spPr>
          <a:xfrm>
            <a:off x="457200" y="4133088"/>
            <a:ext cx="45720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Georgia"/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03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7" name="Google Shape;1037;p37"/>
          <p:cNvSpPr/>
          <p:nvPr/>
        </p:nvSpPr>
        <p:spPr>
          <a:xfrm>
            <a:off x="1051560" y="4187952"/>
            <a:ext cx="7589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Open-source is production-viable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8" name="Google Shape;1038;p37"/>
          <p:cNvSpPr/>
          <p:nvPr/>
        </p:nvSpPr>
        <p:spPr>
          <a:xfrm>
            <a:off x="1051560" y="4498848"/>
            <a:ext cx="7589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FAISS + MiniLM + Flan-T5 + Gradio — no API keys, no cloud dependency, runs on a laptop</a:t>
            </a:r>
            <a:r>
              <a:rPr lang="en" sz="1000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 as a </a:t>
            </a:r>
            <a:r>
              <a:rPr b="0" i="0" lang="en" sz="100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real, working system.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39" name="Google Shape;1039;p37"/>
          <p:cNvCxnSpPr/>
          <p:nvPr/>
        </p:nvCxnSpPr>
        <p:spPr>
          <a:xfrm>
            <a:off x="457200" y="4892040"/>
            <a:ext cx="8229600" cy="0"/>
          </a:xfrm>
          <a:prstGeom prst="straightConnector1">
            <a:avLst/>
          </a:prstGeom>
          <a:noFill/>
          <a:ln cap="flat" cmpd="sng" w="9525">
            <a:solidFill>
              <a:srgbClr val="4A5A8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40" name="Google Shape;1040;p37"/>
          <p:cNvSpPr/>
          <p:nvPr/>
        </p:nvSpPr>
        <p:spPr>
          <a:xfrm>
            <a:off x="457200" y="4956048"/>
            <a:ext cx="8229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70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555570"/>
                </a:solidFill>
                <a:latin typeface="Calibri"/>
                <a:ea typeface="Calibri"/>
                <a:cs typeface="Calibri"/>
                <a:sym typeface="Calibri"/>
              </a:rPr>
              <a:t>github / notebook / code available  ·  Questions?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